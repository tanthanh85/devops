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0cff0b642b14ea0" /><Relationship Type="http://schemas.openxmlformats.org/officeDocument/2006/relationships/extended-properties" Target="/docProps/app.xml" Id="Rc0eef54b6c1047bd" /><Relationship Type="http://schemas.openxmlformats.org/officeDocument/2006/relationships/officeDocument" Target="/ppt/presentation.xml" Id="Rbb6c333bdfd2457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58a954aa4a646a3"/>
  </p:sldMasterIdLst>
  <p:notesMasterIdLst>
    <p:notesMasterId xmlns:r="http://schemas.openxmlformats.org/officeDocument/2006/relationships" r:id="Rd2fd560f9a414f18"/>
  </p:notesMasterIdLst>
  <p:sldIdLst>
    <p:sldId xmlns:r="http://schemas.openxmlformats.org/officeDocument/2006/relationships" id="256" r:id="Re9b6938af6bb4a28"/>
    <p:sldId xmlns:r="http://schemas.openxmlformats.org/officeDocument/2006/relationships" id="257" r:id="Rbb57544c14144cca"/>
    <p:sldId xmlns:r="http://schemas.openxmlformats.org/officeDocument/2006/relationships" id="258" r:id="R469de75457674768"/>
    <p:sldId xmlns:r="http://schemas.openxmlformats.org/officeDocument/2006/relationships" id="259" r:id="R0f9214065a4d4052"/>
    <p:sldId xmlns:r="http://schemas.openxmlformats.org/officeDocument/2006/relationships" id="260" r:id="Rac8f621e13044850"/>
    <p:sldId xmlns:r="http://schemas.openxmlformats.org/officeDocument/2006/relationships" id="261" r:id="R76e4454db7c14b31"/>
    <p:sldId xmlns:r="http://schemas.openxmlformats.org/officeDocument/2006/relationships" id="262" r:id="R7f6fd6bfb8044f57"/>
    <p:sldId xmlns:r="http://schemas.openxmlformats.org/officeDocument/2006/relationships" id="263" r:id="R371a66b9eeaf42f0"/>
    <p:sldId xmlns:r="http://schemas.openxmlformats.org/officeDocument/2006/relationships" id="264" r:id="Re178b74958b741f8"/>
    <p:sldId xmlns:r="http://schemas.openxmlformats.org/officeDocument/2006/relationships" id="265" r:id="Rb9e004a2789f4475"/>
    <p:sldId xmlns:r="http://schemas.openxmlformats.org/officeDocument/2006/relationships" id="266" r:id="Re20d033b2fd04d94"/>
    <p:sldId xmlns:r="http://schemas.openxmlformats.org/officeDocument/2006/relationships" id="267" r:id="Radbbca54a35846ed"/>
    <p:sldId xmlns:r="http://schemas.openxmlformats.org/officeDocument/2006/relationships" id="268" r:id="R16130a569b5a4abc"/>
    <p:sldId xmlns:r="http://schemas.openxmlformats.org/officeDocument/2006/relationships" id="269" r:id="R0881aeafa20549f4"/>
    <p:sldId xmlns:r="http://schemas.openxmlformats.org/officeDocument/2006/relationships" id="270" r:id="R42b7e8cdc9e34a9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2fb91b8b27040f2" /><Relationship Type="http://schemas.openxmlformats.org/officeDocument/2006/relationships/slideMaster" Target="/ppt/slideMasters/slideMaster1.xml" Id="Rc58a954aa4a646a3" /><Relationship Type="http://schemas.openxmlformats.org/officeDocument/2006/relationships/notesMaster" Target="/ppt/notesMasters/notesMaster1.xml" Id="Rd2fd560f9a414f18" /><Relationship Type="http://schemas.openxmlformats.org/officeDocument/2006/relationships/presProps" Target="/ppt/presProps.xml" Id="R2d88daa4d21d4aeb" /><Relationship Type="http://schemas.openxmlformats.org/officeDocument/2006/relationships/tableStyles" Target="/ppt/tableStyles.xml" Id="R791119e8e24f4dc4" /><Relationship Type="http://schemas.openxmlformats.org/officeDocument/2006/relationships/slide" Target="/ppt/slides/slide1.xml" Id="Re9b6938af6bb4a28" /><Relationship Type="http://schemas.openxmlformats.org/officeDocument/2006/relationships/slide" Target="/ppt/slides/slide2.xml" Id="Rbb57544c14144cca" /><Relationship Type="http://schemas.openxmlformats.org/officeDocument/2006/relationships/slide" Target="/ppt/slides/slide3.xml" Id="R469de75457674768" /><Relationship Type="http://schemas.openxmlformats.org/officeDocument/2006/relationships/slide" Target="/ppt/slides/slide4.xml" Id="R0f9214065a4d4052" /><Relationship Type="http://schemas.openxmlformats.org/officeDocument/2006/relationships/slide" Target="/ppt/slides/slide5.xml" Id="Rac8f621e13044850" /><Relationship Type="http://schemas.openxmlformats.org/officeDocument/2006/relationships/slide" Target="/ppt/slides/slide6.xml" Id="R76e4454db7c14b31" /><Relationship Type="http://schemas.openxmlformats.org/officeDocument/2006/relationships/slide" Target="/ppt/slides/slide7.xml" Id="R7f6fd6bfb8044f57" /><Relationship Type="http://schemas.openxmlformats.org/officeDocument/2006/relationships/slide" Target="/ppt/slides/slide8.xml" Id="R371a66b9eeaf42f0" /><Relationship Type="http://schemas.openxmlformats.org/officeDocument/2006/relationships/slide" Target="/ppt/slides/slide9.xml" Id="Re178b74958b741f8" /><Relationship Type="http://schemas.openxmlformats.org/officeDocument/2006/relationships/slide" Target="/ppt/slides/slide10.xml" Id="Rb9e004a2789f4475" /><Relationship Type="http://schemas.openxmlformats.org/officeDocument/2006/relationships/slide" Target="/ppt/slides/slide11.xml" Id="Re20d033b2fd04d94" /><Relationship Type="http://schemas.openxmlformats.org/officeDocument/2006/relationships/slide" Target="/ppt/slides/slide12.xml" Id="Radbbca54a35846ed" /><Relationship Type="http://schemas.openxmlformats.org/officeDocument/2006/relationships/slide" Target="/ppt/slides/slide13.xml" Id="R16130a569b5a4abc" /><Relationship Type="http://schemas.openxmlformats.org/officeDocument/2006/relationships/slide" Target="/ppt/slides/slide14.xml" Id="R0881aeafa20549f4" /><Relationship Type="http://schemas.openxmlformats.org/officeDocument/2006/relationships/slide" Target="/ppt/slides/slide15.xml" Id="R42b7e8cdc9e34a9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4e6597b3f11406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76521e1e3cf4bdb" /><Relationship Type="http://schemas.openxmlformats.org/officeDocument/2006/relationships/notesMaster" Target="/ppt/notesMasters/notesMaster1.xml" Id="R2f51a68f558c459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f7a4e12f12f4678" /><Relationship Type="http://schemas.openxmlformats.org/officeDocument/2006/relationships/notesMaster" Target="/ppt/notesMasters/notesMaster1.xml" Id="R23b39f07d55b409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a5ecf5d823042c6" /><Relationship Type="http://schemas.openxmlformats.org/officeDocument/2006/relationships/notesMaster" Target="/ppt/notesMasters/notesMaster1.xml" Id="Rf48fb3cb14104a3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c0d599b66204556" /><Relationship Type="http://schemas.openxmlformats.org/officeDocument/2006/relationships/notesMaster" Target="/ppt/notesMasters/notesMaster1.xml" Id="Rb7a1de7c1ab14f2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a98079bf6d947cc" /><Relationship Type="http://schemas.openxmlformats.org/officeDocument/2006/relationships/notesMaster" Target="/ppt/notesMasters/notesMaster1.xml" Id="R09eab30da41b455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af4ddce9c194943" /><Relationship Type="http://schemas.openxmlformats.org/officeDocument/2006/relationships/notesMaster" Target="/ppt/notesMasters/notesMaster1.xml" Id="R79a8f21907d145e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65da1240a584ffa" /><Relationship Type="http://schemas.openxmlformats.org/officeDocument/2006/relationships/notesMaster" Target="/ppt/notesMasters/notesMaster1.xml" Id="R45574472553e4a1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999c762dd8140e1" /><Relationship Type="http://schemas.openxmlformats.org/officeDocument/2006/relationships/notesMaster" Target="/ppt/notesMasters/notesMaster1.xml" Id="R9790d2bc51a84ab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78bb8448a804d63" /><Relationship Type="http://schemas.openxmlformats.org/officeDocument/2006/relationships/notesMaster" Target="/ppt/notesMasters/notesMaster1.xml" Id="Rd2d19f573a58473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0d0bf28944a4c24" /><Relationship Type="http://schemas.openxmlformats.org/officeDocument/2006/relationships/notesMaster" Target="/ppt/notesMasters/notesMaster1.xml" Id="R003c378dae8e4f5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08daad3dcc14aac" /><Relationship Type="http://schemas.openxmlformats.org/officeDocument/2006/relationships/notesMaster" Target="/ppt/notesMasters/notesMaster1.xml" Id="R21f747ff22e7450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916df557c464120" /><Relationship Type="http://schemas.openxmlformats.org/officeDocument/2006/relationships/notesMaster" Target="/ppt/notesMasters/notesMaster1.xml" Id="R5c3ce97f8212405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d13f5ce175e4370" /><Relationship Type="http://schemas.openxmlformats.org/officeDocument/2006/relationships/notesMaster" Target="/ppt/notesMasters/notesMaster1.xml" Id="R0489a0e308734d6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488055d87b04453" /><Relationship Type="http://schemas.openxmlformats.org/officeDocument/2006/relationships/notesMaster" Target="/ppt/notesMasters/notesMaster1.xml" Id="R0ce32c6c2f8d463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086075096ee4a3d" /><Relationship Type="http://schemas.openxmlformats.org/officeDocument/2006/relationships/notesMaster" Target="/ppt/notesMasters/notesMaster1.xml" Id="R2793a249c952476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Open Module 0 and establish the subject of the deck.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Explain: Network Automation Review. Software foundations for automation applications.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cue: Briefly connect this module to the previous part of the course before discussing details.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Move to the module introduction and learning focus.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Establish the scope of Module introduction.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Explain: This module refreshes the programming, data, interface, and validation concepts used throughout the course.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Discuss: Recognize the parts of a network automation application Work with Python, JSON, YAML, XML, and dictionaries Select an appropriate management interface Use Git to record and exchange changes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Audience question: Which point is most familiar, and which point needs the most attention?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Introduce the first model or engineering boundary.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Explain automation application structure through the diagram.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Reading order: Start with the main boundary or input, follow the connections, then identify the output or feedback path.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Key explanation: Automation becomes easier to reason about when input, transformation, transport, validation, and evidence have clear boundaries.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Audience question: Where would a failure become visible, and which component should own the response?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Connect the diagram to the next engineering decision.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Compare the two sides of automation responsibility boundaries.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Left side, Application responsibilities: Validate input before use Transform data deliberately Handle errors and timeouts Return a meaningful result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Right side, Operational responsibilities: Control target scope Protect access credentials Observe device and service state Retain evidence for investigation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cue: Explain the relationship between the columns rather than reading each line verbatim.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Audience question: Which responsibility is unclear or shared in your current environment?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Use the comparison to frame the next topic.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Explain structured data contracts through the diagram.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Reading order: Start with the main boundary or input, follow the connections, then identify the output or feedback path.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Key explanation: JSON, YAML, XML, and Python dictionaries represent the same intent in forms suited to different consumers.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Audience question: Where would a failure become visible, and which component should own the response?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Connect the diagram to the next engineering decision.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Compare the two sides of python review.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Left side, Application logic: Functions separate responsibilities Exceptions expose failure conditions Logging records context and outcome Virtual environments isolate dependencies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Right side, Common libraries: requests for HTTP APIs ncclient for NETCONF Netmiko for CLI automation Flask for service interfaces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cue: Explain the relationship between the columns rather than reading each line verbatim.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Audience question: Which responsibility is unclear or shared in your current environment?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Use the comparison to frame the next topic.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Compare the two sides of api request lifecycle.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Left side, Before the request: Select the resource and method Build headers and authentication Validate input data Set a bounded timeout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Right side, After the response: Check the status code Parse the declared format Validate required fields Log context without secrets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cue: Explain the relationship between the columns rather than reading each line verbatim.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Audience question: Which responsibility is unclear or shared in your current environment?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Use the comparison to frame the next topic.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Explain interface selection through the diagram.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Reading order: Start with the main boundary or input, follow the connections, then identify the output or feedback path.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Key explanation: The correct interface depends on data structure, transaction support, platform capability, and the evidence the workflow must collect.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Audience question: Where would a failure become visible, and which component should own the response?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Connect the diagram to the next engineering decision.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Compare the two sides of ansible review.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Left side, Core objects: Inventory identifies managed targets Variables describe desired values Playbooks coordinate tasks Roles package reusable behavior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Right side, Operational controls: Limit the target scope Protect credentials Check idempotence Capture changed and failed results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cue: Explain the relationship between the columns rather than reading each line verbatim.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Audience question: Which responsibility is unclear or shared in your current environment?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Use the comparison to frame the next topic.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Explain intent and state through the diagram.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Reading order: Start with the main boundary or input, follow the connections, then identify the output or feedback path.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Key explanation: A safe workflow distinguishes what should exist, what the tool applied, and what the service now reports.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Audience question: Where would a failure become visible, and which component should own the response?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Connect the diagram to the next engineering decision.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Explain model-driven telemetry through the diagram.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Reading order: Start with the main boundary or input, follow the connections, then identify the output or feedback path.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Key explanation: Streaming telemetry delivers structured updates continuously, while polling asks for selected state at scheduled intervals.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Audience question: Where would a failure become visible, and which component should own the response?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Connect the diagram to the next engineering decision.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Compare the two sides of git essentials.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Left side, Local workflow: git status and git diff git add and git commit git log and git show git branch and git switch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Right side, Team workflow: Pull before starting work Use a focused branch Push reviewable commits Resolve conflicts with context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cue: Explain the relationship between the columns rather than reading each line verbatim.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Audience question: Which responsibility is unclear or shared in your current environment?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Use the comparison to frame the next topic.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Compare the two sides of testing boundaries.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Left side, Offline checks: Data parsing and validation Template rendering Business rules Error handling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Right side, Connected checks: Authentication and reachability API and device behavior Configuration state Service outcome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cue: Explain the relationship between the columns rather than reading each line verbatim.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Audience question: Which responsibility is unclear or shared in your current environment?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Use the comparison to frame the next topic.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Establish the scope of Key takeaways.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Explain: Network automation already combines software logic, structured data, device interfaces, and operational validation.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Discuss: Treat input data as a contract Choose interfaces according to the required behavior Separate intended, applied, and operational state Keep source and decisions in Git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Audience question: Which point is most familiar, and which point needs the most attention?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Introduce the first model or engineering boundary.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Close Module 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Recap: Ask learners to state one concept they can apply and one question that remains.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Next: Next: Introducing the DevOps Model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cue: Confirm the class is ready before moving to the next module.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cecbbc956d417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6c094498b484e56" /><Relationship Type="http://schemas.openxmlformats.org/officeDocument/2006/relationships/slideLayout" Target="/ppt/slideLayouts/slideLayout1.xml" Id="Rbbb5f81741d7468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bb5f81741d7468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75955b0bba4242" /><Relationship Type="http://schemas.openxmlformats.org/officeDocument/2006/relationships/image" Target="/ppt/media/image.png" Id="Rdfd89d16e25740ea" /><Relationship Type="http://schemas.openxmlformats.org/officeDocument/2006/relationships/notesSlide" Target="/ppt/notesSlides/notesSlide1.xml" Id="Rf39297f2bf2a40c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f7a51e2c01441c" /><Relationship Type="http://schemas.openxmlformats.org/officeDocument/2006/relationships/notesSlide" Target="/ppt/notesSlides/notesSlide2.xml" Id="R733fbd35bba2448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ba5ba97e964e54" /><Relationship Type="http://schemas.openxmlformats.org/officeDocument/2006/relationships/image" Target="/ppt/media/image2.png" Id="R8289b564203b4e51" /><Relationship Type="http://schemas.openxmlformats.org/officeDocument/2006/relationships/notesSlide" Target="/ppt/notesSlides/notesSlide3.xml" Id="Rdde5e83ad61243e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1dbcb29bd94464" /><Relationship Type="http://schemas.openxmlformats.org/officeDocument/2006/relationships/notesSlide" Target="/ppt/notesSlides/notesSlide4.xml" Id="Ree06569d45004d5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971ebe6f584d88" /><Relationship Type="http://schemas.openxmlformats.org/officeDocument/2006/relationships/image" Target="/ppt/media/image3.png" Id="Rac4ffbedde1d4ddf" /><Relationship Type="http://schemas.openxmlformats.org/officeDocument/2006/relationships/notesSlide" Target="/ppt/notesSlides/notesSlide5.xml" Id="R6215c89914e74a9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9740401deb4813" /><Relationship Type="http://schemas.openxmlformats.org/officeDocument/2006/relationships/notesSlide" Target="/ppt/notesSlides/notesSlide6.xml" Id="R10b3b304e43d4a4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14684f946b40c7" /><Relationship Type="http://schemas.openxmlformats.org/officeDocument/2006/relationships/notesSlide" Target="/ppt/notesSlides/notesSlide7.xml" Id="Rcc2783b1977d4ca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4feccd580543d7" /><Relationship Type="http://schemas.openxmlformats.org/officeDocument/2006/relationships/image" Target="/ppt/media/image4.png" Id="Re6e694390ce24840" /><Relationship Type="http://schemas.openxmlformats.org/officeDocument/2006/relationships/notesSlide" Target="/ppt/notesSlides/notesSlide8.xml" Id="R22080bba8ed749e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d32ea5cab2460f" /><Relationship Type="http://schemas.openxmlformats.org/officeDocument/2006/relationships/notesSlide" Target="/ppt/notesSlides/notesSlide9.xml" Id="Rf09a06e48c904b9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b24d4399fa4a0c" /><Relationship Type="http://schemas.openxmlformats.org/officeDocument/2006/relationships/image" Target="/ppt/media/image5.png" Id="Rf2317beaf7cf476c" /><Relationship Type="http://schemas.openxmlformats.org/officeDocument/2006/relationships/notesSlide" Target="/ppt/notesSlides/notesSlide10.xml" Id="Re672694fd0844a8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22005540974c22" /><Relationship Type="http://schemas.openxmlformats.org/officeDocument/2006/relationships/image" Target="/ppt/media/image6.png" Id="R5eb3f4d9e90d4adb" /><Relationship Type="http://schemas.openxmlformats.org/officeDocument/2006/relationships/notesSlide" Target="/ppt/notesSlides/notesSlide11.xml" Id="Rad02229ac90548c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a5ae65bcee4894" /><Relationship Type="http://schemas.openxmlformats.org/officeDocument/2006/relationships/notesSlide" Target="/ppt/notesSlides/notesSlide12.xml" Id="R5f85df33aece4e5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407d8b4e3c408e" /><Relationship Type="http://schemas.openxmlformats.org/officeDocument/2006/relationships/notesSlide" Target="/ppt/notesSlides/notesSlide13.xml" Id="R22c0c7304058473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5801d983724a3c" /><Relationship Type="http://schemas.openxmlformats.org/officeDocument/2006/relationships/notesSlide" Target="/ppt/notesSlides/notesSlide14.xml" Id="Ra4243db2dd3b4c1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c1a56ce40f46e1" /><Relationship Type="http://schemas.openxmlformats.org/officeDocument/2006/relationships/notesSlide" Target="/ppt/notesSlides/notesSlide15.xml" Id="R3b74785419414ff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2B5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d89d16e25740ea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166D21-502C-4D33-8896-C53CF449B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619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B59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30C3F1-4482-49A4-A5B3-0F74E48CB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B59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0E35E6-3480-4566-A175-F7E8D0B6C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0"/>
            <a:ext cx="2428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873A9A-EA4B-41BA-B64F-085D1779F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Module 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C87FBB-CC73-400C-8EE6-5734C1E63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4300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Network Automation Review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88B3C9-C17D-45BF-BBDC-8D1EDFC4A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0"/>
            <a:ext cx="447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8EC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D8ECFA"/>
                </a:solidFill>
                <a:latin typeface="Helvetica Neue"/>
                <a:ea typeface="Helvetica Neue"/>
                <a:cs typeface="Helvetica Neue"/>
              </a:rPr>
              <a:t>Software foundations for automation applications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2E49C2-3D68-4158-9236-7E324B4B9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048375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Cisco learning and professional development</a:t>
            </a:r>
          </a:p>
        </p:txBody>
      </p:sp>
    </p:spTree>
    <p:extLst>
      <p:ext uri="{BB962C8B-B14F-4D97-AF65-F5344CB8AC3E}">
        <p14:creationId xmlns:p14="http://schemas.microsoft.com/office/powerpoint/2010/main" val="21743720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5D2841-1C05-4BCF-91B8-84C9F8543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B5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C0A187-66AA-4540-B272-60B3062A4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0"/>
            <a:ext cx="2428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2EFE84-9288-4E25-9229-1FC2FA3C0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7C0F90-C52B-4C76-96C3-7C0DD463C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Module 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8A0754-D065-4583-963D-24A5EC9F1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277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rPr>
              <a:t>Module introduction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5B539C-8A79-45B8-8A51-270C6E7BF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3DEA61-3EFB-461A-82D2-386031DDB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F75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F758B"/>
                </a:solidFill>
                <a:latin typeface="Helvetica Neue"/>
                <a:ea typeface="Helvetica Neue"/>
                <a:cs typeface="Helvetica Neue"/>
              </a:rPr>
              <a:t>This module refreshes the programming, data, interface, and validation concepts used throughout the course.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ED9FD5-0832-44CB-B80E-D8DF251E9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43175"/>
            <a:ext cx="66675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0822E2-A42A-4E44-B407-630AC5347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76500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Recognize the parts of a network automation application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CF26A8-A81A-4671-BB7F-6EF0349E0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52775"/>
            <a:ext cx="66675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1A8D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2C98C9-A74D-42C8-8085-75CE761DA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86100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Work with Python, JSON, YAML, XML, and dictionaries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916877-7059-495F-82C1-9B346B332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62375"/>
            <a:ext cx="66675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E9E9C1-6184-4756-BBC6-B383AE4D2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95700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Select an appropriate management interface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BBE5FB-E444-480C-9FCA-200CFED39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71975"/>
            <a:ext cx="66675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1A8D8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7746FB-9AA4-4D9A-8964-023EC6632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Use Git to record and exchange changes</a:t>
            </a:r>
          </a:p>
        </p:txBody>
      </p:sp>
    </p:spTree>
    <p:extLst>
      <p:ext uri="{BB962C8B-B14F-4D97-AF65-F5344CB8AC3E}">
        <p14:creationId xmlns:p14="http://schemas.microsoft.com/office/powerpoint/2010/main" val="97562530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2B3644-1663-4643-BDFC-9506DD09E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B5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6E7DF8-FA80-455F-B9E9-07FD55433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0"/>
            <a:ext cx="2428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F5C5EB-C6BA-42EA-9C8A-2A690203F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0539EB-983C-4DE2-A712-FCB66C997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Module 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F5AB66-B57F-4094-A3B1-636B75A03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277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rPr>
              <a:t>Automation application structure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9BC57E-B531-444D-AB4F-5D5219FB6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89b564203b4e51"/>
          <a:stretch xmlns:a="http://schemas.openxmlformats.org/drawingml/2006/main"/>
        </p:blipFill>
        <p:spPr>
          <a:xfrm xmlns:a="http://schemas.openxmlformats.org/drawingml/2006/main">
            <a:off x="1050758" y="1571625"/>
            <a:ext cx="10090484" cy="404812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48205E-6256-47BD-87F6-5B9DCAD32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29300"/>
            <a:ext cx="7620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0C6A25-F810-4522-869C-B9C1DAD69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43575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Automation becomes easier to reason about when input, transformation, transport, validation, and evidence have clear boundaries.</a:t>
            </a:r>
          </a:p>
        </p:txBody>
      </p:sp>
    </p:spTree>
    <p:extLst>
      <p:ext uri="{BB962C8B-B14F-4D97-AF65-F5344CB8AC3E}">
        <p14:creationId xmlns:p14="http://schemas.microsoft.com/office/powerpoint/2010/main" val="199615114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0D731AA-C4CE-40C4-AB88-477A0B899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B5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6417AF-C20F-4442-9FEC-F6FDBD437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0"/>
            <a:ext cx="2428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97B006-38E5-46FA-B616-7B350EF80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B18A2E-D83C-444D-9D76-3B1E61BCE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Module 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CBED12-FE8B-4ED9-BE78-BFBCBB056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277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rPr>
              <a:t>Automation responsibility boundaries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162D96-8F6A-4719-87A8-23993F9EB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B7DFA2-5C34-4614-8570-B0A33BAAF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14500"/>
            <a:ext cx="19050" cy="423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E4D359-2B3F-4394-B98E-72588ECF6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A6F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A6FAF"/>
                </a:solidFill>
                <a:latin typeface="Helvetica Neue"/>
                <a:ea typeface="Helvetica Neue"/>
                <a:cs typeface="Helvetica Neue"/>
              </a:rPr>
              <a:t>Application responsibilities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53E6A3-E197-48DF-8CAE-DA4DC846A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67640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A6F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A6FAF"/>
                </a:solidFill>
                <a:latin typeface="Helvetica Neue"/>
                <a:ea typeface="Helvetica Neue"/>
                <a:cs typeface="Helvetica Neue"/>
              </a:rPr>
              <a:t>Operational responsibilities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F27FE1-4060-4BBA-B023-4E93C0B77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C6C13C-4D47-4FF2-B301-BAF1C28B9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FE8826-091A-43BF-AB86-FC52F38D1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3050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Validate input before use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B72311-06A2-472A-944A-944B89EAF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AA72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75FAEF-32FE-4FBC-80C3-AF012ADA8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2E9192-C7FB-4A94-9C9C-70B51B2AA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0480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Transform data deliberately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42041F-7314-4A5D-B787-E8CF26FC0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862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464BDB-F3A2-4F0D-A6A1-A947F5137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862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234FC0-17BF-4C9C-B104-0C4EEF837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7909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Handle errors and timeouts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C1C53E-B1C4-4198-B621-2D704C84B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AA72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A5CC75-F5C0-435B-A4C7-CB607D84B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DF5B79-D9D4-46DE-B42B-54A7AE5F5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5339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Return a meaningful result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69C57BD-5DB6-4189-9848-70DF7F069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4003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FAD1E10-E874-4E80-A75B-D93DD1D82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4003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B243C20-8B1A-4860-BC68-5F3D4916B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3050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Control target scope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923EDF5-EB16-4475-B6E1-96698771C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1432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AA72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1B33A86-011B-4EB9-8BA2-E2697B628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1432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143D6D1-7D46-4CF4-ACFB-B789AD912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0480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Protect access credentials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17ED7ED-9505-461A-B4E0-3C529DC51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8862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48EC006-EB65-495D-B069-E6627423D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8862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6300297-B63F-411C-A203-C20C3ECCE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7909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Observe device and service state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E400E06-F8D2-4AD9-B7A0-F068BD87A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6291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AA72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901BD29-B2EA-46E0-8063-18B4829B3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6291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0E74DD7-9E74-40E4-9740-7368D2AC9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5339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Retain evidence for investigation</a:t>
            </a:r>
          </a:p>
        </p:txBody>
      </p:sp>
    </p:spTree>
    <p:extLst>
      <p:ext uri="{BB962C8B-B14F-4D97-AF65-F5344CB8AC3E}">
        <p14:creationId xmlns:p14="http://schemas.microsoft.com/office/powerpoint/2010/main" val="76079568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A3CD84-6FF3-4ED5-8896-2E688FAED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B5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3A112F-BF9C-45D2-B37A-E3273AB66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0"/>
            <a:ext cx="2428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857034-FB77-4357-85DA-CF464867A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73A2F5-4AFB-47A0-9E65-7D07E0110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Module 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78BB8A-F15C-4EDE-830A-FCCFA9545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277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rPr>
              <a:t>Structured data contracts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766EED-08D3-4FD5-A7B9-0CB3F735B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4ffbedde1d4ddf"/>
          <a:stretch xmlns:a="http://schemas.openxmlformats.org/drawingml/2006/main"/>
        </p:blipFill>
        <p:spPr>
          <a:xfrm xmlns:a="http://schemas.openxmlformats.org/drawingml/2006/main">
            <a:off x="1050758" y="1571625"/>
            <a:ext cx="10090484" cy="404812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F8E814-57BC-4960-8AA8-5FE8865DE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29300"/>
            <a:ext cx="7620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B4EF96-5291-41E6-841A-5B94FC7BE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43575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JSON, YAML, XML, and Python dictionaries represent the same intent in forms suited to different consumers.</a:t>
            </a:r>
          </a:p>
        </p:txBody>
      </p:sp>
    </p:spTree>
    <p:extLst>
      <p:ext uri="{BB962C8B-B14F-4D97-AF65-F5344CB8AC3E}">
        <p14:creationId xmlns:p14="http://schemas.microsoft.com/office/powerpoint/2010/main" val="99697504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2E08819-79B9-491A-AA47-CDA5255F3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B5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B2EB6F-8FD5-4B76-AE1E-1F2F9A7F2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0"/>
            <a:ext cx="2428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D34853-1E28-4E2C-9980-6C4CA3A63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8463A2-AA35-41A9-AFA8-197956379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Module 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48958D-C6F3-417A-B504-D19C39345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277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rPr>
              <a:t>Python review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9956DC-A3F9-47A4-AADC-F499B7DEB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084C55-1679-4C81-B88E-B25BF746F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14500"/>
            <a:ext cx="19050" cy="423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4E37A8-86F5-4C89-B4AA-00E4F97A5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A6F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A6FAF"/>
                </a:solidFill>
                <a:latin typeface="Helvetica Neue"/>
                <a:ea typeface="Helvetica Neue"/>
                <a:cs typeface="Helvetica Neue"/>
              </a:rPr>
              <a:t>Application logic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4FC48B-05BC-4D59-9F51-5DA8CF7CD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67640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A6F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A6FAF"/>
                </a:solidFill>
                <a:latin typeface="Helvetica Neue"/>
                <a:ea typeface="Helvetica Neue"/>
                <a:cs typeface="Helvetica Neue"/>
              </a:rPr>
              <a:t>Common libraries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992941-EACD-45F1-9824-0D2539359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D295A6-2BC2-4EBF-AA6E-FDBE980CE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2D2A95-4405-487B-B16F-88D40BAD8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3050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Functions separate responsibilities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E09227-4789-4C9A-AD38-88B9FEC30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AA72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295726-1ADB-4EA0-A231-B6BC35DC7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5B0B0F-F6B0-42CE-89F0-399721F12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0480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Exceptions expose failure conditions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69FE33-F9BE-4F59-9AA1-A5C97191D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862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1FAF88-41A4-4D17-912A-2428BD9E9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862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E0E15D-8F68-493D-956D-4C5491689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7909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Logging records context and outcome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9BF55B-3BA0-4213-9648-56D7F7354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AA72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D1D056-FFD5-4F1A-93E3-3A5A747E8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4FFDED-2594-40DF-A1F3-36B7307C9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5339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Virtual environments isolate dependencies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28F88E2-2179-4A92-ABB5-828D1871E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4003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20B3EDD-0A48-489A-BB9A-BAEF349DE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4003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344EA69-055F-49DC-A203-0293344C2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3050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requests for HTTP APIs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F2D08D8-014C-4C06-B84C-EE4F083B4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1432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AA72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DEFC6DB-929C-4C53-A439-D8B3E908C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1432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6FF055C-56DA-4E7C-85A9-06A40E42D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0480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ncclient for NETCONF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9D7F926-FCB1-44DF-B081-2FCDEFE74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8862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3C9D21D-AC5D-42B5-83D8-7184E273E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8862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2F50569-159D-4210-98FF-265974A34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7909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Netmiko for CLI automation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1802F38-FBA8-4496-9ED3-142356E0C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6291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AA72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DEDC7B7-114D-494D-87BF-B08DA9D59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6291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4104564-BD7C-4B22-8ECA-DF5B0D509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5339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Flask for service interfaces</a:t>
            </a:r>
          </a:p>
        </p:txBody>
      </p:sp>
    </p:spTree>
    <p:extLst>
      <p:ext uri="{BB962C8B-B14F-4D97-AF65-F5344CB8AC3E}">
        <p14:creationId xmlns:p14="http://schemas.microsoft.com/office/powerpoint/2010/main" val="152272936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B124A0F-D0E1-4D33-9B4D-3CDC27150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B5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93A122-51D1-4BB8-9E7D-9FBE63D15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0"/>
            <a:ext cx="2428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41CB92-FA2F-4EE3-A11E-602E37135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AA1B99-F4E1-483E-B0CA-4F13742BB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Module 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3B6F3B-9BFF-41B0-9A55-025283EFE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277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rPr>
              <a:t>API request lifecycle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DBEC79-BCD0-4423-8612-7D301BA0A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C85038-629F-4569-A7B4-3AABCD64B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14500"/>
            <a:ext cx="19050" cy="423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EADBAF-472D-4BB9-8553-81FC31412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A6F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A6FAF"/>
                </a:solidFill>
                <a:latin typeface="Helvetica Neue"/>
                <a:ea typeface="Helvetica Neue"/>
                <a:cs typeface="Helvetica Neue"/>
              </a:rPr>
              <a:t>Before the request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452FB4-61D3-4958-8840-7406DB996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67640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A6F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A6FAF"/>
                </a:solidFill>
                <a:latin typeface="Helvetica Neue"/>
                <a:ea typeface="Helvetica Neue"/>
                <a:cs typeface="Helvetica Neue"/>
              </a:rPr>
              <a:t>After the response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34E5B8-2F2B-43FD-9470-F7C1969B6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C6D558-F99C-45C0-8130-C8389298A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477F65-88E1-4EE9-889D-C5369A2A8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3050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Select the resource and method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D811C2-F6B8-449B-9A8A-92220A151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AA72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456E6D-BF93-4E00-A50B-44A037C7D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BC3462-721A-496A-BBF6-E3E7B0EC4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0480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Build headers and authentication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1D8173-3D81-4060-88B3-FB464722D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862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380582-79AD-4C3D-A099-A12DB64ED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862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23BB4F-9188-4245-9698-9D1C0016F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7909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Validate input data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B69EF4-B681-492B-9896-96CC8218E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AA72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56E375-A2BD-4F08-AA99-9491AE741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CEDE07-60E9-4403-900D-127D49F19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5339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Set a bounded timeout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0AFD019-FE26-460F-8CF3-7EB7CDAB3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4003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9AB71ED-E2D2-4302-8FD5-4804D8BD6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4003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B3C645A-4B63-4DCE-AD6A-BA77BD93E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3050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Check the status code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DD96833-FB30-4D1B-ACC0-4FB9CF3D6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1432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AA72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8F00C6B-D298-4ABD-A767-4E4FC7A5D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1432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649C8E6-35D4-4E2A-835C-353DBA52F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0480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Parse the declared format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15DCFED-0AD0-4AC5-9A53-A5F8D6506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8862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F11460E-C79C-4BA5-B00E-2CACA918B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8862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FC791E7-F893-4C75-86AA-8B46B9AF8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7909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Validate required fields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F86EA0B-E652-4074-B98C-189A5539B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6291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AA72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BD20FBC-BA53-4305-A4A4-71C155312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6291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D27651A-260A-45E8-A81E-95EBBD4E9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5339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Log context without secrets</a:t>
            </a:r>
          </a:p>
        </p:txBody>
      </p:sp>
    </p:spTree>
    <p:extLst>
      <p:ext uri="{BB962C8B-B14F-4D97-AF65-F5344CB8AC3E}">
        <p14:creationId xmlns:p14="http://schemas.microsoft.com/office/powerpoint/2010/main" val="19394786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4B5B49-F62F-4179-959A-9EBE0AC54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B5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246FC7-64B1-479E-87A7-9BC8F5BB6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0"/>
            <a:ext cx="2428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2F14D8-43C8-4AFC-A1CB-2B5160746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30DD50-6E8B-4F6C-88E9-9FF3C908A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Module 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660BDE-79F2-4800-A955-C12902057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277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rPr>
              <a:t>Interface selection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04ABE2-CFDF-494A-876C-C3A0F51A3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e694390ce24840"/>
          <a:stretch xmlns:a="http://schemas.openxmlformats.org/drawingml/2006/main"/>
        </p:blipFill>
        <p:spPr>
          <a:xfrm xmlns:a="http://schemas.openxmlformats.org/drawingml/2006/main">
            <a:off x="1050758" y="1571625"/>
            <a:ext cx="10090484" cy="404812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861F4D-AA34-4E74-B65F-CD10FE65C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29300"/>
            <a:ext cx="7620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1D04AC-7D87-40A4-87B9-6F1F0B77E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43575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The correct interface depends on data structure, transaction support, platform capability, and the evidence the workflow must collect.</a:t>
            </a:r>
          </a:p>
        </p:txBody>
      </p:sp>
    </p:spTree>
    <p:extLst>
      <p:ext uri="{BB962C8B-B14F-4D97-AF65-F5344CB8AC3E}">
        <p14:creationId xmlns:p14="http://schemas.microsoft.com/office/powerpoint/2010/main" val="34533978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E289D01-CDB1-41D3-BD07-D197765AE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B5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CBE86E-C8F7-4666-9055-EE2128008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0"/>
            <a:ext cx="2428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E19A2B-C619-413F-BB26-2BEB5BEE0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37700F-22F6-4185-B822-6D8563656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Module 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74B655-E9CE-4CEC-A7A4-CF6CF2461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277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rPr>
              <a:t>Ansible review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BE341E-2CAE-438C-9FD3-D45BC737E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2F9C5E-F9B2-45B2-97EF-EF8A72BB9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14500"/>
            <a:ext cx="19050" cy="423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75676B-527A-4036-83F6-4284C6DEA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A6F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A6FAF"/>
                </a:solidFill>
                <a:latin typeface="Helvetica Neue"/>
                <a:ea typeface="Helvetica Neue"/>
                <a:cs typeface="Helvetica Neue"/>
              </a:rPr>
              <a:t>Core objects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D98B76-8432-44CD-91F0-3FDE1598A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67640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A6F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A6FAF"/>
                </a:solidFill>
                <a:latin typeface="Helvetica Neue"/>
                <a:ea typeface="Helvetica Neue"/>
                <a:cs typeface="Helvetica Neue"/>
              </a:rPr>
              <a:t>Operational controls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295CB4-A9B6-4192-A743-093CD8643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F2FCBC-D29F-42AB-A92D-C89CA2623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EB9766-54F8-48FB-BE99-A197C618D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3050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Inventory identifies managed targets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BB1D22-A883-4C93-92C3-8358F8012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AA72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867EB0-397C-4E32-93AB-DAC5FA4D8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31338C-3D7A-4720-A742-AFCED18BB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0480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Variables describe desired values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49B858-3D4C-4706-ABDB-951213148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862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4BA5F8-C8C4-44C8-A980-155941CEB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862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65990F-4553-47D6-A8E1-7DC1D4488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7909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Playbooks coordinate tasks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CEB89C-9CDB-4AB3-8A07-C3A033F46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AA72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8A1C14-C43A-45B9-80ED-00D2C3250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ED19587-9FF0-4D9C-B508-0F7618693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5339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Roles package reusable behavior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4931D8A-2580-4B93-9B0B-97F45B52F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4003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CC27D70-BCFD-4E91-ABA6-BA085FA12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4003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A856A93-A0EA-4F95-A59B-94CCF46F3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3050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Limit the target scope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6B5D8FD-DE98-4529-8D4B-AE87CD17E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1432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AA72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42E5A8A-D8B5-4F11-A24C-556FDB887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1432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C55DF27-1B12-48E5-A663-8858DEB96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0480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Protect credentials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4FFD70F-139F-4EB1-BE3A-53C70D0E9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8862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6EE27C0-F814-49F9-8E0F-E858B388D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8862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180E4F1-FC60-440A-A572-D80C71418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7909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Check idempotence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3C4140D-5B71-46FA-86BF-B0E1A5B19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6291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AA72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784D6FD-DC39-4D7D-86BF-760EDE37D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6291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F571746-3E11-436A-A09E-761C9796A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5339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Capture changed and failed results</a:t>
            </a:r>
          </a:p>
        </p:txBody>
      </p:sp>
    </p:spTree>
    <p:extLst>
      <p:ext uri="{BB962C8B-B14F-4D97-AF65-F5344CB8AC3E}">
        <p14:creationId xmlns:p14="http://schemas.microsoft.com/office/powerpoint/2010/main" val="161593906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207477-C8DE-4B92-976B-3F058B22B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B5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3F22B5-F9CC-446A-AA95-CFC87A834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0"/>
            <a:ext cx="2428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26B849-26B4-4732-8CF0-02CF369A9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6E32D1-4AFF-450E-BDF1-D2DA2F1B6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Module 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4269A1-8F18-4FB5-9DCF-927DA596D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277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rPr>
              <a:t>Intent and state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BCC7A9-94F8-4471-8941-D2249039A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317beaf7cf476c"/>
          <a:stretch xmlns:a="http://schemas.openxmlformats.org/drawingml/2006/main"/>
        </p:blipFill>
        <p:spPr>
          <a:xfrm xmlns:a="http://schemas.openxmlformats.org/drawingml/2006/main">
            <a:off x="1050758" y="1571625"/>
            <a:ext cx="10090484" cy="404812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2BAEE8-9A52-42E7-AFE0-A78C8BE00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29300"/>
            <a:ext cx="7620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5B64AD-E2D2-4EB9-B1D0-C95483659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43575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A safe workflow distinguishes what should exist, what the tool applied, and what the service now reports.</a:t>
            </a:r>
          </a:p>
        </p:txBody>
      </p:sp>
    </p:spTree>
    <p:extLst>
      <p:ext uri="{BB962C8B-B14F-4D97-AF65-F5344CB8AC3E}">
        <p14:creationId xmlns:p14="http://schemas.microsoft.com/office/powerpoint/2010/main" val="187786859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FEAA31-679E-422E-BCAD-5BE0BFE54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B5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CB5102-7F10-4185-9CFB-66CB53724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0"/>
            <a:ext cx="2428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D05C90-3441-48EB-87E8-CF21ED68F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3609F1-5140-42B3-ADBA-26B73499A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Module 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045292-FEFB-435C-9CF2-A89DD6EDA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277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rPr>
              <a:t>Model-driven telemetry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5B74AE-1C9E-4F5C-99AF-FA9A6C36A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b3f4d9e90d4adb"/>
          <a:stretch xmlns:a="http://schemas.openxmlformats.org/drawingml/2006/main"/>
        </p:blipFill>
        <p:spPr>
          <a:xfrm xmlns:a="http://schemas.openxmlformats.org/drawingml/2006/main">
            <a:off x="1050758" y="1571625"/>
            <a:ext cx="10090484" cy="404812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B6C271-9F08-49FC-9BCE-8945F76F8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29300"/>
            <a:ext cx="7620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CF2998-0F5B-4840-B0F4-D555DF776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43575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Streaming telemetry delivers structured updates continuously, while polling asks for selected state at scheduled intervals.</a:t>
            </a:r>
          </a:p>
        </p:txBody>
      </p:sp>
    </p:spTree>
    <p:extLst>
      <p:ext uri="{BB962C8B-B14F-4D97-AF65-F5344CB8AC3E}">
        <p14:creationId xmlns:p14="http://schemas.microsoft.com/office/powerpoint/2010/main" val="29398534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742D989-9B38-409B-85EC-B705A6931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B5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FB8B80-8B88-4209-BD9E-568D55BAB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0"/>
            <a:ext cx="2428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5D617A-07C9-4DC0-B69A-BDC99DE50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068291-5DDF-4DFB-94A0-2322AEC66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Module 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A4602A-2E35-4C9B-8D60-9F4A6507B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277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rPr>
              <a:t>Git essentials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26959E-2E95-479B-96F1-08ADDB24B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1360B5-BEE5-4923-9636-F073BB113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14500"/>
            <a:ext cx="19050" cy="423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2F0FE5-0398-42E9-AF8C-C70EE49DD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A6F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A6FAF"/>
                </a:solidFill>
                <a:latin typeface="Helvetica Neue"/>
                <a:ea typeface="Helvetica Neue"/>
                <a:cs typeface="Helvetica Neue"/>
              </a:rPr>
              <a:t>Local workflow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A692FD-F3FB-4F1B-B129-971B21CC9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67640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A6F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A6FAF"/>
                </a:solidFill>
                <a:latin typeface="Helvetica Neue"/>
                <a:ea typeface="Helvetica Neue"/>
                <a:cs typeface="Helvetica Neue"/>
              </a:rPr>
              <a:t>Team workflow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2EEC4A-B584-49B4-993A-33DE7560F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1649E1-0E29-4BCA-99C4-B330CF72E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0792D6-970B-49D2-A772-A4BC4DC57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3050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git status and git diff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B287BF-200F-4BE6-8FF7-2F921CDDC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AA72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82B82E-D32C-4521-B648-5F3DA99F1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3B00FC-8EC7-42A3-B6C2-0A401AE84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0480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git add and git commit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4E4715-B45A-4D60-94E1-73F918AAA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862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8983D5-7D4D-4DD9-94DC-BB58F6352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862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B4139D-5B89-41A5-9FB5-0D75B820D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7909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git log and git show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70207A-916D-4FB6-8426-6B0D3DED5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AA72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5F6560-CCD4-4EDB-91E3-21FC337C7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5777BA-B5F0-4746-9E80-BFD321AF3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5339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git branch and git switch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3512EB-A19C-4F34-831F-B93A1BB53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4003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22219C-07D1-431E-9748-7CC293356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4003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FC09E1A-89C7-4310-92F7-188433C58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3050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Pull before starting work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CDF31E3-36BE-4CF7-AB7E-ECED24850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1432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AA72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5D5FFBC-1023-48BC-8735-8BF9F56EA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1432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5D341A9-FE04-4606-8B19-C5371106D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0480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Use a focused branch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08C8130-62D5-483D-85EC-43A14C1AE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8862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4E2E8C7-E9DE-4C36-A6EC-71DAC5CF7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8862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6626540-B142-4AE9-B294-BEBB6E075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7909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Push reviewable commits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EC8E0FE-2282-4C1B-936D-419414520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6291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AA72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A4B0CA2-3B12-4A59-88DE-DD0894D05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6291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8F1DD3E-B4AD-4FEF-95DF-48B2CB462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5339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Resolve conflicts with context</a:t>
            </a:r>
          </a:p>
        </p:txBody>
      </p:sp>
    </p:spTree>
    <p:extLst>
      <p:ext uri="{BB962C8B-B14F-4D97-AF65-F5344CB8AC3E}">
        <p14:creationId xmlns:p14="http://schemas.microsoft.com/office/powerpoint/2010/main" val="138479215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376AF8B-0AB8-4F28-A3CA-5E3060F81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B5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4428BD-411E-4701-A1EE-0D2D6D617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0"/>
            <a:ext cx="2428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FC44AD-D2FA-4B0B-A386-02218E728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4CFDD3-C144-4816-BEC7-7B689F026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Module 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E3581A-B0CB-4213-9E2A-A437DCC3C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277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rPr>
              <a:t>Testing boundaries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5276A9-E06F-4FB2-BE5B-E643B8C36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F3B844-DCDE-4A8F-BBAE-1BB0F7DC3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14500"/>
            <a:ext cx="19050" cy="423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C863C3-8DB3-46CD-95E1-8BFB53673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A6F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A6FAF"/>
                </a:solidFill>
                <a:latin typeface="Helvetica Neue"/>
                <a:ea typeface="Helvetica Neue"/>
                <a:cs typeface="Helvetica Neue"/>
              </a:rPr>
              <a:t>Offline checks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C9A44A-A5D9-4B01-9A3D-B1DFABBB2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67640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A6F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A6FAF"/>
                </a:solidFill>
                <a:latin typeface="Helvetica Neue"/>
                <a:ea typeface="Helvetica Neue"/>
                <a:cs typeface="Helvetica Neue"/>
              </a:rPr>
              <a:t>Connected checks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30AD4D-BE94-49E4-93D9-734245FFE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DEF0CF-A782-4CD9-B543-7C97FFD23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8C2745-71FB-4783-BF9F-C5BAA7980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3050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Data parsing and validation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4E1276-0A61-4906-AAA1-1924E23DC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AA72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1F0FA1-EBA0-4249-9A4E-152992A85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E6A8D4-3E88-4FC3-A1C2-94E8ADB64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0480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Template rendering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CF1E83-3398-46E2-95C2-F0475B359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862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247FD0-7C35-4C40-BA2E-4C7D22F46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862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76D957-6CF1-4FEC-9C2F-23C26DF09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7909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Business rules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B97CC5-7B62-4605-8F5A-4BDA29AE9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AA72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81ACAF-8595-4FAB-860A-89B649873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1BCE83-D390-40FD-BDC5-2760D1F55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5339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Error handling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45FFF7B-0A37-43DB-ADA6-BEEFB1B16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4003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16CF3DB-FA40-4336-9626-2D566E022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4003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E4659B2-A51B-4AC1-A009-910225D1C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3050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Authentication and reachability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010B6B2-8FDE-4559-95C1-88BA3140F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1432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AA72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640D78D-4FD6-4361-936B-08B581D9C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1432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BBD3C6B-2B75-4C1F-93F4-4D9196D09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0480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API and device behavior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03985EA-90CE-4888-A1A6-DEC4DF7AD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8862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0060BB5-51DF-472F-AB29-683375EF4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8862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9847B67-F6D9-4F6E-A77E-98560BC45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7909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Configuration state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A26AC61-9F95-40CD-BC9C-94E9F9F2E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6291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AA72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3D928DA-E62A-4D02-8D96-AFCA8B837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6291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C218C0A-5CAA-4BC5-BEAF-AE04CEBEE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5339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Service outcome</a:t>
            </a:r>
          </a:p>
        </p:txBody>
      </p:sp>
    </p:spTree>
    <p:extLst>
      <p:ext uri="{BB962C8B-B14F-4D97-AF65-F5344CB8AC3E}">
        <p14:creationId xmlns:p14="http://schemas.microsoft.com/office/powerpoint/2010/main" val="130832514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C6499C-B383-4026-89C8-3BA608B64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B5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1632D6-6EE1-4521-866A-BC4939C56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0"/>
            <a:ext cx="2428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3C49BC-B432-41C0-99EE-5460D10F0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63F239-FBDA-4C65-9071-577CBC63F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Module 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351AEA-2B01-469D-8FF6-CF275EA91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277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rPr>
              <a:t>Key takeaways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D70493-A602-4768-B487-FD67BDFAA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7FF1B4-4AC1-45CD-8D07-ED554D951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F75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F758B"/>
                </a:solidFill>
                <a:latin typeface="Helvetica Neue"/>
                <a:ea typeface="Helvetica Neue"/>
                <a:cs typeface="Helvetica Neue"/>
              </a:rPr>
              <a:t>Network automation already combines software logic, structured data, device interfaces, and operational validation.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654816-A314-4394-BB4C-C4865C85C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43175"/>
            <a:ext cx="66675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E0AD3B-40DB-4673-A834-A1DF1A159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76500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Treat input data as a contract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35BD9D-605B-47E8-AB95-0C5CDF2F6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52775"/>
            <a:ext cx="66675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1A8D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981196-1E8A-447E-8098-F58B071B1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86100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Choose interfaces according to the required behavior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9B9B3F-7C5D-47FA-893C-08286184B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62375"/>
            <a:ext cx="66675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5C478B-FF3E-4404-B9D8-F63C4956C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95700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Separate intended, applied, and operational state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D5095C-E726-4F45-A50E-75625A372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71975"/>
            <a:ext cx="66675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1A8D8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A24764-E329-4FB5-835A-00EAF9117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Keep source and decisions in Git</a:t>
            </a:r>
          </a:p>
        </p:txBody>
      </p:sp>
    </p:spTree>
    <p:extLst>
      <p:ext uri="{BB962C8B-B14F-4D97-AF65-F5344CB8AC3E}">
        <p14:creationId xmlns:p14="http://schemas.microsoft.com/office/powerpoint/2010/main" val="8048747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69680C-CF8C-416A-8A4B-9579CA4D8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B5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FADD74-45DC-46B7-9398-7FD62F361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0"/>
            <a:ext cx="2428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915DA5-B32A-4FC6-859C-06817DFF2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A29640-11B7-4BC2-88F0-B9DDBE0F8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Module 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058D9F-6EA0-413E-8BF4-B4869FE59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277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rPr>
              <a:t>Module 0 complete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E47805-32D1-4C5D-9143-08EA9C8FA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5EA8EE-3E7C-4ABF-BCA6-5A5A09469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33500"/>
            <a:ext cx="12192000" cy="552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B59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1EECCA-854B-491A-BC7D-4B5936B66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1455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203CD4-EC51-48A3-AFB9-B96B11C59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8763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AF5DDA-738A-4715-B956-FA43FA60E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000250"/>
            <a:ext cx="857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Module 0 complete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879E9E-C5B1-4A96-B234-83CFB1EEB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048000"/>
            <a:ext cx="838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CDE9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CDE9F7"/>
                </a:solidFill>
                <a:latin typeface="Helvetica Neue"/>
                <a:ea typeface="Helvetica Neue"/>
                <a:cs typeface="Helvetica Neue"/>
              </a:rPr>
              <a:t>Next: Introducing the DevOps Model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754BA0-472E-4FF1-93D6-6921D1A77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905250"/>
            <a:ext cx="7239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B648E5-6C31-4C6C-AE14-384006440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238625"/>
            <a:ext cx="781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Review the key concepts before continuing.</a:t>
            </a:r>
          </a:p>
        </p:txBody>
      </p:sp>
    </p:spTree>
    <p:extLst>
      <p:ext uri="{BB962C8B-B14F-4D97-AF65-F5344CB8AC3E}">
        <p14:creationId xmlns:p14="http://schemas.microsoft.com/office/powerpoint/2010/main" val="122120883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2026-09-13T08:26:48.3890000Z</dcterms:created>
  <dcterms:modified xsi:type="dcterms:W3CDTF">2026-09-13T08:26:48.3890000Z</dcterms:modified>
</coreProperties>
</file>