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f89d96fbef242cb" /><Relationship Type="http://schemas.openxmlformats.org/officeDocument/2006/relationships/extended-properties" Target="/docProps/app.xml" Id="R28e03af9fd9c4215" /><Relationship Type="http://schemas.openxmlformats.org/officeDocument/2006/relationships/officeDocument" Target="/ppt/presentation.xml" Id="R01f6a385e728438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66452b2cfa5448b"/>
  </p:sldMasterIdLst>
  <p:notesMasterIdLst>
    <p:notesMasterId xmlns:r="http://schemas.openxmlformats.org/officeDocument/2006/relationships" r:id="R97bda037f1c144b9"/>
  </p:notesMasterIdLst>
  <p:sldIdLst>
    <p:sldId xmlns:r="http://schemas.openxmlformats.org/officeDocument/2006/relationships" id="256" r:id="Rc53a4b819efa41c5"/>
    <p:sldId xmlns:r="http://schemas.openxmlformats.org/officeDocument/2006/relationships" id="257" r:id="R99bb0ca2b4a248a3"/>
    <p:sldId xmlns:r="http://schemas.openxmlformats.org/officeDocument/2006/relationships" id="258" r:id="Rb0d2c0fe0c174d7c"/>
    <p:sldId xmlns:r="http://schemas.openxmlformats.org/officeDocument/2006/relationships" id="259" r:id="R484c15e1e55a486a"/>
    <p:sldId xmlns:r="http://schemas.openxmlformats.org/officeDocument/2006/relationships" id="260" r:id="Ra978991de88741c9"/>
    <p:sldId xmlns:r="http://schemas.openxmlformats.org/officeDocument/2006/relationships" id="261" r:id="Reb4fb76f570944fb"/>
    <p:sldId xmlns:r="http://schemas.openxmlformats.org/officeDocument/2006/relationships" id="262" r:id="Rf2825dd60e784acb"/>
    <p:sldId xmlns:r="http://schemas.openxmlformats.org/officeDocument/2006/relationships" id="263" r:id="R9dfba596a6414a37"/>
    <p:sldId xmlns:r="http://schemas.openxmlformats.org/officeDocument/2006/relationships" id="264" r:id="R3b51dd3cdbc54283"/>
    <p:sldId xmlns:r="http://schemas.openxmlformats.org/officeDocument/2006/relationships" id="265" r:id="Rd7e6942788dc4d34"/>
    <p:sldId xmlns:r="http://schemas.openxmlformats.org/officeDocument/2006/relationships" id="266" r:id="Rc2356c58ee4c48c3"/>
    <p:sldId xmlns:r="http://schemas.openxmlformats.org/officeDocument/2006/relationships" id="267" r:id="R293557897874453b"/>
    <p:sldId xmlns:r="http://schemas.openxmlformats.org/officeDocument/2006/relationships" id="268" r:id="R8fc28b8165924852"/>
    <p:sldId xmlns:r="http://schemas.openxmlformats.org/officeDocument/2006/relationships" id="269" r:id="R22290b95194d4df1"/>
    <p:sldId xmlns:r="http://schemas.openxmlformats.org/officeDocument/2006/relationships" id="270" r:id="R037e5805f97f4be5"/>
    <p:sldId xmlns:r="http://schemas.openxmlformats.org/officeDocument/2006/relationships" id="271" r:id="R3ab3531da7694c82"/>
    <p:sldId xmlns:r="http://schemas.openxmlformats.org/officeDocument/2006/relationships" id="272" r:id="Rd926c8472d2a45d3"/>
    <p:sldId xmlns:r="http://schemas.openxmlformats.org/officeDocument/2006/relationships" id="273" r:id="Rc4637bb0324a4f76"/>
    <p:sldId xmlns:r="http://schemas.openxmlformats.org/officeDocument/2006/relationships" id="274" r:id="Rc0cc4453d9964ce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0395f8abb3a46a2" /><Relationship Type="http://schemas.openxmlformats.org/officeDocument/2006/relationships/slideMaster" Target="/ppt/slideMasters/slideMaster1.xml" Id="R566452b2cfa5448b" /><Relationship Type="http://schemas.openxmlformats.org/officeDocument/2006/relationships/notesMaster" Target="/ppt/notesMasters/notesMaster1.xml" Id="R97bda037f1c144b9" /><Relationship Type="http://schemas.openxmlformats.org/officeDocument/2006/relationships/presProps" Target="/ppt/presProps.xml" Id="Rcfba092d8c234fed" /><Relationship Type="http://schemas.openxmlformats.org/officeDocument/2006/relationships/tableStyles" Target="/ppt/tableStyles.xml" Id="R035b7699c64d4070" /><Relationship Type="http://schemas.openxmlformats.org/officeDocument/2006/relationships/slide" Target="/ppt/slides/slide1.xml" Id="Rc53a4b819efa41c5" /><Relationship Type="http://schemas.openxmlformats.org/officeDocument/2006/relationships/slide" Target="/ppt/slides/slide2.xml" Id="R99bb0ca2b4a248a3" /><Relationship Type="http://schemas.openxmlformats.org/officeDocument/2006/relationships/slide" Target="/ppt/slides/slide3.xml" Id="Rb0d2c0fe0c174d7c" /><Relationship Type="http://schemas.openxmlformats.org/officeDocument/2006/relationships/slide" Target="/ppt/slides/slide4.xml" Id="R484c15e1e55a486a" /><Relationship Type="http://schemas.openxmlformats.org/officeDocument/2006/relationships/slide" Target="/ppt/slides/slide5.xml" Id="Ra978991de88741c9" /><Relationship Type="http://schemas.openxmlformats.org/officeDocument/2006/relationships/slide" Target="/ppt/slides/slide6.xml" Id="Reb4fb76f570944fb" /><Relationship Type="http://schemas.openxmlformats.org/officeDocument/2006/relationships/slide" Target="/ppt/slides/slide7.xml" Id="Rf2825dd60e784acb" /><Relationship Type="http://schemas.openxmlformats.org/officeDocument/2006/relationships/slide" Target="/ppt/slides/slide8.xml" Id="R9dfba596a6414a37" /><Relationship Type="http://schemas.openxmlformats.org/officeDocument/2006/relationships/slide" Target="/ppt/slides/slide9.xml" Id="R3b51dd3cdbc54283" /><Relationship Type="http://schemas.openxmlformats.org/officeDocument/2006/relationships/slide" Target="/ppt/slides/slide10.xml" Id="Rd7e6942788dc4d34" /><Relationship Type="http://schemas.openxmlformats.org/officeDocument/2006/relationships/slide" Target="/ppt/slides/slide11.xml" Id="Rc2356c58ee4c48c3" /><Relationship Type="http://schemas.openxmlformats.org/officeDocument/2006/relationships/slide" Target="/ppt/slides/slide12.xml" Id="R293557897874453b" /><Relationship Type="http://schemas.openxmlformats.org/officeDocument/2006/relationships/slide" Target="/ppt/slides/slide13.xml" Id="R8fc28b8165924852" /><Relationship Type="http://schemas.openxmlformats.org/officeDocument/2006/relationships/slide" Target="/ppt/slides/slide14.xml" Id="R22290b95194d4df1" /><Relationship Type="http://schemas.openxmlformats.org/officeDocument/2006/relationships/slide" Target="/ppt/slides/slide15.xml" Id="R037e5805f97f4be5" /><Relationship Type="http://schemas.openxmlformats.org/officeDocument/2006/relationships/slide" Target="/ppt/slides/slide16.xml" Id="R3ab3531da7694c82" /><Relationship Type="http://schemas.openxmlformats.org/officeDocument/2006/relationships/slide" Target="/ppt/slides/slide17.xml" Id="Rd926c8472d2a45d3" /><Relationship Type="http://schemas.openxmlformats.org/officeDocument/2006/relationships/slide" Target="/ppt/slides/slide18.xml" Id="Rc4637bb0324a4f76" /><Relationship Type="http://schemas.openxmlformats.org/officeDocument/2006/relationships/slide" Target="/ppt/slides/slide19.xml" Id="Rc0cc4453d9964ce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9659158e1844bc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7ee6aa4d26b462a" /><Relationship Type="http://schemas.openxmlformats.org/officeDocument/2006/relationships/notesMaster" Target="/ppt/notesMasters/notesMaster1.xml" Id="Rcb7156ca04f7465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54ec323d4d64e48" /><Relationship Type="http://schemas.openxmlformats.org/officeDocument/2006/relationships/notesMaster" Target="/ppt/notesMasters/notesMaster1.xml" Id="R2796ef55f21249e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13f10ca6eea41cd" /><Relationship Type="http://schemas.openxmlformats.org/officeDocument/2006/relationships/notesMaster" Target="/ppt/notesMasters/notesMaster1.xml" Id="Recebc9404a04469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710d955005d4f1b" /><Relationship Type="http://schemas.openxmlformats.org/officeDocument/2006/relationships/notesMaster" Target="/ppt/notesMasters/notesMaster1.xml" Id="R7b9b3b56673c454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21b78b60ef84e8b" /><Relationship Type="http://schemas.openxmlformats.org/officeDocument/2006/relationships/notesMaster" Target="/ppt/notesMasters/notesMaster1.xml" Id="Rc72b58bb9a604b4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65491cf2f6547b9" /><Relationship Type="http://schemas.openxmlformats.org/officeDocument/2006/relationships/notesMaster" Target="/ppt/notesMasters/notesMaster1.xml" Id="R950b30a1b5d84bd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5532232b6804820" /><Relationship Type="http://schemas.openxmlformats.org/officeDocument/2006/relationships/notesMaster" Target="/ppt/notesMasters/notesMaster1.xml" Id="R7dea0f1353154ae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b2ffdd43bc44ed3" /><Relationship Type="http://schemas.openxmlformats.org/officeDocument/2006/relationships/notesMaster" Target="/ppt/notesMasters/notesMaster1.xml" Id="R90f08cf042c640d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43aec95c9c54b86" /><Relationship Type="http://schemas.openxmlformats.org/officeDocument/2006/relationships/notesMaster" Target="/ppt/notesMasters/notesMaster1.xml" Id="R70945aedfd79468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989b65caacb4612" /><Relationship Type="http://schemas.openxmlformats.org/officeDocument/2006/relationships/notesMaster" Target="/ppt/notesMasters/notesMaster1.xml" Id="Ra1946e89dc6d44b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94fc001ceed4e5f" /><Relationship Type="http://schemas.openxmlformats.org/officeDocument/2006/relationships/notesMaster" Target="/ppt/notesMasters/notesMaster1.xml" Id="Rb3ed2bdf25db48f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d7bf5bf6ced4c73" /><Relationship Type="http://schemas.openxmlformats.org/officeDocument/2006/relationships/notesMaster" Target="/ppt/notesMasters/notesMaster1.xml" Id="R2ad7d9fc0cb14c4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e61dc90157a4866" /><Relationship Type="http://schemas.openxmlformats.org/officeDocument/2006/relationships/notesMaster" Target="/ppt/notesMasters/notesMaster1.xml" Id="Rdd9c21d08239487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3eee50abbc245bc" /><Relationship Type="http://schemas.openxmlformats.org/officeDocument/2006/relationships/notesMaster" Target="/ppt/notesMasters/notesMaster1.xml" Id="Rf05083d4dc2641f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283c4e53d1d42cf" /><Relationship Type="http://schemas.openxmlformats.org/officeDocument/2006/relationships/notesMaster" Target="/ppt/notesMasters/notesMaster1.xml" Id="R61383b694f2b4bd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f482352ce9d4c13" /><Relationship Type="http://schemas.openxmlformats.org/officeDocument/2006/relationships/notesMaster" Target="/ppt/notesMasters/notesMaster1.xml" Id="R2bb6f1cc3a2e4ce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8ee920e2af44396" /><Relationship Type="http://schemas.openxmlformats.org/officeDocument/2006/relationships/notesMaster" Target="/ppt/notesMasters/notesMaster1.xml" Id="Re377ff5941d8400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46b8c66ead3d4028" /><Relationship Type="http://schemas.openxmlformats.org/officeDocument/2006/relationships/notesMaster" Target="/ppt/notesMasters/notesMaster1.xml" Id="R25db40978ec74fd5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9ac7eb71056749ed" /><Relationship Type="http://schemas.openxmlformats.org/officeDocument/2006/relationships/notesMaster" Target="/ppt/notesMasters/notesMaster1.xml" Id="Rc3c944898f904bd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Open Module 4 and establish the subject of the deck.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Explain: Continuous Integration, Delivery, and Deployment Validation. Pipeline design, evidence, promotion, and recovery.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cue: Briefly connect this module to the previous part of the course before discussing details.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Move to the module introduction and learning focus.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Establish the scope of Module introduction.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Explain: This module turns build, test, deployment, and verification activities into pipelines with clear responsibilities and promotion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Discuss: Design GitLab stages and job dependencies Choose runner boundaries and protected execution Build once and promote the same artifact Validate the target service and handle failure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Audience question: Which point is most familiar, and which point needs the most attention?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Introduce the first model or engineering boundary.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Explain pipeline gates through the diagram.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Reading order: Start with the main boundary or input, follow the connections, then identify the output or feedback path.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Key explanation: Each gate should answer a specific release question and stop promotion when the evidence does not support the next action.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Audience question: Where would a failure become visible, and which component should own the response?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Connect the diagram to the next engineering decision.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Compare the two sides of gitlab pipeline structure.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Left side, Pipeline definition: Stages establish broad order Jobs define executable work Rules select when jobs run Needs express direct dependencies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Right side, Execution context: Runner and executor Container image Variables and protected secrets Artifacts and environment scope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cue: Explain the relationship between the columns rather than reading each line verbatim.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Audience question: Which responsibility is unclear or shared in your current environment?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Use the comparison to frame the next topic.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Explain test confidence through the diagram.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Reading order: Start with the main boundary or input, follow the connections, then identify the output or feedback path.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Key explanation: Fast unit checks cover logic broadly. Integration and end-to-end tests cover fewer paths but provide stronger system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Audience question: Where would a failure become visible, and which component should own the response?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Connect the diagram to the next engineering decision.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Explain artifacts and caches through the diagram.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Reading order: Start with the main boundary or input, follow the connections, then identify the output or feedback path.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Key explanation: Artifacts carry identified outputs between jobs and releases. Caches accelerate work but should never determine release identity.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Audience question: Where would a failure become visible, and which component should own the response?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Connect the diagram to the next engineering decision.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Explain runner trust model through the diagram.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Reading order: Start with the main boundary or input, follow the connections, then identify the output or feedback path.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Key explanation: Runner placement, executor type, credentials, network access, and branch protection determine what a job can affect.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Audience question: Where would a failure become visible, and which component should own the response?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Connect the diagram to the next engineering decision.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Compare the two sides of runner selection.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Left side, General runner: Build and unit test work No production credentials Restricted network reach Disposable execution environment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Right side, Protected runner: Protected branch or tag Bounded deployment identity Restricted target access Enhanced audit and approval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cue: Explain the relationship between the columns rather than reading each line verbatim.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Audience question: Which responsibility is unclear or shared in your current environment?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Use the comparison to frame the next topic.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Explain pipeline purposes through the diagram.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Reading order: Start with the main boundary or input, follow the connections, then identify the output or feedback path.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Key explanation: An application delivery pipeline and a network intent pipeline can share a project while retaining different triggers, stages, permissions, and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Audience question: Where would a failure become visible, and which component should own the response?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Connect the diagram to the next engineering decision.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Explain network job trust sequence through the diagram.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Reading order: Start with the main boundary or input, follow the connections, then identify the output or feedback path.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Key explanation: A protected network job should validate the event, resolve approved intent, obtain bounded identity, change the target, and record the outcome.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Audience question: Where would a failure become visible, and which component should own the response?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Connect the diagram to the next engineering decision.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Explain network change state through the diagram.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Reading order: Start with the main boundary or input, follow the connections, then identify the output or feedback path.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Key explanation: A deployment moves through preparation, application, verification, and outcome classification. Unknown outcomes require investigation before retry.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Audience question: Where would a failure become visible, and which component should own the response?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Connect the diagram to the next engineering decision.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Explain scoped deployment controls through the diagram.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Reading order: Start with the main boundary or input, follow the connections, then identify the output or feedback path.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Key explanation: Target limits, concurrency controls, change windows, and progressive batches reduce the effect of a failed change.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Audience question: Where would a failure become visible, and which component should own the response?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Connect the diagram to the next engineering decision.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Compare the two sides of pre-check and post-check design.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Left side, Before change: Confirm target identity Measure the service baseline Compare intended and current state Prepare a recovery path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Right side, After change: Confirm configuration state Wait for protocol convergence Test service behavior Compare with the baseline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cue: Explain the relationship between the columns rather than reading each line verbatim.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Audience question: Which responsibility is unclear or shared in your current environment?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Use the comparison to frame the next topic.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Explain deployment strategies through the diagram.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Reading order: Start with the main boundary or input, follow the connections, then identify the output or feedback path.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Key explanation: The right strategy depends on state, compatibility, traffic control, rollback cost, and the fidelity of health checks.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Audience question: Where would a failure become visible, and which component should own the response?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Connect the diagram to the next engineering decision.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Explain rollback decision through the diagram.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Reading order: Start with the main boundary or input, follow the connections, then identify the output or feedback path.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Key explanation: Rollback is one recovery option. Forward remediation may be safer when state changed irreversibly or the previous version cannot interpret current data.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Audience question: Where would a failure become visible, and which component should own the response?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Connect the diagram to the next engineering decision.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Compare the two sides of gitlab pipeline design.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Left side, Job contract: Declared image and dependencies Specific inputs and outputs Clear pass or fail condition Evidence retained for review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Right side, Promotion contract: Protected environment and identity Approval where risk requires it Same artifact across environments Post-deployment verification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cue: Explain the relationship between the columns rather than reading each line verbatim.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Audience question: Which responsibility is unclear or shared in your current environment?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Use the comparison to frame the next topic.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Compare the two sides of pipeline failure categories.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Left side, Candidate failures: Syntax or schema error Failed unit or integration test Vulnerable dependency Unqualified artifact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Right side, Environment failures: Runner or platform unavailable Target baseline unhealthy Deployment outcome unknown Cleanup incomplete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cue: Explain the relationship between the columns rather than reading each line verbatim.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Audience question: Which responsibility is unclear or shared in your current environment?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Use the comparison to frame the next topic.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Establish the scope of Key takeaways.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Explain: A useful pipeline automates decisions only when its tests and evidence support those decisions.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Discuss: Give each pipeline one operational purpose Protect runners according to their reach Promote one identified artifact Treat deployment verification and cleanup as required stages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Audience question: Which point is most familiar, and which point needs the most attention?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Introduce the first model or engineering boundary.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Close Module 4.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Recap: Ask learners to state one concept they can apply and one question that remains.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Next: Next: Security and Observability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cue: Confirm the class is ready before moving to the next module.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2a1dc87cc24e0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ea4c02f876240a4" /><Relationship Type="http://schemas.openxmlformats.org/officeDocument/2006/relationships/slideLayout" Target="/ppt/slideLayouts/slideLayout1.xml" Id="R9746ccbff249414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746ccbff249414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87869dd78c4014" /><Relationship Type="http://schemas.openxmlformats.org/officeDocument/2006/relationships/image" Target="/ppt/media/image.png" Id="R4f4d452f39b449c3" /><Relationship Type="http://schemas.openxmlformats.org/officeDocument/2006/relationships/notesSlide" Target="/ppt/notesSlides/notesSlide1.xml" Id="R6af39b01697d438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a8496438d647d2" /><Relationship Type="http://schemas.openxmlformats.org/officeDocument/2006/relationships/notesSlide" Target="/ppt/notesSlides/notesSlide2.xml" Id="Rf344f5317a63473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06fd614edc4151" /><Relationship Type="http://schemas.openxmlformats.org/officeDocument/2006/relationships/image" Target="/ppt/media/image2.png" Id="R470fb425eff34dbe" /><Relationship Type="http://schemas.openxmlformats.org/officeDocument/2006/relationships/notesSlide" Target="/ppt/notesSlides/notesSlide3.xml" Id="R73f0c782e87444b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6f9acb845d4907" /><Relationship Type="http://schemas.openxmlformats.org/officeDocument/2006/relationships/notesSlide" Target="/ppt/notesSlides/notesSlide4.xml" Id="R6ac7d818945e48b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4c599433644870" /><Relationship Type="http://schemas.openxmlformats.org/officeDocument/2006/relationships/image" Target="/ppt/media/image3.png" Id="Rd29536ca559e46ec" /><Relationship Type="http://schemas.openxmlformats.org/officeDocument/2006/relationships/notesSlide" Target="/ppt/notesSlides/notesSlide5.xml" Id="R0f847f8613294b8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c9837349a04943" /><Relationship Type="http://schemas.openxmlformats.org/officeDocument/2006/relationships/image" Target="/ppt/media/image4.png" Id="Refd94b0b5b5e4888" /><Relationship Type="http://schemas.openxmlformats.org/officeDocument/2006/relationships/notesSlide" Target="/ppt/notesSlides/notesSlide6.xml" Id="R2aee9f46306f4a7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1eb7e1df9a4c51" /><Relationship Type="http://schemas.openxmlformats.org/officeDocument/2006/relationships/image" Target="/ppt/media/image5.png" Id="R0cbb7441df0c4c6c" /><Relationship Type="http://schemas.openxmlformats.org/officeDocument/2006/relationships/notesSlide" Target="/ppt/notesSlides/notesSlide7.xml" Id="R1fcd5dbf3363444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43343f760443dc" /><Relationship Type="http://schemas.openxmlformats.org/officeDocument/2006/relationships/notesSlide" Target="/ppt/notesSlides/notesSlide8.xml" Id="R5ecdab468973499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1730c224e24b79" /><Relationship Type="http://schemas.openxmlformats.org/officeDocument/2006/relationships/image" Target="/ppt/media/image6.png" Id="R7d2bbdfa36124ca2" /><Relationship Type="http://schemas.openxmlformats.org/officeDocument/2006/relationships/notesSlide" Target="/ppt/notesSlides/notesSlide9.xml" Id="Rc289bb46b32e4d3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3e5dcd520f43f5" /><Relationship Type="http://schemas.openxmlformats.org/officeDocument/2006/relationships/image" Target="/ppt/media/image7.png" Id="R911049cd6b264871" /><Relationship Type="http://schemas.openxmlformats.org/officeDocument/2006/relationships/notesSlide" Target="/ppt/notesSlides/notesSlide10.xml" Id="Rfceb6d1563e040b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2f3786913d4379" /><Relationship Type="http://schemas.openxmlformats.org/officeDocument/2006/relationships/image" Target="/ppt/media/image8.png" Id="R86eb6a748cbe41e8" /><Relationship Type="http://schemas.openxmlformats.org/officeDocument/2006/relationships/notesSlide" Target="/ppt/notesSlides/notesSlide11.xml" Id="R7797c21271af424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86ccdb4762447b" /><Relationship Type="http://schemas.openxmlformats.org/officeDocument/2006/relationships/image" Target="/ppt/media/image9.png" Id="Rfa46921fe8d348a3" /><Relationship Type="http://schemas.openxmlformats.org/officeDocument/2006/relationships/notesSlide" Target="/ppt/notesSlides/notesSlide12.xml" Id="Rec10aa5c2ed14ae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854e60b2214523" /><Relationship Type="http://schemas.openxmlformats.org/officeDocument/2006/relationships/notesSlide" Target="/ppt/notesSlides/notesSlide13.xml" Id="R8231d2a430114d0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8eb85ba6804a6b" /><Relationship Type="http://schemas.openxmlformats.org/officeDocument/2006/relationships/image" Target="/ppt/media/image10.png" Id="R3d8c52de0ae74fd6" /><Relationship Type="http://schemas.openxmlformats.org/officeDocument/2006/relationships/notesSlide" Target="/ppt/notesSlides/notesSlide14.xml" Id="R34315f997f624e6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fb7ccfee614018" /><Relationship Type="http://schemas.openxmlformats.org/officeDocument/2006/relationships/image" Target="/ppt/media/image11.png" Id="Rb6f5c5d64e7d4d3e" /><Relationship Type="http://schemas.openxmlformats.org/officeDocument/2006/relationships/notesSlide" Target="/ppt/notesSlides/notesSlide15.xml" Id="Rd4658b15a2ab446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e04ee29726440f" /><Relationship Type="http://schemas.openxmlformats.org/officeDocument/2006/relationships/notesSlide" Target="/ppt/notesSlides/notesSlide16.xml" Id="R4aae9d50533e4632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d97b25f7b548d1" /><Relationship Type="http://schemas.openxmlformats.org/officeDocument/2006/relationships/notesSlide" Target="/ppt/notesSlides/notesSlide17.xml" Id="R45c9e8688a0744d2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6d9a47a2a24bca" /><Relationship Type="http://schemas.openxmlformats.org/officeDocument/2006/relationships/notesSlide" Target="/ppt/notesSlides/notesSlide18.xml" Id="R63c3f4dd359942a6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76ce31dfed45cd" /><Relationship Type="http://schemas.openxmlformats.org/officeDocument/2006/relationships/notesSlide" Target="/ppt/notesSlides/notesSlide19.xml" Id="R178565b3c62b4a2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2B5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4d452f39b449c3"/>
          <a:srcRect xmlns:a="http://schemas.openxmlformats.org/drawingml/2006/main" l="0" t="30099" r="0" b="3009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55BCD9-05C6-4940-B1C6-14298EB51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619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B59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167979-C830-47D9-85B6-36F839ABA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B59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CC1458-6C5F-4255-B0D4-78BBEB7BC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0"/>
            <a:ext cx="2428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FE77FE-C801-4383-9E88-78238E77F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Module 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7A4DEF-4EA1-445B-8593-640729598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4300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91193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Continuous Integration, Delivery, and Deployment Validation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047764-4C15-41BB-A33F-10F3A51F0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0"/>
            <a:ext cx="447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8EC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D8ECFA"/>
                </a:solidFill>
                <a:latin typeface="Helvetica Neue"/>
                <a:ea typeface="Helvetica Neue"/>
                <a:cs typeface="Helvetica Neue"/>
              </a:rPr>
              <a:t>Pipeline design, evidence, promotion, and recovery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72386C-EC9D-4015-9279-61D98F6C1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048375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Cisco learning and professional development</a:t>
            </a:r>
          </a:p>
        </p:txBody>
      </p:sp>
    </p:spTree>
    <p:extLst>
      <p:ext uri="{BB962C8B-B14F-4D97-AF65-F5344CB8AC3E}">
        <p14:creationId xmlns:p14="http://schemas.microsoft.com/office/powerpoint/2010/main" val="48960229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215F56-3466-42B8-9E5F-7421C5B35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B5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8533FC-C638-4B76-8889-70F90B7FB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0"/>
            <a:ext cx="2428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79C9FC-1A3F-4076-9F4F-EBAF8D011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484DB9-2FA4-49AC-814A-58508162A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Module 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A99FAB-6DD4-4255-8C26-995732975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277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rPr>
              <a:t>Module introduction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B99DFA-8D3F-44AC-9055-387EA8573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EABEAE-6D9D-46C6-B6AD-DF39BD4DA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F75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F758B"/>
                </a:solidFill>
                <a:latin typeface="Helvetica Neue"/>
                <a:ea typeface="Helvetica Neue"/>
                <a:cs typeface="Helvetica Neue"/>
              </a:rPr>
              <a:t>This module turns build, test, deployment, and verification activities into pipelines with clear responsibilities and promotion evidence.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3045BF-679F-4B35-8797-AAB04C18F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43175"/>
            <a:ext cx="66675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5E7ABC-2F3A-43E1-94F8-7D0BB96CA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76500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Design GitLab stages and job dependencies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2ABC5B-89E4-4C2E-BCC7-5294FC06E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52775"/>
            <a:ext cx="66675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1A8D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11A7F2-363F-496D-8FA9-2CA3AC072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86100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Choose runner boundaries and protected execution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DAB1DB-20AA-4449-B095-154A7A07E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62375"/>
            <a:ext cx="66675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92E9FC-0B04-419F-9187-8400C6300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95700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Build once and promote the same artifact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D63210-B7A9-4A43-BC07-0D2188577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71975"/>
            <a:ext cx="66675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1A8D8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D65964-5311-498B-8D48-D942948E4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Validate the target service and handle failure</a:t>
            </a:r>
          </a:p>
        </p:txBody>
      </p:sp>
    </p:spTree>
    <p:extLst>
      <p:ext uri="{BB962C8B-B14F-4D97-AF65-F5344CB8AC3E}">
        <p14:creationId xmlns:p14="http://schemas.microsoft.com/office/powerpoint/2010/main" val="184104791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E6C2B1-F611-47ED-98BB-CE57DEA6C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B5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26B91C-077F-47DB-9424-445511302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0"/>
            <a:ext cx="2428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98ADCB-0580-46D5-99AD-0E451D086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E8D93E-4C8A-4EC8-BF5C-7C4ECF70C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Module 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381C9E-083D-473C-8322-3D101E48F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277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rPr>
              <a:t>Pipeline gates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9C6F4D-8090-4D2E-BC70-DB0C760DA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0fb425eff34dbe"/>
          <a:stretch xmlns:a="http://schemas.openxmlformats.org/drawingml/2006/main"/>
        </p:blipFill>
        <p:spPr>
          <a:xfrm xmlns:a="http://schemas.openxmlformats.org/drawingml/2006/main">
            <a:off x="609600" y="1621696"/>
            <a:ext cx="10972800" cy="3947984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C2AEAA-73C9-433A-8C12-6F29E4670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29300"/>
            <a:ext cx="7620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27DD1C-C631-4E75-BA84-02B0AC055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43575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Each gate should answer a specific release question and stop promotion when the evidence does not support the next action.</a:t>
            </a:r>
          </a:p>
        </p:txBody>
      </p:sp>
    </p:spTree>
    <p:extLst>
      <p:ext uri="{BB962C8B-B14F-4D97-AF65-F5344CB8AC3E}">
        <p14:creationId xmlns:p14="http://schemas.microsoft.com/office/powerpoint/2010/main" val="115074109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6D2CC42-CD7E-448F-AA04-38DF419FD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B5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A14738-0798-431D-B462-B8E54121F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0"/>
            <a:ext cx="2428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CEF871-0747-4793-9E44-6DA4C08D0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16BD4D-20F1-4381-AA93-B9C01DAF0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Module 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2A6484-128B-4444-8962-98770EB6D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277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rPr>
              <a:t>GitLab pipeline structure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9B4FB5-7421-4942-A0B6-CEEC44F11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95B1C9-BCD6-410A-9451-6201FA445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14500"/>
            <a:ext cx="19050" cy="423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0CACA0-EEC0-4861-8C64-35B8996DA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A6F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A6FAF"/>
                </a:solidFill>
                <a:latin typeface="Helvetica Neue"/>
                <a:ea typeface="Helvetica Neue"/>
                <a:cs typeface="Helvetica Neue"/>
              </a:rPr>
              <a:t>Pipeline definition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06627A-2E65-45D4-9F7A-12E0F13AA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67640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A6F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A6FAF"/>
                </a:solidFill>
                <a:latin typeface="Helvetica Neue"/>
                <a:ea typeface="Helvetica Neue"/>
                <a:cs typeface="Helvetica Neue"/>
              </a:rPr>
              <a:t>Execution context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43261E-DB2C-4615-B54D-6A7D12EE5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31782D-2969-42E6-8A4D-788043A19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602233-CB45-4A26-84E2-65F1AEEA8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3050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Stages establish broad order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060D96-0A7A-4986-A742-4FA142D42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AA72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CB30C1-F016-4EFD-909D-5DCF2955F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69CA84-0CF4-4878-A039-034FA1612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0480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Jobs define executable work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AD2A48-A2B1-4378-962A-D6836E614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862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91B09C-EA8A-46D2-B947-B73746291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862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C4BB3F-5EB2-42FC-9769-BFDE741F8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7909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Rules select when jobs run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E9C334-FD1E-4763-874F-D510AC9BF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AA72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0CE625-7F90-49F7-AE29-34D66D5B1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784572-5340-413A-9CD5-6045EAFD7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5339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Needs express direct dependencies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8850B61-2E3D-4434-89AC-90A503976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4003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B9DB72B-57D8-4D07-A772-758C122B9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4003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2B62CEE-6C67-47B7-B8F5-C84F11A18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3050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Runner and executor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9FEFCC5-4D34-4A35-A84E-5A06FC342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1432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AA72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A572790-61DC-424D-BA9C-5D3D230FA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1432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4F56A30-C08A-46D3-B741-F09A77851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0480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Container image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FCCF43C-998F-4F2B-AF35-5E92D1CDC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8862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54941BE-E49D-4045-8717-CF0DAF1C9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8862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EA0CD48-C210-49F9-B6CF-BD53A6BAA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7909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Variables and protected secrets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D8A6902-17F9-4D17-A3FD-0783FBF77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6291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AA72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69EBA3D-1AA5-47D3-A786-59D7A4666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6291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8FE8DA5-40F7-4FBE-B173-53C9C6067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5339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Artifacts and environment scope</a:t>
            </a:r>
          </a:p>
        </p:txBody>
      </p:sp>
    </p:spTree>
    <p:extLst>
      <p:ext uri="{BB962C8B-B14F-4D97-AF65-F5344CB8AC3E}">
        <p14:creationId xmlns:p14="http://schemas.microsoft.com/office/powerpoint/2010/main" val="204940560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3E4DAE-5B0B-4727-828D-5E0454A56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B5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4EA76A-053F-4227-87ED-0979D3D41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0"/>
            <a:ext cx="2428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F32843-9247-4F15-8156-7DBF7345E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E59D50-D849-4D68-A2DC-206075113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Module 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A6FB78-093A-4FA5-A5AB-24C1F51A5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277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rPr>
              <a:t>Test confidence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37E8B1-17AE-47FF-A421-951DD443E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9536ca559e46ec"/>
          <a:stretch xmlns:a="http://schemas.openxmlformats.org/drawingml/2006/main"/>
        </p:blipFill>
        <p:spPr>
          <a:xfrm xmlns:a="http://schemas.openxmlformats.org/drawingml/2006/main">
            <a:off x="609600" y="1811681"/>
            <a:ext cx="10972800" cy="3568014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4CDF9A-E625-4052-B567-E128F6041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29300"/>
            <a:ext cx="7620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334756-03B1-4710-B470-EB7B2A78A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43575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Fast unit checks cover logic broadly. Integration and end-to-end tests cover fewer paths but provide stronger system evidence.</a:t>
            </a:r>
          </a:p>
        </p:txBody>
      </p:sp>
    </p:spTree>
    <p:extLst>
      <p:ext uri="{BB962C8B-B14F-4D97-AF65-F5344CB8AC3E}">
        <p14:creationId xmlns:p14="http://schemas.microsoft.com/office/powerpoint/2010/main" val="52061216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56176A-E7C7-49D4-AA80-D4E00F2E1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B5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11E075-0DB9-4E29-B478-8E936B058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0"/>
            <a:ext cx="2428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4B272F-27BB-4C63-99D7-A18C50E80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0E98A7-AD15-4175-92E5-1CF670459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Module 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0C4FBC-5CC2-4DFA-A809-8791542A2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277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rPr>
              <a:t>Artifacts and caches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8FAB85-7AC5-4912-B7C4-952EDCC70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d94b0b5b5e4888"/>
          <a:stretch xmlns:a="http://schemas.openxmlformats.org/drawingml/2006/main"/>
        </p:blipFill>
        <p:spPr>
          <a:xfrm xmlns:a="http://schemas.openxmlformats.org/drawingml/2006/main">
            <a:off x="609600" y="1742174"/>
            <a:ext cx="10972800" cy="3707027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3D3E16-AE7B-4EBA-BD98-2685E618A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29300"/>
            <a:ext cx="7620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273288-52EC-4AF1-B66B-F17A18F58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43575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Artifacts carry identified outputs between jobs and releases. Caches accelerate work but should never determine release identity.</a:t>
            </a:r>
          </a:p>
        </p:txBody>
      </p:sp>
    </p:spTree>
    <p:extLst>
      <p:ext uri="{BB962C8B-B14F-4D97-AF65-F5344CB8AC3E}">
        <p14:creationId xmlns:p14="http://schemas.microsoft.com/office/powerpoint/2010/main" val="165728334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1A0339-842F-4CC7-B56C-27E6A25F5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B5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60ED07-2426-424F-A323-16847ECE2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0"/>
            <a:ext cx="2428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16532E-CC34-4C94-BCB3-9A32820C7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69E00C-43BB-4A88-B24F-966EA4993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Module 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9503C0-CAA0-43D8-9807-6FA0CF267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277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rPr>
              <a:t>Runner trust model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BBEEB2-DE3E-4CBF-A563-A3218000E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bb7441df0c4c6c"/>
          <a:stretch xmlns:a="http://schemas.openxmlformats.org/drawingml/2006/main"/>
        </p:blipFill>
        <p:spPr>
          <a:xfrm xmlns:a="http://schemas.openxmlformats.org/drawingml/2006/main">
            <a:off x="609600" y="1742174"/>
            <a:ext cx="10972800" cy="3707027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3EADFE-9831-4034-B10B-1907FC78E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29300"/>
            <a:ext cx="7620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EA6594-B578-4D65-B92C-896C51C40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43575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Runner placement, executor type, credentials, network access, and branch protection determine what a job can affect.</a:t>
            </a:r>
          </a:p>
        </p:txBody>
      </p:sp>
    </p:spTree>
    <p:extLst>
      <p:ext uri="{BB962C8B-B14F-4D97-AF65-F5344CB8AC3E}">
        <p14:creationId xmlns:p14="http://schemas.microsoft.com/office/powerpoint/2010/main" val="82997058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859D847-A0A5-4613-B489-CEAC7E510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B5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2301D0-9A42-4870-83EB-CCD2D6970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0"/>
            <a:ext cx="2428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A68BED-B3EF-4A58-8DE5-FC66CB8A2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1AB28F-010A-4CE6-9632-7487D69BC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Module 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770CE7-AF56-4453-A0E2-D8633E86F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277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rPr>
              <a:t>Runner selection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DDDDF0-EACF-466F-9C79-6981AE55B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D310C7-61A2-4E2F-9EDB-43868D088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14500"/>
            <a:ext cx="19050" cy="423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9DC670-B629-410E-8E63-388E4CCE0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A6F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A6FAF"/>
                </a:solidFill>
                <a:latin typeface="Helvetica Neue"/>
                <a:ea typeface="Helvetica Neue"/>
                <a:cs typeface="Helvetica Neue"/>
              </a:rPr>
              <a:t>General runner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93A9E1-CA8E-4200-A1A2-8F8C75067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67640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A6F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A6FAF"/>
                </a:solidFill>
                <a:latin typeface="Helvetica Neue"/>
                <a:ea typeface="Helvetica Neue"/>
                <a:cs typeface="Helvetica Neue"/>
              </a:rPr>
              <a:t>Protected runner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5F8707-FD54-4B94-AA34-357389240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2A41FE-F090-4675-BF32-D9079A25A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B01538-1E4D-45C1-852E-990D61A97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3050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Build and unit test work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040B21-0FA5-4292-98C9-B6626D42F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AA72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2CC8CC-0A13-4165-984F-7322FD392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7196C0-B126-4FD1-A85D-BA137609C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0480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No production credentials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86F6B5-C91D-48A1-8DE0-7905EF1FF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862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A4F3A6-3AAB-4E6F-9171-66E1D57DB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862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D5A6D5-BA2D-4675-91A9-1048E614E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7909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Restricted network reach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47A140-EE91-45ED-90A6-ED40BC58D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AA72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F01014-B453-40BC-B66A-2B7B77466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DABB53-3D3C-49EC-9B85-7345094E9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5339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Disposable execution environment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4598DD8-316A-442A-8ED6-990CC493F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4003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78F818-D629-43B1-B88A-AB7F23EEB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4003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810F02B-425F-4C2C-9995-14842FE44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3050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Protected branch or tag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92C9547-2849-4058-803B-A3A35AC37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1432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AA72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7B11D1E-5356-4FC2-A1D3-F3E07DD48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1432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89D5558-00A1-4E9C-9826-FA9292289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0480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Bounded deployment identity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2FAB2CD-F629-4F65-97BE-799DEB209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8862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A09C7EC-1957-4C35-892E-993C97ADF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8862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E628C8E-6C6B-4D78-8504-863480C68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7909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Restricted target access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EE62243-27F0-4FA7-B697-65783EFB0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6291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AA72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5BA70BA-C450-4084-8947-591AC010E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6291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42A0C8C-013A-4B53-8247-6AD274EB8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5339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Enhanced audit and approval</a:t>
            </a:r>
          </a:p>
        </p:txBody>
      </p:sp>
    </p:spTree>
    <p:extLst>
      <p:ext uri="{BB962C8B-B14F-4D97-AF65-F5344CB8AC3E}">
        <p14:creationId xmlns:p14="http://schemas.microsoft.com/office/powerpoint/2010/main" val="16318046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8EAE46-FAF3-4E9B-9056-320A836B2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B5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A5C583-B839-4A15-A98E-DEA499271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0"/>
            <a:ext cx="2428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FA4DDC-3B81-485C-A0C1-CEAC4E9BA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8242C6-EC5D-4363-B028-531055896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Module 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C8FEBF-7C56-411A-9D31-05F293AB4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277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rPr>
              <a:t>Pipeline purposes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09BA20-6B5B-4DAD-8A0E-11C0D53C7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2bbdfa36124ca2"/>
          <a:stretch xmlns:a="http://schemas.openxmlformats.org/drawingml/2006/main"/>
        </p:blipFill>
        <p:spPr>
          <a:xfrm xmlns:a="http://schemas.openxmlformats.org/drawingml/2006/main">
            <a:off x="609600" y="1742174"/>
            <a:ext cx="10972800" cy="3707027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3812E8-653D-476B-B087-5338FCCB0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29300"/>
            <a:ext cx="7620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D83DAD-6FD9-4EBA-B11C-63BC8003F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43575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An application delivery pipeline and a network intent pipeline can share a project while retaining different triggers, stages, permissions, and evidence.</a:t>
            </a:r>
          </a:p>
        </p:txBody>
      </p:sp>
    </p:spTree>
    <p:extLst>
      <p:ext uri="{BB962C8B-B14F-4D97-AF65-F5344CB8AC3E}">
        <p14:creationId xmlns:p14="http://schemas.microsoft.com/office/powerpoint/2010/main" val="192498600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AFF7E2-8CC1-4873-8679-FD800845D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B5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ACBB02-E232-4B6C-8349-899AE1FCC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0"/>
            <a:ext cx="2428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3E0678-C77E-4B88-827F-674274B8C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B611F7-0F86-4CBD-B997-29FD95F25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Module 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5D926D-51D1-4455-996C-97BC4447F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277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rPr>
              <a:t>Network job trust sequence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142221-C6AE-4F20-9D66-1495843C1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1049cd6b264871"/>
          <a:stretch xmlns:a="http://schemas.openxmlformats.org/drawingml/2006/main"/>
        </p:blipFill>
        <p:spPr>
          <a:xfrm xmlns:a="http://schemas.openxmlformats.org/drawingml/2006/main">
            <a:off x="609600" y="1742174"/>
            <a:ext cx="10972800" cy="3707027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E27BBD-F9CE-4931-91AA-174FEE00A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29300"/>
            <a:ext cx="7620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A01BF7-287E-4171-891C-B9A5D2376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43575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A protected network job should validate the event, resolve approved intent, obtain bounded identity, change the target, and record the outcome.</a:t>
            </a:r>
          </a:p>
        </p:txBody>
      </p:sp>
    </p:spTree>
    <p:extLst>
      <p:ext uri="{BB962C8B-B14F-4D97-AF65-F5344CB8AC3E}">
        <p14:creationId xmlns:p14="http://schemas.microsoft.com/office/powerpoint/2010/main" val="56041208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63F168-66CE-4A87-8F18-05E365894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B5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4E704D-E39E-4E89-B43B-8084ECAE3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0"/>
            <a:ext cx="2428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CA9064-6E9B-4DD9-B752-D3E9D4D31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5D6D30-A347-4B73-8639-B9C14630C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Module 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7B6A41-1671-418C-B424-D3768D49F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277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rPr>
              <a:t>Network change state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109B57-C21F-4D4F-BE04-1A8A4DAAF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eb6a748cbe41e8"/>
          <a:stretch xmlns:a="http://schemas.openxmlformats.org/drawingml/2006/main"/>
        </p:blipFill>
        <p:spPr>
          <a:xfrm xmlns:a="http://schemas.openxmlformats.org/drawingml/2006/main">
            <a:off x="609600" y="1603160"/>
            <a:ext cx="10972800" cy="3985054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171A5F-1BFD-43AD-9A7C-0D8EB2553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29300"/>
            <a:ext cx="7620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299FA8-820F-4310-A231-CCA43BA53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43575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A deployment moves through preparation, application, verification, and outcome classification. Unknown outcomes require investigation before retry.</a:t>
            </a:r>
          </a:p>
        </p:txBody>
      </p:sp>
    </p:spTree>
    <p:extLst>
      <p:ext uri="{BB962C8B-B14F-4D97-AF65-F5344CB8AC3E}">
        <p14:creationId xmlns:p14="http://schemas.microsoft.com/office/powerpoint/2010/main" val="81674746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5CA12C-8886-4F3F-A846-006773EBC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B5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D47329-21F1-48C7-8F51-387D77E59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0"/>
            <a:ext cx="2428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1041A9-EA7B-4D20-91DC-BD2F56D2B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2C3F00-88F0-4BA2-8864-47002724D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Module 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BD36EC-3DCF-437F-922D-3C2F4683F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277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rPr>
              <a:t>Scoped deployment controls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3E30D8-4EB1-446C-9F49-8C81C8046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46921fe8d348a3"/>
          <a:stretch xmlns:a="http://schemas.openxmlformats.org/drawingml/2006/main"/>
        </p:blipFill>
        <p:spPr>
          <a:xfrm xmlns:a="http://schemas.openxmlformats.org/drawingml/2006/main">
            <a:off x="609600" y="1621696"/>
            <a:ext cx="10972800" cy="3947984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F9E7FC-93D9-4F13-BFF7-E81351114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29300"/>
            <a:ext cx="7620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CE6B97-47F5-4EBD-BFB7-B4A1F3FC9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43575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Target limits, concurrency controls, change windows, and progressive batches reduce the effect of a failed change.</a:t>
            </a:r>
          </a:p>
        </p:txBody>
      </p:sp>
    </p:spTree>
    <p:extLst>
      <p:ext uri="{BB962C8B-B14F-4D97-AF65-F5344CB8AC3E}">
        <p14:creationId xmlns:p14="http://schemas.microsoft.com/office/powerpoint/2010/main" val="104418979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BF989EB-2920-43B1-A891-AA4C8D363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B5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A23B86-88DC-4FC9-96EF-A97B72C6A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0"/>
            <a:ext cx="2428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FBC23C-3C3C-4F44-BDF4-517E9342D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755B83-C96A-4A78-B8FF-D99A85760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Module 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B25B12-BC35-4C78-89CB-4BF433DB4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277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rPr>
              <a:t>Pre-check and post-check design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421AB1-F9D7-43B2-B9AA-BBBB37EB8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DD17EA-09AE-4C32-9AF0-711AFF400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14500"/>
            <a:ext cx="19050" cy="423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E96C90-E50F-49BE-81E4-249E95C29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A6F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A6FAF"/>
                </a:solidFill>
                <a:latin typeface="Helvetica Neue"/>
                <a:ea typeface="Helvetica Neue"/>
                <a:cs typeface="Helvetica Neue"/>
              </a:rPr>
              <a:t>Before change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5EA2CF-09E2-448D-80EF-AA0042B3E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67640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A6F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A6FAF"/>
                </a:solidFill>
                <a:latin typeface="Helvetica Neue"/>
                <a:ea typeface="Helvetica Neue"/>
                <a:cs typeface="Helvetica Neue"/>
              </a:rPr>
              <a:t>After change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2724F9-EB97-4550-BE0A-32096469C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C580DB-C5B1-42FB-B8D2-1F1A109C3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73635C-0547-4FAB-A23E-72B026096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3050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Confirm target identity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66E661-016B-453E-BB40-66C1AE5BF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AA72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8D69BF-CD88-4817-B7E1-34FEFD3A8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FF82C5-62E3-420A-8754-906008D46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0480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Measure the service baseline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B2D38A-0A08-46FD-A5A6-8911017B6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862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3C7305-2AC8-4C86-9DBB-7E6AC1504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862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03838E-3DE6-472B-B4C8-44BDD1348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7909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Compare intended and current state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7BC4ED-330E-462C-B835-A0752678B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AA72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921D65B-34DA-405A-8F67-843F93A29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18C1CD-D62B-4B2A-B7FC-AB10156E0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5339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Prepare a recovery path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496A9D9-6FE8-498B-BE4A-9D66D3162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4003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5BC9E2A-130A-4858-9405-0FAA03FB6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4003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6C86765-FD9E-4428-BEFF-3951E1890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3050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Confirm configuration state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18706D6-7D2F-4B0E-9385-BF31C79C1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1432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AA72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4550C74-FC7C-4D4E-ACC2-3DDBDFF78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1432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78471A0-3037-47FC-88B6-0CCDB6F47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0480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Wait for protocol convergence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33AE63E-0B14-4997-8C09-A2F38C69E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8862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9BBF29C-2C99-4E5F-A800-F756E5E0E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8862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C183CE5-5110-46CF-870A-04FBC4ED8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7909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Test service behavior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387AA6C-09D5-45BC-82D3-659C862A4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6291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AA72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F18D488-A50F-4635-A8B6-1FD4DDF88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6291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EE54A97-A5A5-4691-9FC6-B93188590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5339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Compare with the baseline</a:t>
            </a:r>
          </a:p>
        </p:txBody>
      </p:sp>
    </p:spTree>
    <p:extLst>
      <p:ext uri="{BB962C8B-B14F-4D97-AF65-F5344CB8AC3E}">
        <p14:creationId xmlns:p14="http://schemas.microsoft.com/office/powerpoint/2010/main" val="131065971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37C3E4-5D50-424B-8C5E-2CEE77969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B5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5951E6-F2FF-46B4-945C-517EECAB3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0"/>
            <a:ext cx="2428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17FE33-AFB1-4CE6-BA35-99AD3AA66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C594FC-BE67-4B6C-8DCC-CCAA05C0B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Module 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1CF629-43BA-4178-B7AD-35B5A6659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277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rPr>
              <a:t>Deployment strategies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8020FE-EAD1-47AE-ACEC-2F5C4F70E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8c52de0ae74fd6"/>
          <a:stretch xmlns:a="http://schemas.openxmlformats.org/drawingml/2006/main"/>
        </p:blipFill>
        <p:spPr>
          <a:xfrm xmlns:a="http://schemas.openxmlformats.org/drawingml/2006/main">
            <a:off x="609600" y="1742174"/>
            <a:ext cx="10972800" cy="3707027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792F62-929B-4ED8-A536-B53AFEB52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29300"/>
            <a:ext cx="7620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AB184A-4D9E-431B-8BD5-123C931A3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43575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The right strategy depends on state, compatibility, traffic control, rollback cost, and the fidelity of health checks.</a:t>
            </a:r>
          </a:p>
        </p:txBody>
      </p:sp>
    </p:spTree>
    <p:extLst>
      <p:ext uri="{BB962C8B-B14F-4D97-AF65-F5344CB8AC3E}">
        <p14:creationId xmlns:p14="http://schemas.microsoft.com/office/powerpoint/2010/main" val="38062638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C78EAA-F2A5-4100-BE45-CAF3BF73D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B5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485B59-CA3C-476B-903B-6E8A68232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0"/>
            <a:ext cx="2428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0B2E28-C448-4472-B806-67565671B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9599DF-84ED-40BF-A532-A91F70C5E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Module 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5EFC08-B442-4329-AD00-8E7529DB0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277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rPr>
              <a:t>Rollback decision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DACC55-3668-4B19-987D-513B234B1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f5c5d64e7d4d3e"/>
          <a:stretch xmlns:a="http://schemas.openxmlformats.org/drawingml/2006/main"/>
        </p:blipFill>
        <p:spPr>
          <a:xfrm xmlns:a="http://schemas.openxmlformats.org/drawingml/2006/main">
            <a:off x="609600" y="1603160"/>
            <a:ext cx="10972800" cy="3985054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B07C2A-E6D9-4215-9D7C-D90BFBEE9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29300"/>
            <a:ext cx="7620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9AE231-612B-4064-A362-1E9305B9D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43575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Rollback is one recovery option. Forward remediation may be safer when state changed irreversibly or the previous version cannot interpret current data.</a:t>
            </a:r>
          </a:p>
        </p:txBody>
      </p:sp>
    </p:spTree>
    <p:extLst>
      <p:ext uri="{BB962C8B-B14F-4D97-AF65-F5344CB8AC3E}">
        <p14:creationId xmlns:p14="http://schemas.microsoft.com/office/powerpoint/2010/main" val="33423682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A0320AB-402F-40C8-BEFA-F4B8172E5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B5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CE9077-6234-468A-AA53-C0324C52B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0"/>
            <a:ext cx="2428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3B6DBA-FC2E-41C1-B703-102C8F46F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6A5F83-ADF7-401A-9368-C532FF33C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Module 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08FBFD-36B6-4B04-BF37-897E62B32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277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rPr>
              <a:t>GitLab pipeline design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20F3C9-235A-4D9B-A1BE-B7C99B114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1D4866-BB84-4B4F-9178-6C4D993A3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14500"/>
            <a:ext cx="19050" cy="423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38E061-7861-4C7C-8181-F35F0B14E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A6F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A6FAF"/>
                </a:solidFill>
                <a:latin typeface="Helvetica Neue"/>
                <a:ea typeface="Helvetica Neue"/>
                <a:cs typeface="Helvetica Neue"/>
              </a:rPr>
              <a:t>Job contract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5D2A8C-4497-44FC-A29E-279C82BD1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67640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A6F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A6FAF"/>
                </a:solidFill>
                <a:latin typeface="Helvetica Neue"/>
                <a:ea typeface="Helvetica Neue"/>
                <a:cs typeface="Helvetica Neue"/>
              </a:rPr>
              <a:t>Promotion contract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FFC843-5DBD-454D-A1B8-49A2B5C36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8872A8-DFB9-44B2-915D-9872F91D0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C26A4E-D921-44B8-A026-296D63164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3050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Declared image and dependencies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1127FC-4906-4235-AF26-595F7BB97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AA72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5E3326-EBEC-4E6C-BC75-AD78D963C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BBB2F5-0400-4A5F-8BA3-C80CDE983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0480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Specific inputs and outputs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8A382F-CCEB-40CF-872A-E9A5EFC30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862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04060E-E383-4745-B505-5482592CB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862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C879B4-DBB0-47B9-85CE-6F2ADFF44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7909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Clear pass or fail condition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68DA8D-5B13-4A48-9A12-54C361851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AA72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D83DEB-6090-4371-A1C5-FAC8DE6ED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20F5B5F-25A2-431E-A6F9-FF96D961D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5339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Evidence retained for review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22FCD4A-04BE-473D-9024-721311127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4003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8F4EB70-E1B8-4588-9866-72F7C20E6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4003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326D63D-7D44-45BF-9D3F-F6877BB3E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3050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Protected environment and identity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BF8ED5D-0741-4C6E-BD82-5917C5DC2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1432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AA72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08661AD-4A00-4FBE-B326-60F063BC6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1432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B303EEF-B69D-4FD4-A24C-DB65A95E4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0480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Approval where risk requires it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EF28577-88C1-4A3D-8E2A-AC9E13EE9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8862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908E4EF-FF9D-4A8F-A8DD-FC282F765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8862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46F352A-518F-40AC-B1CF-7F6C2CD9C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7909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Same artifact across environments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3B1905A-B013-4CE1-8862-F22BCE68B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6291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AA72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864E8C9-BB05-41EA-9927-7744A7A30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6291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A7E4AF9-F983-4CF1-9110-087D6D103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5339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Post-deployment verification</a:t>
            </a:r>
          </a:p>
        </p:txBody>
      </p:sp>
    </p:spTree>
    <p:extLst>
      <p:ext uri="{BB962C8B-B14F-4D97-AF65-F5344CB8AC3E}">
        <p14:creationId xmlns:p14="http://schemas.microsoft.com/office/powerpoint/2010/main" val="77003144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843F8B2-8DE2-4953-8549-E1C229383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B5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05E3EF-23BE-4F71-884C-C110D8ED2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0"/>
            <a:ext cx="2428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99276F-C95D-43B7-BF22-6A01424C8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CC9F43-4D65-419F-B6CE-D9A84186F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Module 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590F6E-AB5E-4C2D-87E5-56973A066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277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rPr>
              <a:t>Pipeline failure categories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FBE107-EF91-46B0-B989-FE56947A1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F44DEA-68D4-41EE-90E5-DCF78F45B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14500"/>
            <a:ext cx="19050" cy="423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09E96E-240C-4B7E-ADAF-2E351DBCE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A6F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A6FAF"/>
                </a:solidFill>
                <a:latin typeface="Helvetica Neue"/>
                <a:ea typeface="Helvetica Neue"/>
                <a:cs typeface="Helvetica Neue"/>
              </a:rPr>
              <a:t>Candidate failures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D83C21-30B9-4357-8884-952720692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67640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A6FA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A6FAF"/>
                </a:solidFill>
                <a:latin typeface="Helvetica Neue"/>
                <a:ea typeface="Helvetica Neue"/>
                <a:cs typeface="Helvetica Neue"/>
              </a:rPr>
              <a:t>Environment failures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62752B-5CC9-4E1B-B766-2FEC08A04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F27817-017E-424C-93E2-92F9096F5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89A9D0-0FE6-4AC6-8324-AD09320A3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3050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Syntax or schema error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312D61-458C-478D-A647-3C46B4D22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AA72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A05994-EAD9-4818-BC43-D3C3B1199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4678BA-8CF0-4E46-8FFE-6CF9BCC9F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0480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Failed unit or integration test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16607F-816B-4AA5-90A9-609794101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862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34D597-79F9-40E9-B14A-F8CB51BF0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862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B56CBD-AA30-4BB6-926C-B55D1F858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7909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Vulnerable dependency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6FC65C-1F0E-465B-BFE6-9DB8156B6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AA72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F269FF-A385-41DC-A55E-6F774ECB5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2CADCE-1240-4B65-82FF-4C7C350E4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5339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Unqualified artifact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CD13620-A024-4482-97FA-C82AC5E8E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4003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8186E5-ECB2-450C-8263-39FBC637D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4003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A53F5E5-ACAA-463E-B0F5-7F52D12F9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3050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Runner or platform unavailable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2612800-AAB8-496A-A70B-A04A5982D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1432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AA72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E2927EE-6F6D-4680-A683-11F6E6EBC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1432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B67A090-1EFB-4841-8392-281FC9139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0480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Target baseline unhealthy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97F9E02-D8CC-4BF4-B9CE-309E76F85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8862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0D4ABE7-151F-4D55-A6E1-9B42A2EE5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8862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941E1B4-FC70-481E-AA35-0EE142B4B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7909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Deployment outcome unknown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C1B6FE2-D1F0-4465-B80A-EA678F76B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6291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AA72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34EDB61-3D1F-49D6-9E10-33FE5E7DD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6291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078E79F-8BFB-4407-A70F-E310E4F5F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5339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Cleanup incomplete</a:t>
            </a:r>
          </a:p>
        </p:txBody>
      </p:sp>
    </p:spTree>
    <p:extLst>
      <p:ext uri="{BB962C8B-B14F-4D97-AF65-F5344CB8AC3E}">
        <p14:creationId xmlns:p14="http://schemas.microsoft.com/office/powerpoint/2010/main" val="80945462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4509BA-454F-45F1-86E8-B651F66AC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B5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D0F86A-5D82-4548-BD44-8E335697F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0"/>
            <a:ext cx="2428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AA8C2D-6BEA-434B-A6CA-BCF070624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8E864D-47F9-49B9-995A-B00941D85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Module 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5AF275-3157-4229-8233-A70EC56F6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277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rPr>
              <a:t>Key takeaways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61E8A2-FFC6-4D76-8971-552BFBBCD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2B1665-E584-4C1D-A2B4-60905479F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F75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F758B"/>
                </a:solidFill>
                <a:latin typeface="Helvetica Neue"/>
                <a:ea typeface="Helvetica Neue"/>
                <a:cs typeface="Helvetica Neue"/>
              </a:rPr>
              <a:t>A useful pipeline automates decisions only when its tests and evidence support those decisions.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60A725-7F8C-429B-BFB2-CE281BD28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43175"/>
            <a:ext cx="66675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9AB811-42CE-4F82-8284-ACBE67436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76500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Give each pipeline one operational purpose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0EC9E4-32DF-4FDC-A3F9-F054C5910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52775"/>
            <a:ext cx="66675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1A8D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B0F275-8553-4F63-8DE2-8CD2D6E15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86100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Protect runners according to their reach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3D7D5D-1627-49BA-B8D3-6712BC84A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62375"/>
            <a:ext cx="66675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16C288-13D0-4032-809B-E5F7E1D46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95700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Promote one identified artifact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DF40B6-5DAA-4C66-8CC8-0A3B88533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71975"/>
            <a:ext cx="66675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1A8D8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27B231-11B6-4B66-A6CD-B75ADC76D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Treat deployment verification and cleanup as required stages</a:t>
            </a:r>
          </a:p>
        </p:txBody>
      </p:sp>
    </p:spTree>
    <p:extLst>
      <p:ext uri="{BB962C8B-B14F-4D97-AF65-F5344CB8AC3E}">
        <p14:creationId xmlns:p14="http://schemas.microsoft.com/office/powerpoint/2010/main" val="103720019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BC7213-8AB9-4451-866B-E2E89439E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B5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B23D41-53D3-48A5-81EA-2AC14ECF1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0"/>
            <a:ext cx="2428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84EA70-3214-4A42-AF08-ADD2299AE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3B47B1-3368-4FF2-BAE5-CD68A7AA1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Module 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5EA645-9D8B-478B-A50D-2525A206B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277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082B59"/>
                </a:solidFill>
                <a:latin typeface="Helvetica Neue"/>
                <a:ea typeface="Helvetica Neue"/>
                <a:cs typeface="Helvetica Neue"/>
              </a:rPr>
              <a:t>Module 4 complete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7996B0-62E6-4CB1-B129-236F0B3A8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B08735-B717-4143-8BC6-ECA84E699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33500"/>
            <a:ext cx="12192000" cy="552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B59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9589E7-0785-4DBD-A951-C7861AAC3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1455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6FA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502880-EC72-44FF-B62F-871D288E5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8763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9F5180-1E43-4FD1-9809-E2EBB1C9E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000250"/>
            <a:ext cx="857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Module 4 complete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20D698-776D-4CEF-AB5E-1A9A05BAF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048000"/>
            <a:ext cx="838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CDE9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CDE9F7"/>
                </a:solidFill>
                <a:latin typeface="Helvetica Neue"/>
                <a:ea typeface="Helvetica Neue"/>
                <a:cs typeface="Helvetica Neue"/>
              </a:rPr>
              <a:t>Next: Security and Observability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8677DF-1DA3-4BE9-B91D-F9B2AE38E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905250"/>
            <a:ext cx="7239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CBD8DD-45E0-4DAB-94BC-7C4B54521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238625"/>
            <a:ext cx="781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Review the key concepts before continuing.</a:t>
            </a:r>
          </a:p>
        </p:txBody>
      </p:sp>
    </p:spTree>
    <p:extLst>
      <p:ext uri="{BB962C8B-B14F-4D97-AF65-F5344CB8AC3E}">
        <p14:creationId xmlns:p14="http://schemas.microsoft.com/office/powerpoint/2010/main" val="114187969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2026-09-13T08:27:00.0160000Z</dcterms:created>
  <dcterms:modified xsi:type="dcterms:W3CDTF">2026-09-13T08:27:00.0160000Z</dcterms:modified>
</coreProperties>
</file>