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50224a2e4c84b4d" /><Relationship Type="http://schemas.openxmlformats.org/officeDocument/2006/relationships/extended-properties" Target="/docProps/app.xml" Id="R89a6fb7003e84abd" /><Relationship Type="http://schemas.openxmlformats.org/officeDocument/2006/relationships/officeDocument" Target="/ppt/presentation.xml" Id="R47d6973a0c854ab2" /></Relationships>
</file>

<file path=ppt/presentation.xml><?xml version="1.0" encoding="utf-8"?>
<p:presentation xmlns:p="http://schemas.openxmlformats.org/presentationml/2006/main">
  <p:sldMasterIdLst>
    <p:sldMasterId xmlns:r="http://schemas.openxmlformats.org/officeDocument/2006/relationships" id="2147483648" r:id="R78ceca87529d46e6"/>
  </p:sldMasterIdLst>
  <p:notesMasterIdLst>
    <p:notesMasterId xmlns:r="http://schemas.openxmlformats.org/officeDocument/2006/relationships" r:id="R1990bd0a90454d28"/>
  </p:notesMasterIdLst>
  <p:sldIdLst>
    <p:sldId xmlns:r="http://schemas.openxmlformats.org/officeDocument/2006/relationships" id="256" r:id="R08e0ba8f146b4f1e"/>
    <p:sldId xmlns:r="http://schemas.openxmlformats.org/officeDocument/2006/relationships" id="257" r:id="R30e94d767ed44d64"/>
    <p:sldId xmlns:r="http://schemas.openxmlformats.org/officeDocument/2006/relationships" id="258" r:id="R9b35ad27285844b8"/>
    <p:sldId xmlns:r="http://schemas.openxmlformats.org/officeDocument/2006/relationships" id="259" r:id="R6d344d7c408c4dbc"/>
    <p:sldId xmlns:r="http://schemas.openxmlformats.org/officeDocument/2006/relationships" id="260" r:id="Rbdd9ed71d4134dc0"/>
    <p:sldId xmlns:r="http://schemas.openxmlformats.org/officeDocument/2006/relationships" id="261" r:id="R56ec23552fc04c8c"/>
    <p:sldId xmlns:r="http://schemas.openxmlformats.org/officeDocument/2006/relationships" id="262" r:id="R66ea17ff978b4c9a"/>
    <p:sldId xmlns:r="http://schemas.openxmlformats.org/officeDocument/2006/relationships" id="263" r:id="R4d43264ddf344ecb"/>
    <p:sldId xmlns:r="http://schemas.openxmlformats.org/officeDocument/2006/relationships" id="264" r:id="R17c25a9e31ef4c0c"/>
    <p:sldId xmlns:r="http://schemas.openxmlformats.org/officeDocument/2006/relationships" id="265" r:id="R65dbc9f795344bc3"/>
    <p:sldId xmlns:r="http://schemas.openxmlformats.org/officeDocument/2006/relationships" id="266" r:id="R8d7cc51e7b394c9f"/>
    <p:sldId xmlns:r="http://schemas.openxmlformats.org/officeDocument/2006/relationships" id="267" r:id="R45398e6384174d26"/>
    <p:sldId xmlns:r="http://schemas.openxmlformats.org/officeDocument/2006/relationships" id="268" r:id="R1766d8ec8f2e494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96a5cefaf84c12" /><Relationship Type="http://schemas.openxmlformats.org/officeDocument/2006/relationships/slideMaster" Target="/ppt/slideMasters/slideMaster1.xml" Id="R78ceca87529d46e6" /><Relationship Type="http://schemas.openxmlformats.org/officeDocument/2006/relationships/notesMaster" Target="/ppt/notesMasters/notesMaster1.xml" Id="R1990bd0a90454d28" /><Relationship Type="http://schemas.openxmlformats.org/officeDocument/2006/relationships/presProps" Target="/ppt/presProps.xml" Id="R132e8e29b8bc4a3e" /><Relationship Type="http://schemas.openxmlformats.org/officeDocument/2006/relationships/tableStyles" Target="/ppt/tableStyles.xml" Id="R9711fcb3ee07417c" /><Relationship Type="http://schemas.openxmlformats.org/officeDocument/2006/relationships/slide" Target="/ppt/slides/slide1.xml" Id="R08e0ba8f146b4f1e" /><Relationship Type="http://schemas.openxmlformats.org/officeDocument/2006/relationships/slide" Target="/ppt/slides/slide2.xml" Id="R30e94d767ed44d64" /><Relationship Type="http://schemas.openxmlformats.org/officeDocument/2006/relationships/slide" Target="/ppt/slides/slide3.xml" Id="R9b35ad27285844b8" /><Relationship Type="http://schemas.openxmlformats.org/officeDocument/2006/relationships/slide" Target="/ppt/slides/slide4.xml" Id="R6d344d7c408c4dbc" /><Relationship Type="http://schemas.openxmlformats.org/officeDocument/2006/relationships/slide" Target="/ppt/slides/slide5.xml" Id="Rbdd9ed71d4134dc0" /><Relationship Type="http://schemas.openxmlformats.org/officeDocument/2006/relationships/slide" Target="/ppt/slides/slide6.xml" Id="R56ec23552fc04c8c" /><Relationship Type="http://schemas.openxmlformats.org/officeDocument/2006/relationships/slide" Target="/ppt/slides/slide7.xml" Id="R66ea17ff978b4c9a" /><Relationship Type="http://schemas.openxmlformats.org/officeDocument/2006/relationships/slide" Target="/ppt/slides/slide8.xml" Id="R4d43264ddf344ecb" /><Relationship Type="http://schemas.openxmlformats.org/officeDocument/2006/relationships/slide" Target="/ppt/slides/slide9.xml" Id="R17c25a9e31ef4c0c" /><Relationship Type="http://schemas.openxmlformats.org/officeDocument/2006/relationships/slide" Target="/ppt/slides/slide10.xml" Id="R65dbc9f795344bc3" /><Relationship Type="http://schemas.openxmlformats.org/officeDocument/2006/relationships/slide" Target="/ppt/slides/slide11.xml" Id="R8d7cc51e7b394c9f" /><Relationship Type="http://schemas.openxmlformats.org/officeDocument/2006/relationships/slide" Target="/ppt/slides/slide12.xml" Id="R45398e6384174d26" /><Relationship Type="http://schemas.openxmlformats.org/officeDocument/2006/relationships/slide" Target="/ppt/slides/slide13.xml" Id="R1766d8ec8f2e49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2ad833acb14d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8c3356acaf54fa6" /><Relationship Type="http://schemas.openxmlformats.org/officeDocument/2006/relationships/notesMaster" Target="/ppt/notesMasters/notesMaster1.xml" Id="R9ed409e8929e4b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c05eb445b24d76" /><Relationship Type="http://schemas.openxmlformats.org/officeDocument/2006/relationships/notesMaster" Target="/ppt/notesMasters/notesMaster1.xml" Id="Rcb4f937eb8d74b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39e02c34f54fa5" /><Relationship Type="http://schemas.openxmlformats.org/officeDocument/2006/relationships/notesMaster" Target="/ppt/notesMasters/notesMaster1.xml" Id="R924a3b34b69041a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54cc97a629421d" /><Relationship Type="http://schemas.openxmlformats.org/officeDocument/2006/relationships/notesMaster" Target="/ppt/notesMasters/notesMaster1.xml" Id="R6b3ea64d845749c8"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653a0564ab4df2" /><Relationship Type="http://schemas.openxmlformats.org/officeDocument/2006/relationships/notesMaster" Target="/ppt/notesMasters/notesMaster1.xml" Id="R3225e9e36efc47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5e4c82f1ce446c" /><Relationship Type="http://schemas.openxmlformats.org/officeDocument/2006/relationships/notesMaster" Target="/ppt/notesMasters/notesMaster1.xml" Id="Rd9231d956a444c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383f356416d4a54" /><Relationship Type="http://schemas.openxmlformats.org/officeDocument/2006/relationships/notesMaster" Target="/ppt/notesMasters/notesMaster1.xml" Id="R4a8fa9d7b93f4e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7d860961dee4e1b" /><Relationship Type="http://schemas.openxmlformats.org/officeDocument/2006/relationships/notesMaster" Target="/ppt/notesMasters/notesMaster1.xml" Id="R9f05ace62244458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6981a50f15341c8" /><Relationship Type="http://schemas.openxmlformats.org/officeDocument/2006/relationships/notesMaster" Target="/ppt/notesMasters/notesMaster1.xml" Id="R0860f01f26b5437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7349e902e9f4b62" /><Relationship Type="http://schemas.openxmlformats.org/officeDocument/2006/relationships/notesMaster" Target="/ppt/notesMasters/notesMaster1.xml" Id="R3c2ae34eb887458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e73608ad6fc4f8c" /><Relationship Type="http://schemas.openxmlformats.org/officeDocument/2006/relationships/notesMaster" Target="/ppt/notesMasters/notesMaster1.xml" Id="Rf3dea1f7d31c46b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35418be297c47e8" /><Relationship Type="http://schemas.openxmlformats.org/officeDocument/2006/relationships/notesMaster" Target="/ppt/notesMasters/notesMaster1.xml" Id="R2056771c35c44a3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54820f94f804cf3" /><Relationship Type="http://schemas.openxmlformats.org/officeDocument/2006/relationships/notesMaster" Target="/ppt/notesMasters/notesMaster1.xml" Id="R121b782a695940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Open Course introduction and establish the subject of the deck.</a:t>
            </a:r>
          </a:p>
          <a:p xmlns:a="http://schemas.openxmlformats.org/drawingml/2006/main">
            <a:r>
              <a:t/>
            </a:r>
          </a:p>
          <a:p xmlns:a="http://schemas.openxmlformats.org/drawingml/2006/main">
            <a:r>
              <a:t>Explain: Implementing DevOps Solutions and Practices using Cisco Platforms. DevOps v1.0.</a:t>
            </a:r>
          </a:p>
          <a:p xmlns:a="http://schemas.openxmlformats.org/drawingml/2006/main">
            <a:r>
              <a:t/>
            </a:r>
          </a:p>
          <a:p xmlns:a="http://schemas.openxmlformats.org/drawingml/2006/main">
            <a:r>
              <a:t>Presenter cue: Briefly connect this module to the previous part of the course before discussing details.</a:t>
            </a:r>
          </a:p>
          <a:p xmlns:a="http://schemas.openxmlformats.org/drawingml/2006/main">
            <a:r>
              <a:t/>
            </a:r>
          </a:p>
          <a:p xmlns:a="http://schemas.openxmlformats.org/drawingml/2006/main">
            <a:r>
              <a:t>Transition: Move to the module introduction and learning focus.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Establish the scope of Course introduction.</a:t>
            </a:r>
          </a:p>
          <a:p xmlns:a="http://schemas.openxmlformats.org/drawingml/2006/main">
            <a:r>
              <a:t/>
            </a:r>
          </a:p>
          <a:p xmlns:a="http://schemas.openxmlformats.org/drawingml/2006/main">
            <a:r>
              <a:t>Explain: A five-day course for engineers who want to deliver automation applications through disciplined software practices.</a:t>
            </a:r>
          </a:p>
          <a:p xmlns:a="http://schemas.openxmlformats.org/drawingml/2006/main">
            <a:r>
              <a:t/>
            </a:r>
          </a:p>
          <a:p xmlns:a="http://schemas.openxmlformats.org/drawingml/2006/main">
            <a:r>
              <a:t>Discuss: 40 hours combining explanation, demonstration, and guided practice Knowledge equivalent to DEVASC and DEVCOR One application evolves as the delivery platform becomes more capable</a:t>
            </a:r>
          </a:p>
          <a:p xmlns:a="http://schemas.openxmlformats.org/drawingml/2006/main">
            <a:r>
              <a:t/>
            </a:r>
          </a:p>
          <a:p xmlns:a="http://schemas.openxmlformats.org/drawingml/2006/main">
            <a:r>
              <a:t>Audience question: Which point is most familiar, and which point needs the most attention?</a:t>
            </a:r>
          </a:p>
          <a:p xmlns:a="http://schemas.openxmlformats.org/drawingml/2006/main">
            <a:r>
              <a:t/>
            </a:r>
          </a:p>
          <a:p xmlns:a="http://schemas.openxmlformats.org/drawingml/2006/main">
            <a:r>
              <a:t>Transition: Introduce the first model or engineering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course journey through the diagram.</a:t>
            </a:r>
          </a:p>
          <a:p xmlns:a="http://schemas.openxmlformats.org/drawingml/2006/main">
            <a:r>
              <a:t/>
            </a:r>
          </a:p>
          <a:p xmlns:a="http://schemas.openxmlformats.org/drawingml/2006/main">
            <a:r>
              <a:t>Reading order: Start with the main boundary or input, follow the connections, then identify the output or feedback path.</a:t>
            </a:r>
          </a:p>
          <a:p xmlns:a="http://schemas.openxmlformats.org/drawingml/2006/main">
            <a:r>
              <a:t/>
            </a:r>
          </a:p>
          <a:p xmlns:a="http://schemas.openxmlformats.org/drawingml/2006/main">
            <a:r>
              <a:t>Key explanation: The course follows the engineering decisions required to move an automation application into dependable operation.</a:t>
            </a:r>
          </a:p>
          <a:p xmlns:a="http://schemas.openxmlformats.org/drawingml/2006/main">
            <a:r>
              <a:t/>
            </a:r>
          </a:p>
          <a:p xmlns:a="http://schemas.openxmlformats.org/drawingml/2006/main">
            <a:r>
              <a:t>Audience question: Where would a failure become visible, and which component should own the response?</a:t>
            </a:r>
          </a:p>
          <a:p xmlns:a="http://schemas.openxmlformats.org/drawingml/2006/main">
            <a:r>
              <a:t/>
            </a:r>
          </a:p>
          <a:p xmlns:a="http://schemas.openxmlformats.org/drawingml/2006/main">
            <a:r>
              <a:t>Transition: Connect the diagram to the next engineering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Compare the two sides of five-day learning sequence.</a:t>
            </a:r>
          </a:p>
          <a:p xmlns:a="http://schemas.openxmlformats.org/drawingml/2006/main">
            <a:r>
              <a:t/>
            </a:r>
          </a:p>
          <a:p xmlns:a="http://schemas.openxmlformats.org/drawingml/2006/main">
            <a:r>
              <a:t>Left side, Days 1 and 2: Automation knowledge review DevOps model and CALMS Delivery lifecycle and evidence Infrastructure ownership boundaries</a:t>
            </a:r>
          </a:p>
          <a:p xmlns:a="http://schemas.openxmlformats.org/drawingml/2006/main">
            <a:r>
              <a:t/>
            </a:r>
          </a:p>
          <a:p xmlns:a="http://schemas.openxmlformats.org/drawingml/2006/main">
            <a:r>
              <a:t>Right side, Days 3 to 5: Docker, Compose, and Kubernetes GitLab pipeline design Deployment validation and recovery Security and operational feedback</a:t>
            </a:r>
          </a:p>
          <a:p xmlns:a="http://schemas.openxmlformats.org/drawingml/2006/main">
            <a:r>
              <a:t/>
            </a:r>
          </a:p>
          <a:p xmlns:a="http://schemas.openxmlformats.org/drawingml/2006/main">
            <a:r>
              <a:t>Presenter cue: Explain the relationship between the columns rather than reading each line verbatim.</a:t>
            </a:r>
          </a:p>
          <a:p xmlns:a="http://schemas.openxmlformats.org/drawingml/2006/main">
            <a:r>
              <a:t/>
            </a:r>
          </a:p>
          <a:p xmlns:a="http://schemas.openxmlformats.org/drawingml/2006/main">
            <a:r>
              <a:t>Audience question: Which responsibility is unclear or shared in your current environment?</a:t>
            </a:r>
          </a:p>
          <a:p xmlns:a="http://schemas.openxmlformats.org/drawingml/2006/main">
            <a:r>
              <a:t/>
            </a:r>
          </a:p>
          <a:p xmlns:a="http://schemas.openxmlformats.org/drawingml/2006/main">
            <a:r>
              <a:t>Transition: Use the comparison to frame the next topic.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Compare the two sides of starting knowledge.</a:t>
            </a:r>
          </a:p>
          <a:p xmlns:a="http://schemas.openxmlformats.org/drawingml/2006/main">
            <a:r>
              <a:t/>
            </a:r>
          </a:p>
          <a:p xmlns:a="http://schemas.openxmlformats.org/drawingml/2006/main">
            <a:r>
              <a:t>Left side, Expected foundation: Python scripting and virtual environments REST APIs and structured data Ansible and network automation workflows Git fundamentals and Linux command line</a:t>
            </a:r>
          </a:p>
          <a:p xmlns:a="http://schemas.openxmlformats.org/drawingml/2006/main">
            <a:r>
              <a:t/>
            </a:r>
          </a:p>
          <a:p xmlns:a="http://schemas.openxmlformats.org/drawingml/2006/main">
            <a:r>
              <a:t>Right side, Course emphasis: Team delivery practices Repeatable infrastructure and runtime environments Controlled build, test, release, and deployment Security evidence and operational feedback</a:t>
            </a:r>
          </a:p>
          <a:p xmlns:a="http://schemas.openxmlformats.org/drawingml/2006/main">
            <a:r>
              <a:t/>
            </a:r>
          </a:p>
          <a:p xmlns:a="http://schemas.openxmlformats.org/drawingml/2006/main">
            <a:r>
              <a:t>Presenter cue: Explain the relationship between the columns rather than reading each line verbatim.</a:t>
            </a:r>
          </a:p>
          <a:p xmlns:a="http://schemas.openxmlformats.org/drawingml/2006/main">
            <a:r>
              <a:t/>
            </a:r>
          </a:p>
          <a:p xmlns:a="http://schemas.openxmlformats.org/drawingml/2006/main">
            <a:r>
              <a:t>Audience question: Which responsibility is unclear or shared in your current environment?</a:t>
            </a:r>
          </a:p>
          <a:p xmlns:a="http://schemas.openxmlformats.org/drawingml/2006/main">
            <a:r>
              <a:t/>
            </a:r>
          </a:p>
          <a:p xmlns:a="http://schemas.openxmlformats.org/drawingml/2006/main">
            <a:r>
              <a:t>Transition: Use the comparison to frame the next topic.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Compare the two sides of learning expectations.</a:t>
            </a:r>
          </a:p>
          <a:p xmlns:a="http://schemas.openxmlformats.org/drawingml/2006/main">
            <a:r>
              <a:t/>
            </a:r>
          </a:p>
          <a:p xmlns:a="http://schemas.openxmlformats.org/drawingml/2006/main">
            <a:r>
              <a:t>Left side, During class: Participate in technical discussions Use the assigned learner identity and resource range Keep evidence from tests and deployments Ask questions when observed behavior differs from intent</a:t>
            </a:r>
          </a:p>
          <a:p xmlns:a="http://schemas.openxmlformats.org/drawingml/2006/main">
            <a:r>
              <a:t/>
            </a:r>
          </a:p>
          <a:p xmlns:a="http://schemas.openxmlformats.org/drawingml/2006/main">
            <a:r>
              <a:t>Right side, Working approach: Read the task before changing the environment Validate each boundary before continuing Record assumptions and results Restore shared resources after use</a:t>
            </a:r>
          </a:p>
          <a:p xmlns:a="http://schemas.openxmlformats.org/drawingml/2006/main">
            <a:r>
              <a:t/>
            </a:r>
          </a:p>
          <a:p xmlns:a="http://schemas.openxmlformats.org/drawingml/2006/main">
            <a:r>
              <a:t>Presenter cue: Explain the relationship between the columns rather than reading each line verbatim.</a:t>
            </a:r>
          </a:p>
          <a:p xmlns:a="http://schemas.openxmlformats.org/drawingml/2006/main">
            <a:r>
              <a:t/>
            </a:r>
          </a:p>
          <a:p xmlns:a="http://schemas.openxmlformats.org/drawingml/2006/main">
            <a:r>
              <a:t>Audience question: Which responsibility is unclear or shared in your current environment?</a:t>
            </a:r>
          </a:p>
          <a:p xmlns:a="http://schemas.openxmlformats.org/drawingml/2006/main">
            <a:r>
              <a:t/>
            </a:r>
          </a:p>
          <a:p xmlns:a="http://schemas.openxmlformats.org/drawingml/2006/main">
            <a:r>
              <a:t>Transition: Use the comparison to frame the next topic.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Establish the scope of Knowledge gained.</a:t>
            </a:r>
          </a:p>
          <a:p xmlns:a="http://schemas.openxmlformats.org/drawingml/2006/main">
            <a:r>
              <a:t/>
            </a:r>
          </a:p>
          <a:p xmlns:a="http://schemas.openxmlformats.org/drawingml/2006/main">
            <a:r>
              <a:t>Explain: By the end of the course, learners can explain and apply the complete delivery path for a containerized automation service.</a:t>
            </a:r>
          </a:p>
          <a:p xmlns:a="http://schemas.openxmlformats.org/drawingml/2006/main">
            <a:r>
              <a:t/>
            </a:r>
          </a:p>
          <a:p xmlns:a="http://schemas.openxmlformats.org/drawingml/2006/main">
            <a:r>
              <a:t>Discuss: Select ownership boundaries for Terraform, Ansible, Docker, and Kubernetes Design GitLab pipelines with meaningful validation and promotion gates Protect credentials and runner trust boundaries Use logs, metrics, dashboards, and alerts to evaluate service behavior</a:t>
            </a:r>
          </a:p>
          <a:p xmlns:a="http://schemas.openxmlformats.org/drawingml/2006/main">
            <a:r>
              <a:t/>
            </a:r>
          </a:p>
          <a:p xmlns:a="http://schemas.openxmlformats.org/drawingml/2006/main">
            <a:r>
              <a:t>Audience question: Which point is most familiar, and which point needs the most attention?</a:t>
            </a:r>
          </a:p>
          <a:p xmlns:a="http://schemas.openxmlformats.org/drawingml/2006/main">
            <a:r>
              <a:t/>
            </a:r>
          </a:p>
          <a:p xmlns:a="http://schemas.openxmlformats.org/drawingml/2006/main">
            <a:r>
              <a:t>Transition: Introduce the first model or engineering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Compare the two sides of course application.</a:t>
            </a:r>
          </a:p>
          <a:p xmlns:a="http://schemas.openxmlformats.org/drawingml/2006/main">
            <a:r>
              <a:t/>
            </a:r>
          </a:p>
          <a:p xmlns:a="http://schemas.openxmlformats.org/drawingml/2006/main">
            <a:r>
              <a:t>Left side, Application capabilities: Collect operational data through APIs Present service information through a web interface Persist application data Run consistently across environments</a:t>
            </a:r>
          </a:p>
          <a:p xmlns:a="http://schemas.openxmlformats.org/drawingml/2006/main">
            <a:r>
              <a:t/>
            </a:r>
          </a:p>
          <a:p xmlns:a="http://schemas.openxmlformats.org/drawingml/2006/main">
            <a:r>
              <a:t>Right side, Delivery capabilities: Provision an isolated test environment Package and scan release artifacts Promote through protected pipelines Correlate deployment and runtime evidence</a:t>
            </a:r>
          </a:p>
          <a:p xmlns:a="http://schemas.openxmlformats.org/drawingml/2006/main">
            <a:r>
              <a:t/>
            </a:r>
          </a:p>
          <a:p xmlns:a="http://schemas.openxmlformats.org/drawingml/2006/main">
            <a:r>
              <a:t>Presenter cue: Explain the relationship between the columns rather than reading each line verbatim.</a:t>
            </a:r>
          </a:p>
          <a:p xmlns:a="http://schemas.openxmlformats.org/drawingml/2006/main">
            <a:r>
              <a:t/>
            </a:r>
          </a:p>
          <a:p xmlns:a="http://schemas.openxmlformats.org/drawingml/2006/main">
            <a:r>
              <a:t>Audience question: Which responsibility is unclear or shared in your current environment?</a:t>
            </a:r>
          </a:p>
          <a:p xmlns:a="http://schemas.openxmlformats.org/drawingml/2006/main">
            <a:r>
              <a:t/>
            </a:r>
          </a:p>
          <a:p xmlns:a="http://schemas.openxmlformats.org/drawingml/2006/main">
            <a:r>
              <a:t>Transition: Use the comparison to frame the next topic.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Compare the two sides of instructor introduction.</a:t>
            </a:r>
          </a:p>
          <a:p xmlns:a="http://schemas.openxmlformats.org/drawingml/2006/main">
            <a:r>
              <a:t/>
            </a:r>
          </a:p>
          <a:p xmlns:a="http://schemas.openxmlformats.org/drawingml/2006/main">
            <a:r>
              <a:t>Left side, Professional background: Current role and technical focus Relevant automation and delivery experience Platforms and tools used in production What you want learners to take from the course</a:t>
            </a:r>
          </a:p>
          <a:p xmlns:a="http://schemas.openxmlformats.org/drawingml/2006/main">
            <a:r>
              <a:t/>
            </a:r>
          </a:p>
          <a:p xmlns:a="http://schemas.openxmlformats.org/drawingml/2006/main">
            <a:r>
              <a:t>Right side, Teaching approach: Explain the engineering decision first Demonstrate the observable result Connect failures to design choices Leave time for questions and comparison</a:t>
            </a:r>
          </a:p>
          <a:p xmlns:a="http://schemas.openxmlformats.org/drawingml/2006/main">
            <a:r>
              <a:t/>
            </a:r>
          </a:p>
          <a:p xmlns:a="http://schemas.openxmlformats.org/drawingml/2006/main">
            <a:r>
              <a:t>Presenter cue: Explain the relationship between the columns rather than reading each line verbatim.</a:t>
            </a:r>
          </a:p>
          <a:p xmlns:a="http://schemas.openxmlformats.org/drawingml/2006/main">
            <a:r>
              <a:t/>
            </a:r>
          </a:p>
          <a:p xmlns:a="http://schemas.openxmlformats.org/drawingml/2006/main">
            <a:r>
              <a:t>Audience question: Which responsibility is unclear or shared in your current environment?</a:t>
            </a:r>
          </a:p>
          <a:p xmlns:a="http://schemas.openxmlformats.org/drawingml/2006/main">
            <a:r>
              <a:t/>
            </a:r>
          </a:p>
          <a:p xmlns:a="http://schemas.openxmlformats.org/drawingml/2006/main">
            <a:r>
              <a:t>Transition: Use the comparison to frame the next topic.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Compare the two sides of learner introductions.</a:t>
            </a:r>
          </a:p>
          <a:p xmlns:a="http://schemas.openxmlformats.org/drawingml/2006/main">
            <a:r>
              <a:t/>
            </a:r>
          </a:p>
          <a:p xmlns:a="http://schemas.openxmlformats.org/drawingml/2006/main">
            <a:r>
              <a:t>Left side, Please share: Name and current role Automation tools you use today Experience with containers or CI/CD One delivery problem you want to solve</a:t>
            </a:r>
          </a:p>
          <a:p xmlns:a="http://schemas.openxmlformats.org/drawingml/2006/main">
            <a:r>
              <a:t/>
            </a:r>
          </a:p>
          <a:p xmlns:a="http://schemas.openxmlformats.org/drawingml/2006/main">
            <a:r>
              <a:t>Right side, Listen for: Common platforms and constraints Shared operational risks Different levels of software experience Opportunities for peer learning</a:t>
            </a:r>
          </a:p>
          <a:p xmlns:a="http://schemas.openxmlformats.org/drawingml/2006/main">
            <a:r>
              <a:t/>
            </a:r>
          </a:p>
          <a:p xmlns:a="http://schemas.openxmlformats.org/drawingml/2006/main">
            <a:r>
              <a:t>Presenter cue: Explain the relationship between the columns rather than reading each line verbatim.</a:t>
            </a:r>
          </a:p>
          <a:p xmlns:a="http://schemas.openxmlformats.org/drawingml/2006/main">
            <a:r>
              <a:t/>
            </a:r>
          </a:p>
          <a:p xmlns:a="http://schemas.openxmlformats.org/drawingml/2006/main">
            <a:r>
              <a:t>Audience question: Which responsibility is unclear or shared in your current environment?</a:t>
            </a:r>
          </a:p>
          <a:p xmlns:a="http://schemas.openxmlformats.org/drawingml/2006/main">
            <a:r>
              <a:t/>
            </a:r>
          </a:p>
          <a:p xmlns:a="http://schemas.openxmlformats.org/drawingml/2006/main">
            <a:r>
              <a:t>Transition: Use the comparison to frame the next topic.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Establish the scope of Course agreements.</a:t>
            </a:r>
          </a:p>
          <a:p xmlns:a="http://schemas.openxmlformats.org/drawingml/2006/main">
            <a:r>
              <a:t/>
            </a:r>
          </a:p>
          <a:p xmlns:a="http://schemas.openxmlformats.org/drawingml/2006/main">
            <a:r>
              <a:t>Explain: A shared environment works when every learner treats identity, scope, and cleanup as part of the engineering task.</a:t>
            </a:r>
          </a:p>
          <a:p xmlns:a="http://schemas.openxmlformats.org/drawingml/2006/main">
            <a:r>
              <a:t/>
            </a:r>
          </a:p>
          <a:p xmlns:a="http://schemas.openxmlformats.org/drawingml/2006/main">
            <a:r>
              <a:t>Discuss: Use only your assigned namespace, ports, and identifiers Never place credentials in source control or terminal history Stop when a validation gate fails Preserve logs and pipeline evidence for review</a:t>
            </a:r>
          </a:p>
          <a:p xmlns:a="http://schemas.openxmlformats.org/drawingml/2006/main">
            <a:r>
              <a:t/>
            </a:r>
          </a:p>
          <a:p xmlns:a="http://schemas.openxmlformats.org/drawingml/2006/main">
            <a:r>
              <a:t>Audience question: Which point is most familiar, and which point needs the most attention?</a:t>
            </a:r>
          </a:p>
          <a:p xmlns:a="http://schemas.openxmlformats.org/drawingml/2006/main">
            <a:r>
              <a:t/>
            </a:r>
          </a:p>
          <a:p xmlns:a="http://schemas.openxmlformats.org/drawingml/2006/main">
            <a:r>
              <a:t>Transition: Introduce the first model or engineering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Compare the two sides of evidence of learning.</a:t>
            </a:r>
          </a:p>
          <a:p xmlns:a="http://schemas.openxmlformats.org/drawingml/2006/main">
            <a:r>
              <a:t/>
            </a:r>
          </a:p>
          <a:p xmlns:a="http://schemas.openxmlformats.org/drawingml/2006/main">
            <a:r>
              <a:t>Left side, Technical evidence: Working source and configuration Successful automated checks Identified container images Deployment and runtime records</a:t>
            </a:r>
          </a:p>
          <a:p xmlns:a="http://schemas.openxmlformats.org/drawingml/2006/main">
            <a:r>
              <a:t/>
            </a:r>
          </a:p>
          <a:p xmlns:a="http://schemas.openxmlformats.org/drawingml/2006/main">
            <a:r>
              <a:t>Right side, Engineering judgement: Explain tool ownership Interpret failed validation Select a safe recovery action Connect symptoms to recent change</a:t>
            </a:r>
          </a:p>
          <a:p xmlns:a="http://schemas.openxmlformats.org/drawingml/2006/main">
            <a:r>
              <a:t/>
            </a:r>
          </a:p>
          <a:p xmlns:a="http://schemas.openxmlformats.org/drawingml/2006/main">
            <a:r>
              <a:t>Presenter cue: Explain the relationship between the columns rather than reading each line verbatim.</a:t>
            </a:r>
          </a:p>
          <a:p xmlns:a="http://schemas.openxmlformats.org/drawingml/2006/main">
            <a:r>
              <a:t/>
            </a:r>
          </a:p>
          <a:p xmlns:a="http://schemas.openxmlformats.org/drawingml/2006/main">
            <a:r>
              <a:t>Audience question: Which responsibility is unclear or shared in your current environment?</a:t>
            </a:r>
          </a:p>
          <a:p xmlns:a="http://schemas.openxmlformats.org/drawingml/2006/main">
            <a:r>
              <a:t/>
            </a:r>
          </a:p>
          <a:p xmlns:a="http://schemas.openxmlformats.org/drawingml/2006/main">
            <a:r>
              <a:t>Transition: Use the comparison to frame the next topic.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Close Course introduction.</a:t>
            </a:r>
          </a:p>
          <a:p xmlns:a="http://schemas.openxmlformats.org/drawingml/2006/main">
            <a:r>
              <a:t/>
            </a:r>
          </a:p>
          <a:p xmlns:a="http://schemas.openxmlformats.org/drawingml/2006/main">
            <a:r>
              <a:t>Recap: Ask learners to state one concept they can apply and one question that remains.</a:t>
            </a:r>
          </a:p>
          <a:p xmlns:a="http://schemas.openxmlformats.org/drawingml/2006/main">
            <a:r>
              <a:t/>
            </a:r>
          </a:p>
          <a:p xmlns:a="http://schemas.openxmlformats.org/drawingml/2006/main">
            <a:r>
              <a:t>Next: Next: Network Automation Review</a:t>
            </a:r>
          </a:p>
          <a:p xmlns:a="http://schemas.openxmlformats.org/drawingml/2006/main">
            <a:r>
              <a:t/>
            </a:r>
          </a:p>
          <a:p xmlns:a="http://schemas.openxmlformats.org/drawingml/2006/main">
            <a:r>
              <a:t>Presenter cue: Confirm the class is ready before moving to the next module.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c2346bfca24ea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666a762bb54561" /><Relationship Type="http://schemas.openxmlformats.org/officeDocument/2006/relationships/slideLayout" Target="/ppt/slideLayouts/slideLayout1.xml" Id="R9475793c860a42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75793c860a42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84cf27f01034a7e" /><Relationship Type="http://schemas.openxmlformats.org/officeDocument/2006/relationships/image" Target="/ppt/media/image.png" Id="R7804012950854908" /><Relationship Type="http://schemas.openxmlformats.org/officeDocument/2006/relationships/notesSlide" Target="/ppt/notesSlides/notesSlide1.xml" Id="Rc5610e03fe5b4b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f8c3c4dfc804200" /><Relationship Type="http://schemas.openxmlformats.org/officeDocument/2006/relationships/notesSlide" Target="/ppt/notesSlides/notesSlide2.xml" Id="Ree1e7f4ca7024c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8b06c5f345c4fa7" /><Relationship Type="http://schemas.openxmlformats.org/officeDocument/2006/relationships/image" Target="/ppt/media/image2.png" Id="R2743bdc10c474dfe" /><Relationship Type="http://schemas.openxmlformats.org/officeDocument/2006/relationships/notesSlide" Target="/ppt/notesSlides/notesSlide3.xml" Id="R305bce0ab95d43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80efca3d166476f" /><Relationship Type="http://schemas.openxmlformats.org/officeDocument/2006/relationships/notesSlide" Target="/ppt/notesSlides/notesSlide4.xml" Id="R0ded05c164ab4b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827abda7b774c7b" /><Relationship Type="http://schemas.openxmlformats.org/officeDocument/2006/relationships/notesSlide" Target="/ppt/notesSlides/notesSlide5.xml" Id="R36944d59b05d44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0c0e7f9de744dac" /><Relationship Type="http://schemas.openxmlformats.org/officeDocument/2006/relationships/notesSlide" Target="/ppt/notesSlides/notesSlide6.xml" Id="R6ba4eab0b2b64d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177d40fecce4602" /><Relationship Type="http://schemas.openxmlformats.org/officeDocument/2006/relationships/notesSlide" Target="/ppt/notesSlides/notesSlide7.xml" Id="R5d60dc3b0e10466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6ebfe6cf6654fc5" /><Relationship Type="http://schemas.openxmlformats.org/officeDocument/2006/relationships/notesSlide" Target="/ppt/notesSlides/notesSlide8.xml" Id="Re89163a61e7241b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1551baa03454220" /><Relationship Type="http://schemas.openxmlformats.org/officeDocument/2006/relationships/notesSlide" Target="/ppt/notesSlides/notesSlide9.xml" Id="R5a60f9e81af5459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e57c22c7c504b76" /><Relationship Type="http://schemas.openxmlformats.org/officeDocument/2006/relationships/notesSlide" Target="/ppt/notesSlides/notesSlide10.xml" Id="R03374ca999b44c4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222c989ac21466e" /><Relationship Type="http://schemas.openxmlformats.org/officeDocument/2006/relationships/notesSlide" Target="/ppt/notesSlides/notesSlide11.xml" Id="Rdce85353d7f54e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c0e6c2123444fa1" /><Relationship Type="http://schemas.openxmlformats.org/officeDocument/2006/relationships/notesSlide" Target="/ppt/notesSlides/notesSlide12.xml" Id="Rc7f023c3f800486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27af41a6bba4843" /><Relationship Type="http://schemas.openxmlformats.org/officeDocument/2006/relationships/notesSlide" Target="/ppt/notesSlides/notesSlide13.xml" Id="R35d4aee50df445df" /></Relationships>
</file>

<file path=ppt/slides/slide1.xml><?xml version="1.0" encoding="utf-8"?>
<p:sld xmlns:p="http://schemas.openxmlformats.org/presentationml/2006/main">
  <p:cSld>
    <p:bg>
      <p:bgPr>
        <a:solidFill xmlns:a="http://schemas.openxmlformats.org/drawingml/2006/main">
          <a:srgbClr val="082B59"/>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804012950854908"/>
          <a:srcRect xmlns:a="http://schemas.openxmlformats.org/drawingml/2006/main" l="0" t="30099" r="0" b="30099"/>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D9F0685-2205-4708-A5D6-A59F8BD7E8A3}"/>
              </a:ext>
            </a:extLst>
          </p:cNvPr>
          <p:cNvSpPr>
            <a:spLocks xmlns:a="http://schemas.openxmlformats.org/drawingml/2006/main" noGrp="1"/>
          </p:cNvSpPr>
          <p:nvPr/>
        </p:nvSpPr>
        <p:spPr>
          <a:xfrm xmlns:a="http://schemas.openxmlformats.org/drawingml/2006/main">
            <a:off x="0" y="0"/>
            <a:ext cx="5619750" cy="685800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F697D00-21D1-48F0-8A75-C86D18286771}"/>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31AE53F-E577-40BF-BA39-A73047139CE9}"/>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78E3CD3-74CB-46C9-A421-0C0C68135626}"/>
              </a:ext>
            </a:extLst>
          </p:cNvPr>
          <p:cNvSpPr>
            <a:spLocks xmlns:a="http://schemas.openxmlformats.org/drawingml/2006/main" noGrp="1"/>
          </p:cNvSpPr>
          <p:nvPr/>
        </p:nvSpPr>
        <p:spPr>
          <a:xfrm xmlns:a="http://schemas.openxmlformats.org/drawingml/2006/main">
            <a:off x="400050" y="0"/>
            <a:ext cx="3905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Course introduction</a:t>
            </a:r>
          </a:p>
        </p:txBody>
      </p:sp>
      <p:sp>
        <p:nvSpPr>
          <p:cNvPr id="6" name="">
            <a:extLst xmlns:a="http://schemas.openxmlformats.org/drawingml/2006/main">
              <a:ext uri="{FF2B5EF4-FFF2-40B4-BE49-F238E27FC236}">
                <a16:creationId xmlns:a16="http://schemas.microsoft.com/office/drawing/2014/main" id="{DFA4BA66-9258-49F1-8A7D-81BAFA047D81}"/>
              </a:ext>
            </a:extLst>
          </p:cNvPr>
          <p:cNvSpPr>
            <a:spLocks xmlns:a="http://schemas.openxmlformats.org/drawingml/2006/main" noGrp="1"/>
          </p:cNvSpPr>
          <p:nvPr/>
        </p:nvSpPr>
        <p:spPr>
          <a:xfrm xmlns:a="http://schemas.openxmlformats.org/drawingml/2006/main">
            <a:off x="457200" y="1143000"/>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90786"/>
          </a:bodyPr>
          <a:lstStyle xmlns:a="http://schemas.openxmlformats.org/drawingml/2006/main"/>
          <a:p xmlns:a="http://schemas.openxmlformats.org/drawingml/2006/main">
            <a:pPr algn="l">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Implementing DevOps Solutions and Practices using Cisco Platforms</a:t>
            </a:r>
          </a:p>
        </p:txBody>
      </p:sp>
      <p:sp>
        <p:nvSpPr>
          <p:cNvPr id="7" name="">
            <a:extLst xmlns:a="http://schemas.openxmlformats.org/drawingml/2006/main">
              <a:ext uri="{FF2B5EF4-FFF2-40B4-BE49-F238E27FC236}">
                <a16:creationId xmlns:a16="http://schemas.microsoft.com/office/drawing/2014/main" id="{9209E211-B3A8-43A7-9865-8F5DB51167F9}"/>
              </a:ext>
            </a:extLst>
          </p:cNvPr>
          <p:cNvSpPr>
            <a:spLocks xmlns:a="http://schemas.openxmlformats.org/drawingml/2006/main" noGrp="1"/>
          </p:cNvSpPr>
          <p:nvPr/>
        </p:nvSpPr>
        <p:spPr>
          <a:xfrm xmlns:a="http://schemas.openxmlformats.org/drawingml/2006/main">
            <a:off x="495300" y="323850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875" b="0">
                <a:solidFill>
                  <a:srgbClr val="D8ECFA"/>
                </a:solidFill>
                <a:latin typeface="Helvetica Neue"/>
                <a:ea typeface="Helvetica Neue"/>
                <a:cs typeface="Helvetica Neue"/>
              </a:defRPr>
            </a:pPr>
            <a:r>
              <a:rPr sz="1875" b="0">
                <a:solidFill>
                  <a:srgbClr val="D8ECFA"/>
                </a:solidFill>
                <a:latin typeface="Helvetica Neue"/>
                <a:ea typeface="Helvetica Neue"/>
                <a:cs typeface="Helvetica Neue"/>
              </a:rPr>
              <a:t>DevOps v1.0</a:t>
            </a:r>
          </a:p>
        </p:txBody>
      </p:sp>
      <p:sp>
        <p:nvSpPr>
          <p:cNvPr id="8" name="">
            <a:extLst xmlns:a="http://schemas.openxmlformats.org/drawingml/2006/main">
              <a:ext uri="{FF2B5EF4-FFF2-40B4-BE49-F238E27FC236}">
                <a16:creationId xmlns:a16="http://schemas.microsoft.com/office/drawing/2014/main" id="{EA506E6B-8D61-4653-A2C3-F4324C3FF655}"/>
              </a:ext>
            </a:extLst>
          </p:cNvPr>
          <p:cNvSpPr>
            <a:spLocks xmlns:a="http://schemas.openxmlformats.org/drawingml/2006/main" noGrp="1"/>
          </p:cNvSpPr>
          <p:nvPr/>
        </p:nvSpPr>
        <p:spPr>
          <a:xfrm xmlns:a="http://schemas.openxmlformats.org/drawingml/2006/main">
            <a:off x="495300" y="604837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Cisco learning and professional development</a:t>
            </a:r>
          </a:p>
        </p:txBody>
      </p:sp>
    </p:spTree>
    <p:extLst>
      <p:ext uri="{BB962C8B-B14F-4D97-AF65-F5344CB8AC3E}">
        <p14:creationId xmlns:p14="http://schemas.microsoft.com/office/powerpoint/2010/main" val="3425065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7F72342-95D1-4E87-8753-915897307739}"/>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311DC6D-AFBD-4FAA-B67D-6D89714088AB}"/>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496D8AE-FC7A-4B4B-94C4-3B4B807F11E3}"/>
              </a:ext>
            </a:extLst>
          </p:cNvPr>
          <p:cNvSpPr>
            <a:spLocks xmlns:a="http://schemas.openxmlformats.org/drawingml/2006/main" noGrp="1"/>
          </p:cNvSpPr>
          <p:nvPr/>
        </p:nvSpPr>
        <p:spPr>
          <a:xfrm xmlns:a="http://schemas.openxmlformats.org/drawingml/2006/main">
            <a:off x="76200" y="0"/>
            <a:ext cx="26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2</a:t>
            </a:r>
          </a:p>
        </p:txBody>
      </p:sp>
      <p:sp>
        <p:nvSpPr>
          <p:cNvPr id="4" name="">
            <a:extLst xmlns:a="http://schemas.openxmlformats.org/drawingml/2006/main">
              <a:ext uri="{FF2B5EF4-FFF2-40B4-BE49-F238E27FC236}">
                <a16:creationId xmlns:a16="http://schemas.microsoft.com/office/drawing/2014/main" id="{548E463C-57F0-4709-BD6E-14B06EB7DBBE}"/>
              </a:ext>
            </a:extLst>
          </p:cNvPr>
          <p:cNvSpPr>
            <a:spLocks xmlns:a="http://schemas.openxmlformats.org/drawingml/2006/main" noGrp="1"/>
          </p:cNvSpPr>
          <p:nvPr/>
        </p:nvSpPr>
        <p:spPr>
          <a:xfrm xmlns:a="http://schemas.openxmlformats.org/drawingml/2006/main">
            <a:off x="400050" y="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Course introduction</a:t>
            </a:r>
          </a:p>
        </p:txBody>
      </p:sp>
      <p:sp>
        <p:nvSpPr>
          <p:cNvPr id="5" name="">
            <a:extLst xmlns:a="http://schemas.openxmlformats.org/drawingml/2006/main">
              <a:ext uri="{FF2B5EF4-FFF2-40B4-BE49-F238E27FC236}">
                <a16:creationId xmlns:a16="http://schemas.microsoft.com/office/drawing/2014/main" id="{330CC5A9-5CB1-4ACD-B55A-5224500C9F3E}"/>
              </a:ext>
            </a:extLst>
          </p:cNvPr>
          <p:cNvSpPr>
            <a:spLocks xmlns:a="http://schemas.openxmlformats.org/drawingml/2006/main" noGrp="1"/>
          </p:cNvSpPr>
          <p:nvPr/>
        </p:nvSpPr>
        <p:spPr>
          <a:xfrm xmlns:a="http://schemas.openxmlformats.org/drawingml/2006/main">
            <a:off x="457200" y="45720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775" b="1">
                <a:solidFill>
                  <a:srgbClr val="082B59"/>
                </a:solidFill>
                <a:latin typeface="Helvetica Neue"/>
                <a:ea typeface="Helvetica Neue"/>
                <a:cs typeface="Helvetica Neue"/>
              </a:defRPr>
            </a:pPr>
            <a:r>
              <a:rPr sz="2775" b="1">
                <a:solidFill>
                  <a:srgbClr val="082B59"/>
                </a:solidFill>
                <a:latin typeface="Helvetica Neue"/>
                <a:ea typeface="Helvetica Neue"/>
                <a:cs typeface="Helvetica Neue"/>
              </a:rPr>
              <a:t>Course introduction</a:t>
            </a:r>
          </a:p>
        </p:txBody>
      </p:sp>
      <p:sp>
        <p:nvSpPr>
          <p:cNvPr id="6" name="">
            <a:extLst xmlns:a="http://schemas.openxmlformats.org/drawingml/2006/main">
              <a:ext uri="{FF2B5EF4-FFF2-40B4-BE49-F238E27FC236}">
                <a16:creationId xmlns:a16="http://schemas.microsoft.com/office/drawing/2014/main" id="{B17632AD-2619-47CF-96F3-D56BEB6885F9}"/>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1FD30BB-069A-4651-97D4-2AF958973744}"/>
              </a:ext>
            </a:extLst>
          </p:cNvPr>
          <p:cNvSpPr>
            <a:spLocks xmlns:a="http://schemas.openxmlformats.org/drawingml/2006/main" noGrp="1"/>
          </p:cNvSpPr>
          <p:nvPr/>
        </p:nvSpPr>
        <p:spPr>
          <a:xfrm xmlns:a="http://schemas.openxmlformats.org/drawingml/2006/main">
            <a:off x="685800" y="1571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875" b="0">
                <a:solidFill>
                  <a:srgbClr val="5F758B"/>
                </a:solidFill>
                <a:latin typeface="Helvetica Neue"/>
                <a:ea typeface="Helvetica Neue"/>
                <a:cs typeface="Helvetica Neue"/>
              </a:defRPr>
            </a:pPr>
            <a:r>
              <a:rPr sz="1875" b="0">
                <a:solidFill>
                  <a:srgbClr val="5F758B"/>
                </a:solidFill>
                <a:latin typeface="Helvetica Neue"/>
                <a:ea typeface="Helvetica Neue"/>
                <a:cs typeface="Helvetica Neue"/>
              </a:rPr>
              <a:t>A five-day course for engineers who want to deliver automation applications through disciplined software practices.</a:t>
            </a:r>
          </a:p>
        </p:txBody>
      </p:sp>
      <p:sp>
        <p:nvSpPr>
          <p:cNvPr id="8" name="">
            <a:extLst xmlns:a="http://schemas.openxmlformats.org/drawingml/2006/main">
              <a:ext uri="{FF2B5EF4-FFF2-40B4-BE49-F238E27FC236}">
                <a16:creationId xmlns:a16="http://schemas.microsoft.com/office/drawing/2014/main" id="{AF4FA040-0E4F-4DA6-8E96-8FA711FC2979}"/>
              </a:ext>
            </a:extLst>
          </p:cNvPr>
          <p:cNvSpPr>
            <a:spLocks xmlns:a="http://schemas.openxmlformats.org/drawingml/2006/main" noGrp="1"/>
          </p:cNvSpPr>
          <p:nvPr/>
        </p:nvSpPr>
        <p:spPr>
          <a:xfrm xmlns:a="http://schemas.openxmlformats.org/drawingml/2006/main">
            <a:off x="742950" y="2543175"/>
            <a:ext cx="66675" cy="361950"/>
          </a:xfrm>
          <a:prstGeom xmlns:a="http://schemas.openxmlformats.org/drawingml/2006/main" prst="roundRect">
            <a:avLst>
              <a:gd name="adj" fmla="val 50000"/>
            </a:avLst>
          </a:prstGeom>
          <a:solidFill xmlns:a="http://schemas.openxmlformats.org/drawingml/2006/main">
            <a:srgbClr val="F28C2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1B77994-7302-4AF7-B1DB-4C73A0DA3DE6}"/>
              </a:ext>
            </a:extLst>
          </p:cNvPr>
          <p:cNvSpPr>
            <a:spLocks xmlns:a="http://schemas.openxmlformats.org/drawingml/2006/main" noGrp="1"/>
          </p:cNvSpPr>
          <p:nvPr/>
        </p:nvSpPr>
        <p:spPr>
          <a:xfrm xmlns:a="http://schemas.openxmlformats.org/drawingml/2006/main">
            <a:off x="971550" y="247650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40 hours combining explanation, demonstration, and guided practice</a:t>
            </a:r>
          </a:p>
        </p:txBody>
      </p:sp>
      <p:sp>
        <p:nvSpPr>
          <p:cNvPr id="10" name="">
            <a:extLst xmlns:a="http://schemas.openxmlformats.org/drawingml/2006/main">
              <a:ext uri="{FF2B5EF4-FFF2-40B4-BE49-F238E27FC236}">
                <a16:creationId xmlns:a16="http://schemas.microsoft.com/office/drawing/2014/main" id="{8F7FBAB6-E3FE-40FE-AEF0-A6FB45EEF74A}"/>
              </a:ext>
            </a:extLst>
          </p:cNvPr>
          <p:cNvSpPr>
            <a:spLocks xmlns:a="http://schemas.openxmlformats.org/drawingml/2006/main" noGrp="1"/>
          </p:cNvSpPr>
          <p:nvPr/>
        </p:nvSpPr>
        <p:spPr>
          <a:xfrm xmlns:a="http://schemas.openxmlformats.org/drawingml/2006/main">
            <a:off x="742950" y="3152775"/>
            <a:ext cx="66675" cy="361950"/>
          </a:xfrm>
          <a:prstGeom xmlns:a="http://schemas.openxmlformats.org/drawingml/2006/main" prst="roundRect">
            <a:avLst>
              <a:gd name="adj" fmla="val 50000"/>
            </a:avLst>
          </a:prstGeom>
          <a:solidFill xmlns:a="http://schemas.openxmlformats.org/drawingml/2006/main">
            <a:srgbClr val="21A8D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4358473-FC45-4C9E-ADEA-36132366F8DB}"/>
              </a:ext>
            </a:extLst>
          </p:cNvPr>
          <p:cNvSpPr>
            <a:spLocks xmlns:a="http://schemas.openxmlformats.org/drawingml/2006/main" noGrp="1"/>
          </p:cNvSpPr>
          <p:nvPr/>
        </p:nvSpPr>
        <p:spPr>
          <a:xfrm xmlns:a="http://schemas.openxmlformats.org/drawingml/2006/main">
            <a:off x="971550" y="308610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Knowledge equivalent to DEVASC and DEVCOR</a:t>
            </a:r>
          </a:p>
        </p:txBody>
      </p:sp>
      <p:sp>
        <p:nvSpPr>
          <p:cNvPr id="12" name="">
            <a:extLst xmlns:a="http://schemas.openxmlformats.org/drawingml/2006/main">
              <a:ext uri="{FF2B5EF4-FFF2-40B4-BE49-F238E27FC236}">
                <a16:creationId xmlns:a16="http://schemas.microsoft.com/office/drawing/2014/main" id="{B5B1CB1E-AA78-40E4-847C-1CCA2E574C2B}"/>
              </a:ext>
            </a:extLst>
          </p:cNvPr>
          <p:cNvSpPr>
            <a:spLocks xmlns:a="http://schemas.openxmlformats.org/drawingml/2006/main" noGrp="1"/>
          </p:cNvSpPr>
          <p:nvPr/>
        </p:nvSpPr>
        <p:spPr>
          <a:xfrm xmlns:a="http://schemas.openxmlformats.org/drawingml/2006/main">
            <a:off x="742950" y="3762375"/>
            <a:ext cx="66675" cy="361950"/>
          </a:xfrm>
          <a:prstGeom xmlns:a="http://schemas.openxmlformats.org/drawingml/2006/main" prst="roundRect">
            <a:avLst>
              <a:gd name="adj" fmla="val 50000"/>
            </a:avLst>
          </a:prstGeom>
          <a:solidFill xmlns:a="http://schemas.openxmlformats.org/drawingml/2006/main">
            <a:srgbClr val="F28C2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FFC5900-8721-4243-B973-E678904D4574}"/>
              </a:ext>
            </a:extLst>
          </p:cNvPr>
          <p:cNvSpPr>
            <a:spLocks xmlns:a="http://schemas.openxmlformats.org/drawingml/2006/main" noGrp="1"/>
          </p:cNvSpPr>
          <p:nvPr/>
        </p:nvSpPr>
        <p:spPr>
          <a:xfrm xmlns:a="http://schemas.openxmlformats.org/drawingml/2006/main">
            <a:off x="971550" y="369570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One application evolves as the delivery platform becomes more capable</a:t>
            </a:r>
          </a:p>
        </p:txBody>
      </p:sp>
    </p:spTree>
    <p:extLst>
      <p:ext uri="{BB962C8B-B14F-4D97-AF65-F5344CB8AC3E}">
        <p14:creationId xmlns:p14="http://schemas.microsoft.com/office/powerpoint/2010/main" val="12847114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05682FC-D438-4942-9A1F-56D05235FAF8}"/>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4D0F65-C381-4CB2-AF87-C3D2D53DC513}"/>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28EB87C-755E-4478-8FAB-F2B9A81ED209}"/>
              </a:ext>
            </a:extLst>
          </p:cNvPr>
          <p:cNvSpPr>
            <a:spLocks xmlns:a="http://schemas.openxmlformats.org/drawingml/2006/main" noGrp="1"/>
          </p:cNvSpPr>
          <p:nvPr/>
        </p:nvSpPr>
        <p:spPr>
          <a:xfrm xmlns:a="http://schemas.openxmlformats.org/drawingml/2006/main">
            <a:off x="76200" y="0"/>
            <a:ext cx="26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3</a:t>
            </a:r>
          </a:p>
        </p:txBody>
      </p:sp>
      <p:sp>
        <p:nvSpPr>
          <p:cNvPr id="4" name="">
            <a:extLst xmlns:a="http://schemas.openxmlformats.org/drawingml/2006/main">
              <a:ext uri="{FF2B5EF4-FFF2-40B4-BE49-F238E27FC236}">
                <a16:creationId xmlns:a16="http://schemas.microsoft.com/office/drawing/2014/main" id="{5F3D4520-7DCE-4C2F-A268-7825EA7D55CA}"/>
              </a:ext>
            </a:extLst>
          </p:cNvPr>
          <p:cNvSpPr>
            <a:spLocks xmlns:a="http://schemas.openxmlformats.org/drawingml/2006/main" noGrp="1"/>
          </p:cNvSpPr>
          <p:nvPr/>
        </p:nvSpPr>
        <p:spPr>
          <a:xfrm xmlns:a="http://schemas.openxmlformats.org/drawingml/2006/main">
            <a:off x="400050" y="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Course introduction</a:t>
            </a:r>
          </a:p>
        </p:txBody>
      </p:sp>
      <p:sp>
        <p:nvSpPr>
          <p:cNvPr id="5" name="">
            <a:extLst xmlns:a="http://schemas.openxmlformats.org/drawingml/2006/main">
              <a:ext uri="{FF2B5EF4-FFF2-40B4-BE49-F238E27FC236}">
                <a16:creationId xmlns:a16="http://schemas.microsoft.com/office/drawing/2014/main" id="{17FE2305-5C86-4CE2-8822-E38E8BD2A0E4}"/>
              </a:ext>
            </a:extLst>
          </p:cNvPr>
          <p:cNvSpPr>
            <a:spLocks xmlns:a="http://schemas.openxmlformats.org/drawingml/2006/main" noGrp="1"/>
          </p:cNvSpPr>
          <p:nvPr/>
        </p:nvSpPr>
        <p:spPr>
          <a:xfrm xmlns:a="http://schemas.openxmlformats.org/drawingml/2006/main">
            <a:off x="457200" y="45720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775" b="1">
                <a:solidFill>
                  <a:srgbClr val="082B59"/>
                </a:solidFill>
                <a:latin typeface="Helvetica Neue"/>
                <a:ea typeface="Helvetica Neue"/>
                <a:cs typeface="Helvetica Neue"/>
              </a:defRPr>
            </a:pPr>
            <a:r>
              <a:rPr sz="2775" b="1">
                <a:solidFill>
                  <a:srgbClr val="082B59"/>
                </a:solidFill>
                <a:latin typeface="Helvetica Neue"/>
                <a:ea typeface="Helvetica Neue"/>
                <a:cs typeface="Helvetica Neue"/>
              </a:rPr>
              <a:t>Course journey</a:t>
            </a:r>
          </a:p>
        </p:txBody>
      </p:sp>
      <p:sp>
        <p:nvSpPr>
          <p:cNvPr id="6" name="">
            <a:extLst xmlns:a="http://schemas.openxmlformats.org/drawingml/2006/main">
              <a:ext uri="{FF2B5EF4-FFF2-40B4-BE49-F238E27FC236}">
                <a16:creationId xmlns:a16="http://schemas.microsoft.com/office/drawing/2014/main" id="{00677F82-64D2-4988-8623-1DCB0B1363AD}"/>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743bdc10c474dfe"/>
          <a:stretch xmlns:a="http://schemas.openxmlformats.org/drawingml/2006/main"/>
        </p:blipFill>
        <p:spPr>
          <a:xfrm xmlns:a="http://schemas.openxmlformats.org/drawingml/2006/main">
            <a:off x="770467" y="1571625"/>
            <a:ext cx="10651067" cy="4048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7BA1931-A230-4071-A46E-3750CEB03765}"/>
              </a:ext>
            </a:extLst>
          </p:cNvPr>
          <p:cNvSpPr>
            <a:spLocks xmlns:a="http://schemas.openxmlformats.org/drawingml/2006/main" noGrp="1"/>
          </p:cNvSpPr>
          <p:nvPr/>
        </p:nvSpPr>
        <p:spPr>
          <a:xfrm xmlns:a="http://schemas.openxmlformats.org/drawingml/2006/main">
            <a:off x="742950" y="5829300"/>
            <a:ext cx="76200" cy="552450"/>
          </a:xfrm>
          <a:prstGeom xmlns:a="http://schemas.openxmlformats.org/drawingml/2006/main" prst="roundRect">
            <a:avLst>
              <a:gd name="adj" fmla="val 50000"/>
            </a:avLst>
          </a:prstGeom>
          <a:solidFill xmlns:a="http://schemas.openxmlformats.org/drawingml/2006/main">
            <a:srgbClr val="0A6FA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A86739A-2259-4819-A46A-4408DD45E4D1}"/>
              </a:ext>
            </a:extLst>
          </p:cNvPr>
          <p:cNvSpPr>
            <a:spLocks xmlns:a="http://schemas.openxmlformats.org/drawingml/2006/main" noGrp="1"/>
          </p:cNvSpPr>
          <p:nvPr/>
        </p:nvSpPr>
        <p:spPr>
          <a:xfrm xmlns:a="http://schemas.openxmlformats.org/drawingml/2006/main">
            <a:off x="952500" y="574357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500" b="0">
                <a:solidFill>
                  <a:srgbClr val="17324D"/>
                </a:solidFill>
                <a:latin typeface="Helvetica Neue"/>
                <a:ea typeface="Helvetica Neue"/>
                <a:cs typeface="Helvetica Neue"/>
              </a:defRPr>
            </a:pPr>
            <a:r>
              <a:rPr sz="1500" b="0">
                <a:solidFill>
                  <a:srgbClr val="17324D"/>
                </a:solidFill>
                <a:latin typeface="Helvetica Neue"/>
                <a:ea typeface="Helvetica Neue"/>
                <a:cs typeface="Helvetica Neue"/>
              </a:rPr>
              <a:t>The course follows the engineering decisions required to move an automation application into dependable operation.</a:t>
            </a:r>
          </a:p>
        </p:txBody>
      </p:sp>
    </p:spTree>
    <p:extLst>
      <p:ext uri="{BB962C8B-B14F-4D97-AF65-F5344CB8AC3E}">
        <p14:creationId xmlns:p14="http://schemas.microsoft.com/office/powerpoint/2010/main" val="18020419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9A6BC7A-50AD-410A-A108-92008038113B}"/>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9BA8152-F317-433F-8DAD-4219EE4DDCB4}"/>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D332359-2AD8-4739-96D9-D51FE39253B3}"/>
              </a:ext>
            </a:extLst>
          </p:cNvPr>
          <p:cNvSpPr>
            <a:spLocks xmlns:a="http://schemas.openxmlformats.org/drawingml/2006/main" noGrp="1"/>
          </p:cNvSpPr>
          <p:nvPr/>
        </p:nvSpPr>
        <p:spPr>
          <a:xfrm xmlns:a="http://schemas.openxmlformats.org/drawingml/2006/main">
            <a:off x="76200" y="0"/>
            <a:ext cx="26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4</a:t>
            </a:r>
          </a:p>
        </p:txBody>
      </p:sp>
      <p:sp>
        <p:nvSpPr>
          <p:cNvPr id="4" name="">
            <a:extLst xmlns:a="http://schemas.openxmlformats.org/drawingml/2006/main">
              <a:ext uri="{FF2B5EF4-FFF2-40B4-BE49-F238E27FC236}">
                <a16:creationId xmlns:a16="http://schemas.microsoft.com/office/drawing/2014/main" id="{546E0D48-C744-4410-8EB3-4DE70EC45F3B}"/>
              </a:ext>
            </a:extLst>
          </p:cNvPr>
          <p:cNvSpPr>
            <a:spLocks xmlns:a="http://schemas.openxmlformats.org/drawingml/2006/main" noGrp="1"/>
          </p:cNvSpPr>
          <p:nvPr/>
        </p:nvSpPr>
        <p:spPr>
          <a:xfrm xmlns:a="http://schemas.openxmlformats.org/drawingml/2006/main">
            <a:off x="400050" y="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Course introduction</a:t>
            </a:r>
          </a:p>
        </p:txBody>
      </p:sp>
      <p:sp>
        <p:nvSpPr>
          <p:cNvPr id="5" name="">
            <a:extLst xmlns:a="http://schemas.openxmlformats.org/drawingml/2006/main">
              <a:ext uri="{FF2B5EF4-FFF2-40B4-BE49-F238E27FC236}">
                <a16:creationId xmlns:a16="http://schemas.microsoft.com/office/drawing/2014/main" id="{DC51E21E-37B5-4BEF-ACD3-2BFB8D1A6A5B}"/>
              </a:ext>
            </a:extLst>
          </p:cNvPr>
          <p:cNvSpPr>
            <a:spLocks xmlns:a="http://schemas.openxmlformats.org/drawingml/2006/main" noGrp="1"/>
          </p:cNvSpPr>
          <p:nvPr/>
        </p:nvSpPr>
        <p:spPr>
          <a:xfrm xmlns:a="http://schemas.openxmlformats.org/drawingml/2006/main">
            <a:off x="457200" y="45720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775" b="1">
                <a:solidFill>
                  <a:srgbClr val="082B59"/>
                </a:solidFill>
                <a:latin typeface="Helvetica Neue"/>
                <a:ea typeface="Helvetica Neue"/>
                <a:cs typeface="Helvetica Neue"/>
              </a:defRPr>
            </a:pPr>
            <a:r>
              <a:rPr sz="2775" b="1">
                <a:solidFill>
                  <a:srgbClr val="082B59"/>
                </a:solidFill>
                <a:latin typeface="Helvetica Neue"/>
                <a:ea typeface="Helvetica Neue"/>
                <a:cs typeface="Helvetica Neue"/>
              </a:rPr>
              <a:t>Five-day learning sequence</a:t>
            </a:r>
          </a:p>
        </p:txBody>
      </p:sp>
      <p:sp>
        <p:nvSpPr>
          <p:cNvPr id="6" name="">
            <a:extLst xmlns:a="http://schemas.openxmlformats.org/drawingml/2006/main">
              <a:ext uri="{FF2B5EF4-FFF2-40B4-BE49-F238E27FC236}">
                <a16:creationId xmlns:a16="http://schemas.microsoft.com/office/drawing/2014/main" id="{F3B0A08D-5D3B-4598-8EDB-E27C40619EA0}"/>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EBE13CD-EC6C-4E19-9F0B-7BA0D339C894}"/>
              </a:ext>
            </a:extLst>
          </p:cNvPr>
          <p:cNvSpPr>
            <a:spLocks xmlns:a="http://schemas.openxmlformats.org/drawingml/2006/main" noGrp="1"/>
          </p:cNvSpPr>
          <p:nvPr/>
        </p:nvSpPr>
        <p:spPr>
          <a:xfrm xmlns:a="http://schemas.openxmlformats.org/drawingml/2006/main">
            <a:off x="6096000" y="1714500"/>
            <a:ext cx="19050" cy="4238625"/>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108118D-F357-4F1D-99AB-668077E21D7D}"/>
              </a:ext>
            </a:extLst>
          </p:cNvPr>
          <p:cNvSpPr>
            <a:spLocks xmlns:a="http://schemas.openxmlformats.org/drawingml/2006/main" noGrp="1"/>
          </p:cNvSpPr>
          <p:nvPr/>
        </p:nvSpPr>
        <p:spPr>
          <a:xfrm xmlns:a="http://schemas.openxmlformats.org/drawingml/2006/main">
            <a:off x="6858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Days 1 and 2</a:t>
            </a:r>
          </a:p>
        </p:txBody>
      </p:sp>
      <p:sp>
        <p:nvSpPr>
          <p:cNvPr id="9" name="">
            <a:extLst xmlns:a="http://schemas.openxmlformats.org/drawingml/2006/main">
              <a:ext uri="{FF2B5EF4-FFF2-40B4-BE49-F238E27FC236}">
                <a16:creationId xmlns:a16="http://schemas.microsoft.com/office/drawing/2014/main" id="{8B28AF63-1971-433D-9462-0A7325E1016A}"/>
              </a:ext>
            </a:extLst>
          </p:cNvPr>
          <p:cNvSpPr>
            <a:spLocks xmlns:a="http://schemas.openxmlformats.org/drawingml/2006/main" noGrp="1"/>
          </p:cNvSpPr>
          <p:nvPr/>
        </p:nvSpPr>
        <p:spPr>
          <a:xfrm xmlns:a="http://schemas.openxmlformats.org/drawingml/2006/main">
            <a:off x="65532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Days 3 to 5</a:t>
            </a:r>
          </a:p>
        </p:txBody>
      </p:sp>
      <p:sp>
        <p:nvSpPr>
          <p:cNvPr id="10" name="">
            <a:extLst xmlns:a="http://schemas.openxmlformats.org/drawingml/2006/main">
              <a:ext uri="{FF2B5EF4-FFF2-40B4-BE49-F238E27FC236}">
                <a16:creationId xmlns:a16="http://schemas.microsoft.com/office/drawing/2014/main" id="{456CAFB5-CA01-4952-9E35-8E2129C1EDF3}"/>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C7A1043-7B8F-4AAA-819E-2DE765595869}"/>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5FDF9F90-44E2-41DE-8676-92822F91E796}"/>
              </a:ext>
            </a:extLst>
          </p:cNvPr>
          <p:cNvSpPr>
            <a:spLocks xmlns:a="http://schemas.openxmlformats.org/drawingml/2006/main" noGrp="1"/>
          </p:cNvSpPr>
          <p:nvPr/>
        </p:nvSpPr>
        <p:spPr>
          <a:xfrm xmlns:a="http://schemas.openxmlformats.org/drawingml/2006/main">
            <a:off x="12573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Automation knowledge review</a:t>
            </a:r>
          </a:p>
        </p:txBody>
      </p:sp>
      <p:sp>
        <p:nvSpPr>
          <p:cNvPr id="13" name="">
            <a:extLst xmlns:a="http://schemas.openxmlformats.org/drawingml/2006/main">
              <a:ext uri="{FF2B5EF4-FFF2-40B4-BE49-F238E27FC236}">
                <a16:creationId xmlns:a16="http://schemas.microsoft.com/office/drawing/2014/main" id="{AD321FC6-F836-4DAD-AB8C-782D5E697912}"/>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C115550-249C-4447-93CF-4DB7A4F7DFFD}"/>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677FF6E3-76F7-4685-924A-CEEA5C054035}"/>
              </a:ext>
            </a:extLst>
          </p:cNvPr>
          <p:cNvSpPr>
            <a:spLocks xmlns:a="http://schemas.openxmlformats.org/drawingml/2006/main" noGrp="1"/>
          </p:cNvSpPr>
          <p:nvPr/>
        </p:nvSpPr>
        <p:spPr>
          <a:xfrm xmlns:a="http://schemas.openxmlformats.org/drawingml/2006/main">
            <a:off x="12573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DevOps model and CALMS</a:t>
            </a:r>
          </a:p>
        </p:txBody>
      </p:sp>
      <p:sp>
        <p:nvSpPr>
          <p:cNvPr id="16" name="">
            <a:extLst xmlns:a="http://schemas.openxmlformats.org/drawingml/2006/main">
              <a:ext uri="{FF2B5EF4-FFF2-40B4-BE49-F238E27FC236}">
                <a16:creationId xmlns:a16="http://schemas.microsoft.com/office/drawing/2014/main" id="{9CBB4020-1F36-4878-B7B9-A12F05A049DF}"/>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B838601-F26C-452C-A69F-DE25FF5AEB29}"/>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671B6AFF-000A-40EB-A020-AD246B291AAF}"/>
              </a:ext>
            </a:extLst>
          </p:cNvPr>
          <p:cNvSpPr>
            <a:spLocks xmlns:a="http://schemas.openxmlformats.org/drawingml/2006/main" noGrp="1"/>
          </p:cNvSpPr>
          <p:nvPr/>
        </p:nvSpPr>
        <p:spPr>
          <a:xfrm xmlns:a="http://schemas.openxmlformats.org/drawingml/2006/main">
            <a:off x="12573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Delivery lifecycle and evidence</a:t>
            </a:r>
          </a:p>
        </p:txBody>
      </p:sp>
      <p:sp>
        <p:nvSpPr>
          <p:cNvPr id="19" name="">
            <a:extLst xmlns:a="http://schemas.openxmlformats.org/drawingml/2006/main">
              <a:ext uri="{FF2B5EF4-FFF2-40B4-BE49-F238E27FC236}">
                <a16:creationId xmlns:a16="http://schemas.microsoft.com/office/drawing/2014/main" id="{DBB66E51-FEF6-4628-A27A-44CC834F9C61}"/>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06ECD68-B58A-4A56-BBF8-609B66901D69}"/>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12FDF63D-6BBA-4B4C-8615-2CC96A5FC94A}"/>
              </a:ext>
            </a:extLst>
          </p:cNvPr>
          <p:cNvSpPr>
            <a:spLocks xmlns:a="http://schemas.openxmlformats.org/drawingml/2006/main" noGrp="1"/>
          </p:cNvSpPr>
          <p:nvPr/>
        </p:nvSpPr>
        <p:spPr>
          <a:xfrm xmlns:a="http://schemas.openxmlformats.org/drawingml/2006/main">
            <a:off x="12573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Infrastructure ownership boundaries</a:t>
            </a:r>
          </a:p>
        </p:txBody>
      </p:sp>
      <p:sp>
        <p:nvSpPr>
          <p:cNvPr id="22" name="">
            <a:extLst xmlns:a="http://schemas.openxmlformats.org/drawingml/2006/main">
              <a:ext uri="{FF2B5EF4-FFF2-40B4-BE49-F238E27FC236}">
                <a16:creationId xmlns:a16="http://schemas.microsoft.com/office/drawing/2014/main" id="{4A2749E6-A82F-4F55-9001-AF0DF84FA25E}"/>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986B87C-582A-4AE8-81D4-F9C0AC09F516}"/>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24" name="">
            <a:extLst xmlns:a="http://schemas.openxmlformats.org/drawingml/2006/main">
              <a:ext uri="{FF2B5EF4-FFF2-40B4-BE49-F238E27FC236}">
                <a16:creationId xmlns:a16="http://schemas.microsoft.com/office/drawing/2014/main" id="{2E945105-59FE-4EC4-B93A-76AB0DA2CFDC}"/>
              </a:ext>
            </a:extLst>
          </p:cNvPr>
          <p:cNvSpPr>
            <a:spLocks xmlns:a="http://schemas.openxmlformats.org/drawingml/2006/main" noGrp="1"/>
          </p:cNvSpPr>
          <p:nvPr/>
        </p:nvSpPr>
        <p:spPr>
          <a:xfrm xmlns:a="http://schemas.openxmlformats.org/drawingml/2006/main">
            <a:off x="71247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Docker, Compose, and Kubernetes</a:t>
            </a:r>
          </a:p>
        </p:txBody>
      </p:sp>
      <p:sp>
        <p:nvSpPr>
          <p:cNvPr id="25" name="">
            <a:extLst xmlns:a="http://schemas.openxmlformats.org/drawingml/2006/main">
              <a:ext uri="{FF2B5EF4-FFF2-40B4-BE49-F238E27FC236}">
                <a16:creationId xmlns:a16="http://schemas.microsoft.com/office/drawing/2014/main" id="{24389B55-E04F-4CA7-917F-51876C9A6F1E}"/>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A3C0942-530C-4189-AF26-ED3594D4753E}"/>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27" name="">
            <a:extLst xmlns:a="http://schemas.openxmlformats.org/drawingml/2006/main">
              <a:ext uri="{FF2B5EF4-FFF2-40B4-BE49-F238E27FC236}">
                <a16:creationId xmlns:a16="http://schemas.microsoft.com/office/drawing/2014/main" id="{565521CD-092A-4EEA-9F8F-C31B96627FDC}"/>
              </a:ext>
            </a:extLst>
          </p:cNvPr>
          <p:cNvSpPr>
            <a:spLocks xmlns:a="http://schemas.openxmlformats.org/drawingml/2006/main" noGrp="1"/>
          </p:cNvSpPr>
          <p:nvPr/>
        </p:nvSpPr>
        <p:spPr>
          <a:xfrm xmlns:a="http://schemas.openxmlformats.org/drawingml/2006/main">
            <a:off x="71247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GitLab pipeline design</a:t>
            </a:r>
          </a:p>
        </p:txBody>
      </p:sp>
      <p:sp>
        <p:nvSpPr>
          <p:cNvPr id="28" name="">
            <a:extLst xmlns:a="http://schemas.openxmlformats.org/drawingml/2006/main">
              <a:ext uri="{FF2B5EF4-FFF2-40B4-BE49-F238E27FC236}">
                <a16:creationId xmlns:a16="http://schemas.microsoft.com/office/drawing/2014/main" id="{7425B621-89E9-42A8-BA78-AD1603636802}"/>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317E0D6A-F906-4F60-B743-E5B7FAB179C5}"/>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30" name="">
            <a:extLst xmlns:a="http://schemas.openxmlformats.org/drawingml/2006/main">
              <a:ext uri="{FF2B5EF4-FFF2-40B4-BE49-F238E27FC236}">
                <a16:creationId xmlns:a16="http://schemas.microsoft.com/office/drawing/2014/main" id="{105EAEE7-3B5B-4516-849D-7243FB786F99}"/>
              </a:ext>
            </a:extLst>
          </p:cNvPr>
          <p:cNvSpPr>
            <a:spLocks xmlns:a="http://schemas.openxmlformats.org/drawingml/2006/main" noGrp="1"/>
          </p:cNvSpPr>
          <p:nvPr/>
        </p:nvSpPr>
        <p:spPr>
          <a:xfrm xmlns:a="http://schemas.openxmlformats.org/drawingml/2006/main">
            <a:off x="71247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Deployment validation and recovery</a:t>
            </a:r>
          </a:p>
        </p:txBody>
      </p:sp>
      <p:sp>
        <p:nvSpPr>
          <p:cNvPr id="31" name="">
            <a:extLst xmlns:a="http://schemas.openxmlformats.org/drawingml/2006/main">
              <a:ext uri="{FF2B5EF4-FFF2-40B4-BE49-F238E27FC236}">
                <a16:creationId xmlns:a16="http://schemas.microsoft.com/office/drawing/2014/main" id="{A980F52C-0929-4425-BAE7-E3D9DD3948D9}"/>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2054BC5-06D7-44A0-9CD9-A640B07AAB88}"/>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33" name="">
            <a:extLst xmlns:a="http://schemas.openxmlformats.org/drawingml/2006/main">
              <a:ext uri="{FF2B5EF4-FFF2-40B4-BE49-F238E27FC236}">
                <a16:creationId xmlns:a16="http://schemas.microsoft.com/office/drawing/2014/main" id="{1514AE25-00FE-4DD0-8AA3-09EB0457D4C3}"/>
              </a:ext>
            </a:extLst>
          </p:cNvPr>
          <p:cNvSpPr>
            <a:spLocks xmlns:a="http://schemas.openxmlformats.org/drawingml/2006/main" noGrp="1"/>
          </p:cNvSpPr>
          <p:nvPr/>
        </p:nvSpPr>
        <p:spPr>
          <a:xfrm xmlns:a="http://schemas.openxmlformats.org/drawingml/2006/main">
            <a:off x="71247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Security and operational feedback</a:t>
            </a:r>
          </a:p>
        </p:txBody>
      </p:sp>
    </p:spTree>
    <p:extLst>
      <p:ext uri="{BB962C8B-B14F-4D97-AF65-F5344CB8AC3E}">
        <p14:creationId xmlns:p14="http://schemas.microsoft.com/office/powerpoint/2010/main" val="7685093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0AFDEE03-06D5-4E73-B33D-69B677A2EB59}"/>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065324-07CD-4D0B-83A1-46DB1680682A}"/>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2C88A47-E08F-42A2-B205-A962012B3D67}"/>
              </a:ext>
            </a:extLst>
          </p:cNvPr>
          <p:cNvSpPr>
            <a:spLocks xmlns:a="http://schemas.openxmlformats.org/drawingml/2006/main" noGrp="1"/>
          </p:cNvSpPr>
          <p:nvPr/>
        </p:nvSpPr>
        <p:spPr>
          <a:xfrm xmlns:a="http://schemas.openxmlformats.org/drawingml/2006/main">
            <a:off x="76200" y="0"/>
            <a:ext cx="26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5</a:t>
            </a:r>
          </a:p>
        </p:txBody>
      </p:sp>
      <p:sp>
        <p:nvSpPr>
          <p:cNvPr id="4" name="">
            <a:extLst xmlns:a="http://schemas.openxmlformats.org/drawingml/2006/main">
              <a:ext uri="{FF2B5EF4-FFF2-40B4-BE49-F238E27FC236}">
                <a16:creationId xmlns:a16="http://schemas.microsoft.com/office/drawing/2014/main" id="{6740F464-3EBC-4CEA-8CB2-A5632BA7E33A}"/>
              </a:ext>
            </a:extLst>
          </p:cNvPr>
          <p:cNvSpPr>
            <a:spLocks xmlns:a="http://schemas.openxmlformats.org/drawingml/2006/main" noGrp="1"/>
          </p:cNvSpPr>
          <p:nvPr/>
        </p:nvSpPr>
        <p:spPr>
          <a:xfrm xmlns:a="http://schemas.openxmlformats.org/drawingml/2006/main">
            <a:off x="400050" y="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Course introduction</a:t>
            </a:r>
          </a:p>
        </p:txBody>
      </p:sp>
      <p:sp>
        <p:nvSpPr>
          <p:cNvPr id="5" name="">
            <a:extLst xmlns:a="http://schemas.openxmlformats.org/drawingml/2006/main">
              <a:ext uri="{FF2B5EF4-FFF2-40B4-BE49-F238E27FC236}">
                <a16:creationId xmlns:a16="http://schemas.microsoft.com/office/drawing/2014/main" id="{53271D51-D36D-46E5-B046-B6A7F134715C}"/>
              </a:ext>
            </a:extLst>
          </p:cNvPr>
          <p:cNvSpPr>
            <a:spLocks xmlns:a="http://schemas.openxmlformats.org/drawingml/2006/main" noGrp="1"/>
          </p:cNvSpPr>
          <p:nvPr/>
        </p:nvSpPr>
        <p:spPr>
          <a:xfrm xmlns:a="http://schemas.openxmlformats.org/drawingml/2006/main">
            <a:off x="457200" y="45720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775" b="1">
                <a:solidFill>
                  <a:srgbClr val="082B59"/>
                </a:solidFill>
                <a:latin typeface="Helvetica Neue"/>
                <a:ea typeface="Helvetica Neue"/>
                <a:cs typeface="Helvetica Neue"/>
              </a:defRPr>
            </a:pPr>
            <a:r>
              <a:rPr sz="2775" b="1">
                <a:solidFill>
                  <a:srgbClr val="082B59"/>
                </a:solidFill>
                <a:latin typeface="Helvetica Neue"/>
                <a:ea typeface="Helvetica Neue"/>
                <a:cs typeface="Helvetica Neue"/>
              </a:rPr>
              <a:t>Starting knowledge</a:t>
            </a:r>
          </a:p>
        </p:txBody>
      </p:sp>
      <p:sp>
        <p:nvSpPr>
          <p:cNvPr id="6" name="">
            <a:extLst xmlns:a="http://schemas.openxmlformats.org/drawingml/2006/main">
              <a:ext uri="{FF2B5EF4-FFF2-40B4-BE49-F238E27FC236}">
                <a16:creationId xmlns:a16="http://schemas.microsoft.com/office/drawing/2014/main" id="{FE9603F8-3601-4ADC-AF2E-392A7429C2C5}"/>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A74DBFD-6427-407D-8BE9-F33CC2AF0902}"/>
              </a:ext>
            </a:extLst>
          </p:cNvPr>
          <p:cNvSpPr>
            <a:spLocks xmlns:a="http://schemas.openxmlformats.org/drawingml/2006/main" noGrp="1"/>
          </p:cNvSpPr>
          <p:nvPr/>
        </p:nvSpPr>
        <p:spPr>
          <a:xfrm xmlns:a="http://schemas.openxmlformats.org/drawingml/2006/main">
            <a:off x="6096000" y="1714500"/>
            <a:ext cx="19050" cy="4238625"/>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22CDD92-27F8-4B6D-B181-F7A24B182964}"/>
              </a:ext>
            </a:extLst>
          </p:cNvPr>
          <p:cNvSpPr>
            <a:spLocks xmlns:a="http://schemas.openxmlformats.org/drawingml/2006/main" noGrp="1"/>
          </p:cNvSpPr>
          <p:nvPr/>
        </p:nvSpPr>
        <p:spPr>
          <a:xfrm xmlns:a="http://schemas.openxmlformats.org/drawingml/2006/main">
            <a:off x="6858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Expected foundation</a:t>
            </a:r>
          </a:p>
        </p:txBody>
      </p:sp>
      <p:sp>
        <p:nvSpPr>
          <p:cNvPr id="9" name="">
            <a:extLst xmlns:a="http://schemas.openxmlformats.org/drawingml/2006/main">
              <a:ext uri="{FF2B5EF4-FFF2-40B4-BE49-F238E27FC236}">
                <a16:creationId xmlns:a16="http://schemas.microsoft.com/office/drawing/2014/main" id="{9B49FE67-07E5-45E9-87BB-F071B2C218AB}"/>
              </a:ext>
            </a:extLst>
          </p:cNvPr>
          <p:cNvSpPr>
            <a:spLocks xmlns:a="http://schemas.openxmlformats.org/drawingml/2006/main" noGrp="1"/>
          </p:cNvSpPr>
          <p:nvPr/>
        </p:nvSpPr>
        <p:spPr>
          <a:xfrm xmlns:a="http://schemas.openxmlformats.org/drawingml/2006/main">
            <a:off x="65532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Course emphasis</a:t>
            </a:r>
          </a:p>
        </p:txBody>
      </p:sp>
      <p:sp>
        <p:nvSpPr>
          <p:cNvPr id="10" name="">
            <a:extLst xmlns:a="http://schemas.openxmlformats.org/drawingml/2006/main">
              <a:ext uri="{FF2B5EF4-FFF2-40B4-BE49-F238E27FC236}">
                <a16:creationId xmlns:a16="http://schemas.microsoft.com/office/drawing/2014/main" id="{A94A8AEF-7BAD-41D6-BD73-2CFCD870F5D0}"/>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5814D5F-4319-4A86-8EC6-537FA30E8A16}"/>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2A09C80E-CB51-4EC3-9532-BC91449D78A4}"/>
              </a:ext>
            </a:extLst>
          </p:cNvPr>
          <p:cNvSpPr>
            <a:spLocks xmlns:a="http://schemas.openxmlformats.org/drawingml/2006/main" noGrp="1"/>
          </p:cNvSpPr>
          <p:nvPr/>
        </p:nvSpPr>
        <p:spPr>
          <a:xfrm xmlns:a="http://schemas.openxmlformats.org/drawingml/2006/main">
            <a:off x="12573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Python scripting and virtual environments</a:t>
            </a:r>
          </a:p>
        </p:txBody>
      </p:sp>
      <p:sp>
        <p:nvSpPr>
          <p:cNvPr id="13" name="">
            <a:extLst xmlns:a="http://schemas.openxmlformats.org/drawingml/2006/main">
              <a:ext uri="{FF2B5EF4-FFF2-40B4-BE49-F238E27FC236}">
                <a16:creationId xmlns:a16="http://schemas.microsoft.com/office/drawing/2014/main" id="{C8F37D1A-CB81-4616-A20B-3C5D86651D10}"/>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4C42349-C193-4B7A-807B-B5EB87543084}"/>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501EFB6B-FB11-4C5F-84B7-E386826E36C9}"/>
              </a:ext>
            </a:extLst>
          </p:cNvPr>
          <p:cNvSpPr>
            <a:spLocks xmlns:a="http://schemas.openxmlformats.org/drawingml/2006/main" noGrp="1"/>
          </p:cNvSpPr>
          <p:nvPr/>
        </p:nvSpPr>
        <p:spPr>
          <a:xfrm xmlns:a="http://schemas.openxmlformats.org/drawingml/2006/main">
            <a:off x="12573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REST APIs and structured data</a:t>
            </a:r>
          </a:p>
        </p:txBody>
      </p:sp>
      <p:sp>
        <p:nvSpPr>
          <p:cNvPr id="16" name="">
            <a:extLst xmlns:a="http://schemas.openxmlformats.org/drawingml/2006/main">
              <a:ext uri="{FF2B5EF4-FFF2-40B4-BE49-F238E27FC236}">
                <a16:creationId xmlns:a16="http://schemas.microsoft.com/office/drawing/2014/main" id="{64C2CBE4-9096-437F-995E-C3509AB1C951}"/>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D7DFCAA-CC75-4E56-9E3C-C741DFCC78A1}"/>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A3849983-CD66-4C0D-881B-B50E367A3056}"/>
              </a:ext>
            </a:extLst>
          </p:cNvPr>
          <p:cNvSpPr>
            <a:spLocks xmlns:a="http://schemas.openxmlformats.org/drawingml/2006/main" noGrp="1"/>
          </p:cNvSpPr>
          <p:nvPr/>
        </p:nvSpPr>
        <p:spPr>
          <a:xfrm xmlns:a="http://schemas.openxmlformats.org/drawingml/2006/main">
            <a:off x="12573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Ansible and network automation workflows</a:t>
            </a:r>
          </a:p>
        </p:txBody>
      </p:sp>
      <p:sp>
        <p:nvSpPr>
          <p:cNvPr id="19" name="">
            <a:extLst xmlns:a="http://schemas.openxmlformats.org/drawingml/2006/main">
              <a:ext uri="{FF2B5EF4-FFF2-40B4-BE49-F238E27FC236}">
                <a16:creationId xmlns:a16="http://schemas.microsoft.com/office/drawing/2014/main" id="{52629ACE-969A-410A-8D68-0D32F4E2DA4E}"/>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E8BB557-1BD3-47B1-A683-0D3F47F470E1}"/>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D1EDEF9F-80B4-4FC4-AF07-3A2B1DBAD3BC}"/>
              </a:ext>
            </a:extLst>
          </p:cNvPr>
          <p:cNvSpPr>
            <a:spLocks xmlns:a="http://schemas.openxmlformats.org/drawingml/2006/main" noGrp="1"/>
          </p:cNvSpPr>
          <p:nvPr/>
        </p:nvSpPr>
        <p:spPr>
          <a:xfrm xmlns:a="http://schemas.openxmlformats.org/drawingml/2006/main">
            <a:off x="12573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Git fundamentals and Linux command line</a:t>
            </a:r>
          </a:p>
        </p:txBody>
      </p:sp>
      <p:sp>
        <p:nvSpPr>
          <p:cNvPr id="22" name="">
            <a:extLst xmlns:a="http://schemas.openxmlformats.org/drawingml/2006/main">
              <a:ext uri="{FF2B5EF4-FFF2-40B4-BE49-F238E27FC236}">
                <a16:creationId xmlns:a16="http://schemas.microsoft.com/office/drawing/2014/main" id="{E2AF0A33-63A0-42E1-8066-4D216906DA8F}"/>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22DC9F2-9CAA-468D-B205-A26CD100762D}"/>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24" name="">
            <a:extLst xmlns:a="http://schemas.openxmlformats.org/drawingml/2006/main">
              <a:ext uri="{FF2B5EF4-FFF2-40B4-BE49-F238E27FC236}">
                <a16:creationId xmlns:a16="http://schemas.microsoft.com/office/drawing/2014/main" id="{D19B1C40-D3F9-41C7-B4D4-239D419FD660}"/>
              </a:ext>
            </a:extLst>
          </p:cNvPr>
          <p:cNvSpPr>
            <a:spLocks xmlns:a="http://schemas.openxmlformats.org/drawingml/2006/main" noGrp="1"/>
          </p:cNvSpPr>
          <p:nvPr/>
        </p:nvSpPr>
        <p:spPr>
          <a:xfrm xmlns:a="http://schemas.openxmlformats.org/drawingml/2006/main">
            <a:off x="71247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Team delivery practices</a:t>
            </a:r>
          </a:p>
        </p:txBody>
      </p:sp>
      <p:sp>
        <p:nvSpPr>
          <p:cNvPr id="25" name="">
            <a:extLst xmlns:a="http://schemas.openxmlformats.org/drawingml/2006/main">
              <a:ext uri="{FF2B5EF4-FFF2-40B4-BE49-F238E27FC236}">
                <a16:creationId xmlns:a16="http://schemas.microsoft.com/office/drawing/2014/main" id="{2E0D22F0-0134-42A6-AC9C-8C0D21C26C90}"/>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F0D589B-255D-4F46-9104-D78E43ED5E75}"/>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27" name="">
            <a:extLst xmlns:a="http://schemas.openxmlformats.org/drawingml/2006/main">
              <a:ext uri="{FF2B5EF4-FFF2-40B4-BE49-F238E27FC236}">
                <a16:creationId xmlns:a16="http://schemas.microsoft.com/office/drawing/2014/main" id="{41F912C8-2AF4-418B-BF98-A009A28AAB4F}"/>
              </a:ext>
            </a:extLst>
          </p:cNvPr>
          <p:cNvSpPr>
            <a:spLocks xmlns:a="http://schemas.openxmlformats.org/drawingml/2006/main" noGrp="1"/>
          </p:cNvSpPr>
          <p:nvPr/>
        </p:nvSpPr>
        <p:spPr>
          <a:xfrm xmlns:a="http://schemas.openxmlformats.org/drawingml/2006/main">
            <a:off x="71247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Repeatable infrastructure and runtime environments</a:t>
            </a:r>
          </a:p>
        </p:txBody>
      </p:sp>
      <p:sp>
        <p:nvSpPr>
          <p:cNvPr id="28" name="">
            <a:extLst xmlns:a="http://schemas.openxmlformats.org/drawingml/2006/main">
              <a:ext uri="{FF2B5EF4-FFF2-40B4-BE49-F238E27FC236}">
                <a16:creationId xmlns:a16="http://schemas.microsoft.com/office/drawing/2014/main" id="{F41DC1F2-3A63-4DF9-8519-260FDBFDED43}"/>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0871992D-3C48-4651-8E39-CC47AC10A0EF}"/>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30" name="">
            <a:extLst xmlns:a="http://schemas.openxmlformats.org/drawingml/2006/main">
              <a:ext uri="{FF2B5EF4-FFF2-40B4-BE49-F238E27FC236}">
                <a16:creationId xmlns:a16="http://schemas.microsoft.com/office/drawing/2014/main" id="{C1D411F8-4A3B-4423-ABD1-CD6CABB16043}"/>
              </a:ext>
            </a:extLst>
          </p:cNvPr>
          <p:cNvSpPr>
            <a:spLocks xmlns:a="http://schemas.openxmlformats.org/drawingml/2006/main" noGrp="1"/>
          </p:cNvSpPr>
          <p:nvPr/>
        </p:nvSpPr>
        <p:spPr>
          <a:xfrm xmlns:a="http://schemas.openxmlformats.org/drawingml/2006/main">
            <a:off x="71247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Controlled build, test, release, and deployment</a:t>
            </a:r>
          </a:p>
        </p:txBody>
      </p:sp>
      <p:sp>
        <p:nvSpPr>
          <p:cNvPr id="31" name="">
            <a:extLst xmlns:a="http://schemas.openxmlformats.org/drawingml/2006/main">
              <a:ext uri="{FF2B5EF4-FFF2-40B4-BE49-F238E27FC236}">
                <a16:creationId xmlns:a16="http://schemas.microsoft.com/office/drawing/2014/main" id="{9DA57E64-0C60-494A-B542-528CEB097667}"/>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A1585E1-C18F-4187-AE51-A34D668EBDFE}"/>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33" name="">
            <a:extLst xmlns:a="http://schemas.openxmlformats.org/drawingml/2006/main">
              <a:ext uri="{FF2B5EF4-FFF2-40B4-BE49-F238E27FC236}">
                <a16:creationId xmlns:a16="http://schemas.microsoft.com/office/drawing/2014/main" id="{92C81439-3009-42F6-BF1D-82A962EA8618}"/>
              </a:ext>
            </a:extLst>
          </p:cNvPr>
          <p:cNvSpPr>
            <a:spLocks xmlns:a="http://schemas.openxmlformats.org/drawingml/2006/main" noGrp="1"/>
          </p:cNvSpPr>
          <p:nvPr/>
        </p:nvSpPr>
        <p:spPr>
          <a:xfrm xmlns:a="http://schemas.openxmlformats.org/drawingml/2006/main">
            <a:off x="71247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Security evidence and operational feedback</a:t>
            </a:r>
          </a:p>
        </p:txBody>
      </p:sp>
    </p:spTree>
    <p:extLst>
      <p:ext uri="{BB962C8B-B14F-4D97-AF65-F5344CB8AC3E}">
        <p14:creationId xmlns:p14="http://schemas.microsoft.com/office/powerpoint/2010/main" val="17569675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6836DC6-F03B-484A-8912-96EFEB563666}"/>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2FE8250-037D-47E9-BF45-1DC97A420E95}"/>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C6237F7-6236-4EBF-9BF3-71551D0773B1}"/>
              </a:ext>
            </a:extLst>
          </p:cNvPr>
          <p:cNvSpPr>
            <a:spLocks xmlns:a="http://schemas.openxmlformats.org/drawingml/2006/main" noGrp="1"/>
          </p:cNvSpPr>
          <p:nvPr/>
        </p:nvSpPr>
        <p:spPr>
          <a:xfrm xmlns:a="http://schemas.openxmlformats.org/drawingml/2006/main">
            <a:off x="76200" y="0"/>
            <a:ext cx="26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6</a:t>
            </a:r>
          </a:p>
        </p:txBody>
      </p:sp>
      <p:sp>
        <p:nvSpPr>
          <p:cNvPr id="4" name="">
            <a:extLst xmlns:a="http://schemas.openxmlformats.org/drawingml/2006/main">
              <a:ext uri="{FF2B5EF4-FFF2-40B4-BE49-F238E27FC236}">
                <a16:creationId xmlns:a16="http://schemas.microsoft.com/office/drawing/2014/main" id="{6FC4859C-330C-4B36-B21A-1826A6CB4398}"/>
              </a:ext>
            </a:extLst>
          </p:cNvPr>
          <p:cNvSpPr>
            <a:spLocks xmlns:a="http://schemas.openxmlformats.org/drawingml/2006/main" noGrp="1"/>
          </p:cNvSpPr>
          <p:nvPr/>
        </p:nvSpPr>
        <p:spPr>
          <a:xfrm xmlns:a="http://schemas.openxmlformats.org/drawingml/2006/main">
            <a:off x="400050" y="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Course introduction</a:t>
            </a:r>
          </a:p>
        </p:txBody>
      </p:sp>
      <p:sp>
        <p:nvSpPr>
          <p:cNvPr id="5" name="">
            <a:extLst xmlns:a="http://schemas.openxmlformats.org/drawingml/2006/main">
              <a:ext uri="{FF2B5EF4-FFF2-40B4-BE49-F238E27FC236}">
                <a16:creationId xmlns:a16="http://schemas.microsoft.com/office/drawing/2014/main" id="{09136710-1478-4AC7-9134-03EBC2AA7CFB}"/>
              </a:ext>
            </a:extLst>
          </p:cNvPr>
          <p:cNvSpPr>
            <a:spLocks xmlns:a="http://schemas.openxmlformats.org/drawingml/2006/main" noGrp="1"/>
          </p:cNvSpPr>
          <p:nvPr/>
        </p:nvSpPr>
        <p:spPr>
          <a:xfrm xmlns:a="http://schemas.openxmlformats.org/drawingml/2006/main">
            <a:off x="457200" y="45720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775" b="1">
                <a:solidFill>
                  <a:srgbClr val="082B59"/>
                </a:solidFill>
                <a:latin typeface="Helvetica Neue"/>
                <a:ea typeface="Helvetica Neue"/>
                <a:cs typeface="Helvetica Neue"/>
              </a:defRPr>
            </a:pPr>
            <a:r>
              <a:rPr sz="2775" b="1">
                <a:solidFill>
                  <a:srgbClr val="082B59"/>
                </a:solidFill>
                <a:latin typeface="Helvetica Neue"/>
                <a:ea typeface="Helvetica Neue"/>
                <a:cs typeface="Helvetica Neue"/>
              </a:rPr>
              <a:t>Learning expectations</a:t>
            </a:r>
          </a:p>
        </p:txBody>
      </p:sp>
      <p:sp>
        <p:nvSpPr>
          <p:cNvPr id="6" name="">
            <a:extLst xmlns:a="http://schemas.openxmlformats.org/drawingml/2006/main">
              <a:ext uri="{FF2B5EF4-FFF2-40B4-BE49-F238E27FC236}">
                <a16:creationId xmlns:a16="http://schemas.microsoft.com/office/drawing/2014/main" id="{2883B5E5-E891-46C5-A9AA-548A29BEFED6}"/>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DE75FC2-32ED-47B6-A3D5-777F8B6FB8C7}"/>
              </a:ext>
            </a:extLst>
          </p:cNvPr>
          <p:cNvSpPr>
            <a:spLocks xmlns:a="http://schemas.openxmlformats.org/drawingml/2006/main" noGrp="1"/>
          </p:cNvSpPr>
          <p:nvPr/>
        </p:nvSpPr>
        <p:spPr>
          <a:xfrm xmlns:a="http://schemas.openxmlformats.org/drawingml/2006/main">
            <a:off x="6096000" y="1714500"/>
            <a:ext cx="19050" cy="4238625"/>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C240CF1-B831-4876-A3D3-C81A8662DB65}"/>
              </a:ext>
            </a:extLst>
          </p:cNvPr>
          <p:cNvSpPr>
            <a:spLocks xmlns:a="http://schemas.openxmlformats.org/drawingml/2006/main" noGrp="1"/>
          </p:cNvSpPr>
          <p:nvPr/>
        </p:nvSpPr>
        <p:spPr>
          <a:xfrm xmlns:a="http://schemas.openxmlformats.org/drawingml/2006/main">
            <a:off x="6858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During class</a:t>
            </a:r>
          </a:p>
        </p:txBody>
      </p:sp>
      <p:sp>
        <p:nvSpPr>
          <p:cNvPr id="9" name="">
            <a:extLst xmlns:a="http://schemas.openxmlformats.org/drawingml/2006/main">
              <a:ext uri="{FF2B5EF4-FFF2-40B4-BE49-F238E27FC236}">
                <a16:creationId xmlns:a16="http://schemas.microsoft.com/office/drawing/2014/main" id="{39445004-6001-4E88-B6AD-3677DF096939}"/>
              </a:ext>
            </a:extLst>
          </p:cNvPr>
          <p:cNvSpPr>
            <a:spLocks xmlns:a="http://schemas.openxmlformats.org/drawingml/2006/main" noGrp="1"/>
          </p:cNvSpPr>
          <p:nvPr/>
        </p:nvSpPr>
        <p:spPr>
          <a:xfrm xmlns:a="http://schemas.openxmlformats.org/drawingml/2006/main">
            <a:off x="65532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Working approach</a:t>
            </a:r>
          </a:p>
        </p:txBody>
      </p:sp>
      <p:sp>
        <p:nvSpPr>
          <p:cNvPr id="10" name="">
            <a:extLst xmlns:a="http://schemas.openxmlformats.org/drawingml/2006/main">
              <a:ext uri="{FF2B5EF4-FFF2-40B4-BE49-F238E27FC236}">
                <a16:creationId xmlns:a16="http://schemas.microsoft.com/office/drawing/2014/main" id="{054EC054-AADF-407F-8AC8-4271248C4A26}"/>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1B51452-83CA-4579-9D38-9096697FC6A0}"/>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819B48C0-605C-4F2C-809F-D61EB309843E}"/>
              </a:ext>
            </a:extLst>
          </p:cNvPr>
          <p:cNvSpPr>
            <a:spLocks xmlns:a="http://schemas.openxmlformats.org/drawingml/2006/main" noGrp="1"/>
          </p:cNvSpPr>
          <p:nvPr/>
        </p:nvSpPr>
        <p:spPr>
          <a:xfrm xmlns:a="http://schemas.openxmlformats.org/drawingml/2006/main">
            <a:off x="12573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Participate in technical discussions</a:t>
            </a:r>
          </a:p>
        </p:txBody>
      </p:sp>
      <p:sp>
        <p:nvSpPr>
          <p:cNvPr id="13" name="">
            <a:extLst xmlns:a="http://schemas.openxmlformats.org/drawingml/2006/main">
              <a:ext uri="{FF2B5EF4-FFF2-40B4-BE49-F238E27FC236}">
                <a16:creationId xmlns:a16="http://schemas.microsoft.com/office/drawing/2014/main" id="{E343A9DD-D237-42E9-9EE2-6E1A520412A6}"/>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AAC58D9-1179-4403-A010-1FA6BCF8930E}"/>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7D6D3C56-7E29-4BB9-9BF5-C280A636DF02}"/>
              </a:ext>
            </a:extLst>
          </p:cNvPr>
          <p:cNvSpPr>
            <a:spLocks xmlns:a="http://schemas.openxmlformats.org/drawingml/2006/main" noGrp="1"/>
          </p:cNvSpPr>
          <p:nvPr/>
        </p:nvSpPr>
        <p:spPr>
          <a:xfrm xmlns:a="http://schemas.openxmlformats.org/drawingml/2006/main">
            <a:off x="12573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Use the assigned learner identity and resource range</a:t>
            </a:r>
          </a:p>
        </p:txBody>
      </p:sp>
      <p:sp>
        <p:nvSpPr>
          <p:cNvPr id="16" name="">
            <a:extLst xmlns:a="http://schemas.openxmlformats.org/drawingml/2006/main">
              <a:ext uri="{FF2B5EF4-FFF2-40B4-BE49-F238E27FC236}">
                <a16:creationId xmlns:a16="http://schemas.microsoft.com/office/drawing/2014/main" id="{20909EF7-98D9-4DCB-A00F-252F25CE9019}"/>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96812AA-FBAD-4B21-A823-08322020A003}"/>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F8BA537E-9353-4921-BA8F-EA000BEC4694}"/>
              </a:ext>
            </a:extLst>
          </p:cNvPr>
          <p:cNvSpPr>
            <a:spLocks xmlns:a="http://schemas.openxmlformats.org/drawingml/2006/main" noGrp="1"/>
          </p:cNvSpPr>
          <p:nvPr/>
        </p:nvSpPr>
        <p:spPr>
          <a:xfrm xmlns:a="http://schemas.openxmlformats.org/drawingml/2006/main">
            <a:off x="12573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Keep evidence from tests and deployments</a:t>
            </a:r>
          </a:p>
        </p:txBody>
      </p:sp>
      <p:sp>
        <p:nvSpPr>
          <p:cNvPr id="19" name="">
            <a:extLst xmlns:a="http://schemas.openxmlformats.org/drawingml/2006/main">
              <a:ext uri="{FF2B5EF4-FFF2-40B4-BE49-F238E27FC236}">
                <a16:creationId xmlns:a16="http://schemas.microsoft.com/office/drawing/2014/main" id="{21A146DA-9BDD-4515-9D54-7C99B3540169}"/>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9DCE8B5-68A7-4B9F-96AC-B1046443C90B}"/>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D03B89F0-43F5-44AA-9193-EF70394368AB}"/>
              </a:ext>
            </a:extLst>
          </p:cNvPr>
          <p:cNvSpPr>
            <a:spLocks xmlns:a="http://schemas.openxmlformats.org/drawingml/2006/main" noGrp="1"/>
          </p:cNvSpPr>
          <p:nvPr/>
        </p:nvSpPr>
        <p:spPr>
          <a:xfrm xmlns:a="http://schemas.openxmlformats.org/drawingml/2006/main">
            <a:off x="12573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Ask questions when observed behavior differs from intent</a:t>
            </a:r>
          </a:p>
        </p:txBody>
      </p:sp>
      <p:sp>
        <p:nvSpPr>
          <p:cNvPr id="22" name="">
            <a:extLst xmlns:a="http://schemas.openxmlformats.org/drawingml/2006/main">
              <a:ext uri="{FF2B5EF4-FFF2-40B4-BE49-F238E27FC236}">
                <a16:creationId xmlns:a16="http://schemas.microsoft.com/office/drawing/2014/main" id="{CFD0E781-8F0B-491A-BCAA-B080D3E6A048}"/>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2282277-2881-4A2B-9AE1-1BC28E123ED8}"/>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24" name="">
            <a:extLst xmlns:a="http://schemas.openxmlformats.org/drawingml/2006/main">
              <a:ext uri="{FF2B5EF4-FFF2-40B4-BE49-F238E27FC236}">
                <a16:creationId xmlns:a16="http://schemas.microsoft.com/office/drawing/2014/main" id="{EB0D7BD4-426B-4ACA-BCE6-602A061AE45A}"/>
              </a:ext>
            </a:extLst>
          </p:cNvPr>
          <p:cNvSpPr>
            <a:spLocks xmlns:a="http://schemas.openxmlformats.org/drawingml/2006/main" noGrp="1"/>
          </p:cNvSpPr>
          <p:nvPr/>
        </p:nvSpPr>
        <p:spPr>
          <a:xfrm xmlns:a="http://schemas.openxmlformats.org/drawingml/2006/main">
            <a:off x="71247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Read the task before changing the environment</a:t>
            </a:r>
          </a:p>
        </p:txBody>
      </p:sp>
      <p:sp>
        <p:nvSpPr>
          <p:cNvPr id="25" name="">
            <a:extLst xmlns:a="http://schemas.openxmlformats.org/drawingml/2006/main">
              <a:ext uri="{FF2B5EF4-FFF2-40B4-BE49-F238E27FC236}">
                <a16:creationId xmlns:a16="http://schemas.microsoft.com/office/drawing/2014/main" id="{4715624A-B60D-4C90-823F-DAADE271156B}"/>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E285334-2C79-4C9E-A3CD-DF06646DCD86}"/>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27" name="">
            <a:extLst xmlns:a="http://schemas.openxmlformats.org/drawingml/2006/main">
              <a:ext uri="{FF2B5EF4-FFF2-40B4-BE49-F238E27FC236}">
                <a16:creationId xmlns:a16="http://schemas.microsoft.com/office/drawing/2014/main" id="{8BBB3EC8-6289-4C48-8F80-C927FD08456C}"/>
              </a:ext>
            </a:extLst>
          </p:cNvPr>
          <p:cNvSpPr>
            <a:spLocks xmlns:a="http://schemas.openxmlformats.org/drawingml/2006/main" noGrp="1"/>
          </p:cNvSpPr>
          <p:nvPr/>
        </p:nvSpPr>
        <p:spPr>
          <a:xfrm xmlns:a="http://schemas.openxmlformats.org/drawingml/2006/main">
            <a:off x="71247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Validate each boundary before continuing</a:t>
            </a:r>
          </a:p>
        </p:txBody>
      </p:sp>
      <p:sp>
        <p:nvSpPr>
          <p:cNvPr id="28" name="">
            <a:extLst xmlns:a="http://schemas.openxmlformats.org/drawingml/2006/main">
              <a:ext uri="{FF2B5EF4-FFF2-40B4-BE49-F238E27FC236}">
                <a16:creationId xmlns:a16="http://schemas.microsoft.com/office/drawing/2014/main" id="{5CF4778D-7D87-4856-A5C5-B2D3FA59ABEE}"/>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D678E46-95F2-41A6-B6E6-531BACBAA98D}"/>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30" name="">
            <a:extLst xmlns:a="http://schemas.openxmlformats.org/drawingml/2006/main">
              <a:ext uri="{FF2B5EF4-FFF2-40B4-BE49-F238E27FC236}">
                <a16:creationId xmlns:a16="http://schemas.microsoft.com/office/drawing/2014/main" id="{66C5610E-1371-4B61-9CF3-A7EB3A530636}"/>
              </a:ext>
            </a:extLst>
          </p:cNvPr>
          <p:cNvSpPr>
            <a:spLocks xmlns:a="http://schemas.openxmlformats.org/drawingml/2006/main" noGrp="1"/>
          </p:cNvSpPr>
          <p:nvPr/>
        </p:nvSpPr>
        <p:spPr>
          <a:xfrm xmlns:a="http://schemas.openxmlformats.org/drawingml/2006/main">
            <a:off x="71247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Record assumptions and results</a:t>
            </a:r>
          </a:p>
        </p:txBody>
      </p:sp>
      <p:sp>
        <p:nvSpPr>
          <p:cNvPr id="31" name="">
            <a:extLst xmlns:a="http://schemas.openxmlformats.org/drawingml/2006/main">
              <a:ext uri="{FF2B5EF4-FFF2-40B4-BE49-F238E27FC236}">
                <a16:creationId xmlns:a16="http://schemas.microsoft.com/office/drawing/2014/main" id="{EBED86D9-7A0D-4BA2-A9B2-D8CB7B87480B}"/>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F894C283-202F-4AED-9516-7E55E2300F67}"/>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33" name="">
            <a:extLst xmlns:a="http://schemas.openxmlformats.org/drawingml/2006/main">
              <a:ext uri="{FF2B5EF4-FFF2-40B4-BE49-F238E27FC236}">
                <a16:creationId xmlns:a16="http://schemas.microsoft.com/office/drawing/2014/main" id="{CDC80587-D7A3-4772-A47B-F69A84D69A2F}"/>
              </a:ext>
            </a:extLst>
          </p:cNvPr>
          <p:cNvSpPr>
            <a:spLocks xmlns:a="http://schemas.openxmlformats.org/drawingml/2006/main" noGrp="1"/>
          </p:cNvSpPr>
          <p:nvPr/>
        </p:nvSpPr>
        <p:spPr>
          <a:xfrm xmlns:a="http://schemas.openxmlformats.org/drawingml/2006/main">
            <a:off x="71247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Restore shared resources after use</a:t>
            </a:r>
          </a:p>
        </p:txBody>
      </p:sp>
    </p:spTree>
    <p:extLst>
      <p:ext uri="{BB962C8B-B14F-4D97-AF65-F5344CB8AC3E}">
        <p14:creationId xmlns:p14="http://schemas.microsoft.com/office/powerpoint/2010/main" val="28344721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F65B444-0361-45A7-B400-F2148BCB7D6A}"/>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8ABBC2-0624-4406-9751-8B9A6ECCA699}"/>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16C5528-FDF3-4042-B72D-157D4989BC5D}"/>
              </a:ext>
            </a:extLst>
          </p:cNvPr>
          <p:cNvSpPr>
            <a:spLocks xmlns:a="http://schemas.openxmlformats.org/drawingml/2006/main" noGrp="1"/>
          </p:cNvSpPr>
          <p:nvPr/>
        </p:nvSpPr>
        <p:spPr>
          <a:xfrm xmlns:a="http://schemas.openxmlformats.org/drawingml/2006/main">
            <a:off x="76200" y="0"/>
            <a:ext cx="26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7</a:t>
            </a:r>
          </a:p>
        </p:txBody>
      </p:sp>
      <p:sp>
        <p:nvSpPr>
          <p:cNvPr id="4" name="">
            <a:extLst xmlns:a="http://schemas.openxmlformats.org/drawingml/2006/main">
              <a:ext uri="{FF2B5EF4-FFF2-40B4-BE49-F238E27FC236}">
                <a16:creationId xmlns:a16="http://schemas.microsoft.com/office/drawing/2014/main" id="{0FDB9DBC-21FA-442E-AEBC-02E2C8175758}"/>
              </a:ext>
            </a:extLst>
          </p:cNvPr>
          <p:cNvSpPr>
            <a:spLocks xmlns:a="http://schemas.openxmlformats.org/drawingml/2006/main" noGrp="1"/>
          </p:cNvSpPr>
          <p:nvPr/>
        </p:nvSpPr>
        <p:spPr>
          <a:xfrm xmlns:a="http://schemas.openxmlformats.org/drawingml/2006/main">
            <a:off x="400050" y="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Course introduction</a:t>
            </a:r>
          </a:p>
        </p:txBody>
      </p:sp>
      <p:sp>
        <p:nvSpPr>
          <p:cNvPr id="5" name="">
            <a:extLst xmlns:a="http://schemas.openxmlformats.org/drawingml/2006/main">
              <a:ext uri="{FF2B5EF4-FFF2-40B4-BE49-F238E27FC236}">
                <a16:creationId xmlns:a16="http://schemas.microsoft.com/office/drawing/2014/main" id="{6542E61D-2EE9-47D1-A1D7-6F22639997F9}"/>
              </a:ext>
            </a:extLst>
          </p:cNvPr>
          <p:cNvSpPr>
            <a:spLocks xmlns:a="http://schemas.openxmlformats.org/drawingml/2006/main" noGrp="1"/>
          </p:cNvSpPr>
          <p:nvPr/>
        </p:nvSpPr>
        <p:spPr>
          <a:xfrm xmlns:a="http://schemas.openxmlformats.org/drawingml/2006/main">
            <a:off x="457200" y="45720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775" b="1">
                <a:solidFill>
                  <a:srgbClr val="082B59"/>
                </a:solidFill>
                <a:latin typeface="Helvetica Neue"/>
                <a:ea typeface="Helvetica Neue"/>
                <a:cs typeface="Helvetica Neue"/>
              </a:defRPr>
            </a:pPr>
            <a:r>
              <a:rPr sz="2775" b="1">
                <a:solidFill>
                  <a:srgbClr val="082B59"/>
                </a:solidFill>
                <a:latin typeface="Helvetica Neue"/>
                <a:ea typeface="Helvetica Neue"/>
                <a:cs typeface="Helvetica Neue"/>
              </a:rPr>
              <a:t>Knowledge gained</a:t>
            </a:r>
          </a:p>
        </p:txBody>
      </p:sp>
      <p:sp>
        <p:nvSpPr>
          <p:cNvPr id="6" name="">
            <a:extLst xmlns:a="http://schemas.openxmlformats.org/drawingml/2006/main">
              <a:ext uri="{FF2B5EF4-FFF2-40B4-BE49-F238E27FC236}">
                <a16:creationId xmlns:a16="http://schemas.microsoft.com/office/drawing/2014/main" id="{DEA99B2F-E108-4E0D-BA29-44A62D047647}"/>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BD02FB3-CC79-44A9-A889-87CDD27A6EC2}"/>
              </a:ext>
            </a:extLst>
          </p:cNvPr>
          <p:cNvSpPr>
            <a:spLocks xmlns:a="http://schemas.openxmlformats.org/drawingml/2006/main" noGrp="1"/>
          </p:cNvSpPr>
          <p:nvPr/>
        </p:nvSpPr>
        <p:spPr>
          <a:xfrm xmlns:a="http://schemas.openxmlformats.org/drawingml/2006/main">
            <a:off x="685800" y="1571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875" b="0">
                <a:solidFill>
                  <a:srgbClr val="5F758B"/>
                </a:solidFill>
                <a:latin typeface="Helvetica Neue"/>
                <a:ea typeface="Helvetica Neue"/>
                <a:cs typeface="Helvetica Neue"/>
              </a:defRPr>
            </a:pPr>
            <a:r>
              <a:rPr sz="1875" b="0">
                <a:solidFill>
                  <a:srgbClr val="5F758B"/>
                </a:solidFill>
                <a:latin typeface="Helvetica Neue"/>
                <a:ea typeface="Helvetica Neue"/>
                <a:cs typeface="Helvetica Neue"/>
              </a:rPr>
              <a:t>By the end of the course, learners can explain and apply the complete delivery path for a containerized automation service.</a:t>
            </a:r>
          </a:p>
        </p:txBody>
      </p:sp>
      <p:sp>
        <p:nvSpPr>
          <p:cNvPr id="8" name="">
            <a:extLst xmlns:a="http://schemas.openxmlformats.org/drawingml/2006/main">
              <a:ext uri="{FF2B5EF4-FFF2-40B4-BE49-F238E27FC236}">
                <a16:creationId xmlns:a16="http://schemas.microsoft.com/office/drawing/2014/main" id="{F143E77B-736D-4E3B-BDA2-DA2FC526ADFA}"/>
              </a:ext>
            </a:extLst>
          </p:cNvPr>
          <p:cNvSpPr>
            <a:spLocks xmlns:a="http://schemas.openxmlformats.org/drawingml/2006/main" noGrp="1"/>
          </p:cNvSpPr>
          <p:nvPr/>
        </p:nvSpPr>
        <p:spPr>
          <a:xfrm xmlns:a="http://schemas.openxmlformats.org/drawingml/2006/main">
            <a:off x="742950" y="2543175"/>
            <a:ext cx="66675" cy="361950"/>
          </a:xfrm>
          <a:prstGeom xmlns:a="http://schemas.openxmlformats.org/drawingml/2006/main" prst="roundRect">
            <a:avLst>
              <a:gd name="adj" fmla="val 50000"/>
            </a:avLst>
          </a:prstGeom>
          <a:solidFill xmlns:a="http://schemas.openxmlformats.org/drawingml/2006/main">
            <a:srgbClr val="F28C2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01581DD-F5EA-4202-8D9D-6AD3B94AFD85}"/>
              </a:ext>
            </a:extLst>
          </p:cNvPr>
          <p:cNvSpPr>
            <a:spLocks xmlns:a="http://schemas.openxmlformats.org/drawingml/2006/main" noGrp="1"/>
          </p:cNvSpPr>
          <p:nvPr/>
        </p:nvSpPr>
        <p:spPr>
          <a:xfrm xmlns:a="http://schemas.openxmlformats.org/drawingml/2006/main">
            <a:off x="971550" y="247650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Select ownership boundaries for Terraform, Ansible, Docker, and Kubernetes</a:t>
            </a:r>
          </a:p>
        </p:txBody>
      </p:sp>
      <p:sp>
        <p:nvSpPr>
          <p:cNvPr id="10" name="">
            <a:extLst xmlns:a="http://schemas.openxmlformats.org/drawingml/2006/main">
              <a:ext uri="{FF2B5EF4-FFF2-40B4-BE49-F238E27FC236}">
                <a16:creationId xmlns:a16="http://schemas.microsoft.com/office/drawing/2014/main" id="{CCAEC71A-704E-4A29-9755-8634C80DDB01}"/>
              </a:ext>
            </a:extLst>
          </p:cNvPr>
          <p:cNvSpPr>
            <a:spLocks xmlns:a="http://schemas.openxmlformats.org/drawingml/2006/main" noGrp="1"/>
          </p:cNvSpPr>
          <p:nvPr/>
        </p:nvSpPr>
        <p:spPr>
          <a:xfrm xmlns:a="http://schemas.openxmlformats.org/drawingml/2006/main">
            <a:off x="742950" y="3152775"/>
            <a:ext cx="66675" cy="361950"/>
          </a:xfrm>
          <a:prstGeom xmlns:a="http://schemas.openxmlformats.org/drawingml/2006/main" prst="roundRect">
            <a:avLst>
              <a:gd name="adj" fmla="val 50000"/>
            </a:avLst>
          </a:prstGeom>
          <a:solidFill xmlns:a="http://schemas.openxmlformats.org/drawingml/2006/main">
            <a:srgbClr val="21A8D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2D5DDEA-7179-4B7D-B410-DD0CCA140429}"/>
              </a:ext>
            </a:extLst>
          </p:cNvPr>
          <p:cNvSpPr>
            <a:spLocks xmlns:a="http://schemas.openxmlformats.org/drawingml/2006/main" noGrp="1"/>
          </p:cNvSpPr>
          <p:nvPr/>
        </p:nvSpPr>
        <p:spPr>
          <a:xfrm xmlns:a="http://schemas.openxmlformats.org/drawingml/2006/main">
            <a:off x="971550" y="308610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Design GitLab pipelines with meaningful validation and promotion gates</a:t>
            </a:r>
          </a:p>
        </p:txBody>
      </p:sp>
      <p:sp>
        <p:nvSpPr>
          <p:cNvPr id="12" name="">
            <a:extLst xmlns:a="http://schemas.openxmlformats.org/drawingml/2006/main">
              <a:ext uri="{FF2B5EF4-FFF2-40B4-BE49-F238E27FC236}">
                <a16:creationId xmlns:a16="http://schemas.microsoft.com/office/drawing/2014/main" id="{29A29C28-471B-4427-9EF9-29AE21A38EB4}"/>
              </a:ext>
            </a:extLst>
          </p:cNvPr>
          <p:cNvSpPr>
            <a:spLocks xmlns:a="http://schemas.openxmlformats.org/drawingml/2006/main" noGrp="1"/>
          </p:cNvSpPr>
          <p:nvPr/>
        </p:nvSpPr>
        <p:spPr>
          <a:xfrm xmlns:a="http://schemas.openxmlformats.org/drawingml/2006/main">
            <a:off x="742950" y="3762375"/>
            <a:ext cx="66675" cy="361950"/>
          </a:xfrm>
          <a:prstGeom xmlns:a="http://schemas.openxmlformats.org/drawingml/2006/main" prst="roundRect">
            <a:avLst>
              <a:gd name="adj" fmla="val 50000"/>
            </a:avLst>
          </a:prstGeom>
          <a:solidFill xmlns:a="http://schemas.openxmlformats.org/drawingml/2006/main">
            <a:srgbClr val="F28C2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E27742B-0973-48CD-B2BF-3AA570112941}"/>
              </a:ext>
            </a:extLst>
          </p:cNvPr>
          <p:cNvSpPr>
            <a:spLocks xmlns:a="http://schemas.openxmlformats.org/drawingml/2006/main" noGrp="1"/>
          </p:cNvSpPr>
          <p:nvPr/>
        </p:nvSpPr>
        <p:spPr>
          <a:xfrm xmlns:a="http://schemas.openxmlformats.org/drawingml/2006/main">
            <a:off x="971550" y="369570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Protect credentials and runner trust boundaries</a:t>
            </a:r>
          </a:p>
        </p:txBody>
      </p:sp>
      <p:sp>
        <p:nvSpPr>
          <p:cNvPr id="14" name="">
            <a:extLst xmlns:a="http://schemas.openxmlformats.org/drawingml/2006/main">
              <a:ext uri="{FF2B5EF4-FFF2-40B4-BE49-F238E27FC236}">
                <a16:creationId xmlns:a16="http://schemas.microsoft.com/office/drawing/2014/main" id="{B0226837-A1BF-4D5F-A72A-D498E7F22C1C}"/>
              </a:ext>
            </a:extLst>
          </p:cNvPr>
          <p:cNvSpPr>
            <a:spLocks xmlns:a="http://schemas.openxmlformats.org/drawingml/2006/main" noGrp="1"/>
          </p:cNvSpPr>
          <p:nvPr/>
        </p:nvSpPr>
        <p:spPr>
          <a:xfrm xmlns:a="http://schemas.openxmlformats.org/drawingml/2006/main">
            <a:off x="742950" y="4371975"/>
            <a:ext cx="66675" cy="361950"/>
          </a:xfrm>
          <a:prstGeom xmlns:a="http://schemas.openxmlformats.org/drawingml/2006/main" prst="roundRect">
            <a:avLst>
              <a:gd name="adj" fmla="val 50000"/>
            </a:avLst>
          </a:prstGeom>
          <a:solidFill xmlns:a="http://schemas.openxmlformats.org/drawingml/2006/main">
            <a:srgbClr val="21A8D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C9A56C7-5C4E-4F0D-85DF-9FE1C3638FE4}"/>
              </a:ext>
            </a:extLst>
          </p:cNvPr>
          <p:cNvSpPr>
            <a:spLocks xmlns:a="http://schemas.openxmlformats.org/drawingml/2006/main" noGrp="1"/>
          </p:cNvSpPr>
          <p:nvPr/>
        </p:nvSpPr>
        <p:spPr>
          <a:xfrm xmlns:a="http://schemas.openxmlformats.org/drawingml/2006/main">
            <a:off x="971550" y="430530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Use logs, metrics, dashboards, and alerts to evaluate service behavior</a:t>
            </a:r>
          </a:p>
        </p:txBody>
      </p:sp>
    </p:spTree>
    <p:extLst>
      <p:ext uri="{BB962C8B-B14F-4D97-AF65-F5344CB8AC3E}">
        <p14:creationId xmlns:p14="http://schemas.microsoft.com/office/powerpoint/2010/main" val="139067682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0182909-95D4-41EF-AB89-4BEEDDD4DE16}"/>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5E03023-7E25-4425-BB72-214DB591AEC6}"/>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6B6960E-5945-4775-A04C-415B3AC2293C}"/>
              </a:ext>
            </a:extLst>
          </p:cNvPr>
          <p:cNvSpPr>
            <a:spLocks xmlns:a="http://schemas.openxmlformats.org/drawingml/2006/main" noGrp="1"/>
          </p:cNvSpPr>
          <p:nvPr/>
        </p:nvSpPr>
        <p:spPr>
          <a:xfrm xmlns:a="http://schemas.openxmlformats.org/drawingml/2006/main">
            <a:off x="76200" y="0"/>
            <a:ext cx="26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8</a:t>
            </a:r>
          </a:p>
        </p:txBody>
      </p:sp>
      <p:sp>
        <p:nvSpPr>
          <p:cNvPr id="4" name="">
            <a:extLst xmlns:a="http://schemas.openxmlformats.org/drawingml/2006/main">
              <a:ext uri="{FF2B5EF4-FFF2-40B4-BE49-F238E27FC236}">
                <a16:creationId xmlns:a16="http://schemas.microsoft.com/office/drawing/2014/main" id="{C914BF05-3B38-4E5F-BCC8-D956FFF69CAE}"/>
              </a:ext>
            </a:extLst>
          </p:cNvPr>
          <p:cNvSpPr>
            <a:spLocks xmlns:a="http://schemas.openxmlformats.org/drawingml/2006/main" noGrp="1"/>
          </p:cNvSpPr>
          <p:nvPr/>
        </p:nvSpPr>
        <p:spPr>
          <a:xfrm xmlns:a="http://schemas.openxmlformats.org/drawingml/2006/main">
            <a:off x="400050" y="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Course introduction</a:t>
            </a:r>
          </a:p>
        </p:txBody>
      </p:sp>
      <p:sp>
        <p:nvSpPr>
          <p:cNvPr id="5" name="">
            <a:extLst xmlns:a="http://schemas.openxmlformats.org/drawingml/2006/main">
              <a:ext uri="{FF2B5EF4-FFF2-40B4-BE49-F238E27FC236}">
                <a16:creationId xmlns:a16="http://schemas.microsoft.com/office/drawing/2014/main" id="{38C76A5B-AC08-479D-AA18-3FD8CE6B3077}"/>
              </a:ext>
            </a:extLst>
          </p:cNvPr>
          <p:cNvSpPr>
            <a:spLocks xmlns:a="http://schemas.openxmlformats.org/drawingml/2006/main" noGrp="1"/>
          </p:cNvSpPr>
          <p:nvPr/>
        </p:nvSpPr>
        <p:spPr>
          <a:xfrm xmlns:a="http://schemas.openxmlformats.org/drawingml/2006/main">
            <a:off x="457200" y="45720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775" b="1">
                <a:solidFill>
                  <a:srgbClr val="082B59"/>
                </a:solidFill>
                <a:latin typeface="Helvetica Neue"/>
                <a:ea typeface="Helvetica Neue"/>
                <a:cs typeface="Helvetica Neue"/>
              </a:defRPr>
            </a:pPr>
            <a:r>
              <a:rPr sz="2775" b="1">
                <a:solidFill>
                  <a:srgbClr val="082B59"/>
                </a:solidFill>
                <a:latin typeface="Helvetica Neue"/>
                <a:ea typeface="Helvetica Neue"/>
                <a:cs typeface="Helvetica Neue"/>
              </a:rPr>
              <a:t>Course application</a:t>
            </a:r>
          </a:p>
        </p:txBody>
      </p:sp>
      <p:sp>
        <p:nvSpPr>
          <p:cNvPr id="6" name="">
            <a:extLst xmlns:a="http://schemas.openxmlformats.org/drawingml/2006/main">
              <a:ext uri="{FF2B5EF4-FFF2-40B4-BE49-F238E27FC236}">
                <a16:creationId xmlns:a16="http://schemas.microsoft.com/office/drawing/2014/main" id="{103CBFEC-238E-40CD-9B42-1D6B2AB75EE2}"/>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BACF55C-3C78-474B-9421-F5274D4736E4}"/>
              </a:ext>
            </a:extLst>
          </p:cNvPr>
          <p:cNvSpPr>
            <a:spLocks xmlns:a="http://schemas.openxmlformats.org/drawingml/2006/main" noGrp="1"/>
          </p:cNvSpPr>
          <p:nvPr/>
        </p:nvSpPr>
        <p:spPr>
          <a:xfrm xmlns:a="http://schemas.openxmlformats.org/drawingml/2006/main">
            <a:off x="6096000" y="1714500"/>
            <a:ext cx="19050" cy="4238625"/>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FDD9C9B-7E6F-42E9-AE74-E4689EE658C0}"/>
              </a:ext>
            </a:extLst>
          </p:cNvPr>
          <p:cNvSpPr>
            <a:spLocks xmlns:a="http://schemas.openxmlformats.org/drawingml/2006/main" noGrp="1"/>
          </p:cNvSpPr>
          <p:nvPr/>
        </p:nvSpPr>
        <p:spPr>
          <a:xfrm xmlns:a="http://schemas.openxmlformats.org/drawingml/2006/main">
            <a:off x="6858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Application capabilities</a:t>
            </a:r>
          </a:p>
        </p:txBody>
      </p:sp>
      <p:sp>
        <p:nvSpPr>
          <p:cNvPr id="9" name="">
            <a:extLst xmlns:a="http://schemas.openxmlformats.org/drawingml/2006/main">
              <a:ext uri="{FF2B5EF4-FFF2-40B4-BE49-F238E27FC236}">
                <a16:creationId xmlns:a16="http://schemas.microsoft.com/office/drawing/2014/main" id="{97D95F6A-C2E2-49E1-90F8-8AC170681DC0}"/>
              </a:ext>
            </a:extLst>
          </p:cNvPr>
          <p:cNvSpPr>
            <a:spLocks xmlns:a="http://schemas.openxmlformats.org/drawingml/2006/main" noGrp="1"/>
          </p:cNvSpPr>
          <p:nvPr/>
        </p:nvSpPr>
        <p:spPr>
          <a:xfrm xmlns:a="http://schemas.openxmlformats.org/drawingml/2006/main">
            <a:off x="65532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Delivery capabilities</a:t>
            </a:r>
          </a:p>
        </p:txBody>
      </p:sp>
      <p:sp>
        <p:nvSpPr>
          <p:cNvPr id="10" name="">
            <a:extLst xmlns:a="http://schemas.openxmlformats.org/drawingml/2006/main">
              <a:ext uri="{FF2B5EF4-FFF2-40B4-BE49-F238E27FC236}">
                <a16:creationId xmlns:a16="http://schemas.microsoft.com/office/drawing/2014/main" id="{130FB026-1C93-43F6-85C1-9DED087ADED0}"/>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A2D3169-A164-428B-8E12-9F9008AE0799}"/>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6B724F4C-C7A8-4222-BA5D-1FFCC5D49AC1}"/>
              </a:ext>
            </a:extLst>
          </p:cNvPr>
          <p:cNvSpPr>
            <a:spLocks xmlns:a="http://schemas.openxmlformats.org/drawingml/2006/main" noGrp="1"/>
          </p:cNvSpPr>
          <p:nvPr/>
        </p:nvSpPr>
        <p:spPr>
          <a:xfrm xmlns:a="http://schemas.openxmlformats.org/drawingml/2006/main">
            <a:off x="12573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Collect operational data through APIs</a:t>
            </a:r>
          </a:p>
        </p:txBody>
      </p:sp>
      <p:sp>
        <p:nvSpPr>
          <p:cNvPr id="13" name="">
            <a:extLst xmlns:a="http://schemas.openxmlformats.org/drawingml/2006/main">
              <a:ext uri="{FF2B5EF4-FFF2-40B4-BE49-F238E27FC236}">
                <a16:creationId xmlns:a16="http://schemas.microsoft.com/office/drawing/2014/main" id="{D4146F27-C1C6-4C47-8C28-ABB0351E0BE9}"/>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21CBB01-3FFC-49A6-903F-71A3A120EA57}"/>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BE475868-11B3-450E-B134-CB92A1902DC1}"/>
              </a:ext>
            </a:extLst>
          </p:cNvPr>
          <p:cNvSpPr>
            <a:spLocks xmlns:a="http://schemas.openxmlformats.org/drawingml/2006/main" noGrp="1"/>
          </p:cNvSpPr>
          <p:nvPr/>
        </p:nvSpPr>
        <p:spPr>
          <a:xfrm xmlns:a="http://schemas.openxmlformats.org/drawingml/2006/main">
            <a:off x="12573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Present service information through a web interface</a:t>
            </a:r>
          </a:p>
        </p:txBody>
      </p:sp>
      <p:sp>
        <p:nvSpPr>
          <p:cNvPr id="16" name="">
            <a:extLst xmlns:a="http://schemas.openxmlformats.org/drawingml/2006/main">
              <a:ext uri="{FF2B5EF4-FFF2-40B4-BE49-F238E27FC236}">
                <a16:creationId xmlns:a16="http://schemas.microsoft.com/office/drawing/2014/main" id="{6610DD5D-7541-42AF-993D-6C51E199B285}"/>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B6FD0BA-D383-487D-B6F7-D5E56A25D096}"/>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4B54CDDF-F7E0-4A4B-82D7-6C8F670E0E91}"/>
              </a:ext>
            </a:extLst>
          </p:cNvPr>
          <p:cNvSpPr>
            <a:spLocks xmlns:a="http://schemas.openxmlformats.org/drawingml/2006/main" noGrp="1"/>
          </p:cNvSpPr>
          <p:nvPr/>
        </p:nvSpPr>
        <p:spPr>
          <a:xfrm xmlns:a="http://schemas.openxmlformats.org/drawingml/2006/main">
            <a:off x="12573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Persist application data</a:t>
            </a:r>
          </a:p>
        </p:txBody>
      </p:sp>
      <p:sp>
        <p:nvSpPr>
          <p:cNvPr id="19" name="">
            <a:extLst xmlns:a="http://schemas.openxmlformats.org/drawingml/2006/main">
              <a:ext uri="{FF2B5EF4-FFF2-40B4-BE49-F238E27FC236}">
                <a16:creationId xmlns:a16="http://schemas.microsoft.com/office/drawing/2014/main" id="{344D38BC-27C3-4F47-B6BB-53CA62D8ABC4}"/>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8A381B1-B44F-42CC-BA7C-C9B90B107CD5}"/>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B88ECCD7-2C0E-4CC5-8212-8D2533B9B9CE}"/>
              </a:ext>
            </a:extLst>
          </p:cNvPr>
          <p:cNvSpPr>
            <a:spLocks xmlns:a="http://schemas.openxmlformats.org/drawingml/2006/main" noGrp="1"/>
          </p:cNvSpPr>
          <p:nvPr/>
        </p:nvSpPr>
        <p:spPr>
          <a:xfrm xmlns:a="http://schemas.openxmlformats.org/drawingml/2006/main">
            <a:off x="12573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Run consistently across environments</a:t>
            </a:r>
          </a:p>
        </p:txBody>
      </p:sp>
      <p:sp>
        <p:nvSpPr>
          <p:cNvPr id="22" name="">
            <a:extLst xmlns:a="http://schemas.openxmlformats.org/drawingml/2006/main">
              <a:ext uri="{FF2B5EF4-FFF2-40B4-BE49-F238E27FC236}">
                <a16:creationId xmlns:a16="http://schemas.microsoft.com/office/drawing/2014/main" id="{76045897-B0AE-486E-9E8A-A6D38F0CDC35}"/>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7C68794-F272-4824-8563-34F5F5175BD5}"/>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24" name="">
            <a:extLst xmlns:a="http://schemas.openxmlformats.org/drawingml/2006/main">
              <a:ext uri="{FF2B5EF4-FFF2-40B4-BE49-F238E27FC236}">
                <a16:creationId xmlns:a16="http://schemas.microsoft.com/office/drawing/2014/main" id="{B7877BBB-F234-4376-BEB8-083E1D1D196E}"/>
              </a:ext>
            </a:extLst>
          </p:cNvPr>
          <p:cNvSpPr>
            <a:spLocks xmlns:a="http://schemas.openxmlformats.org/drawingml/2006/main" noGrp="1"/>
          </p:cNvSpPr>
          <p:nvPr/>
        </p:nvSpPr>
        <p:spPr>
          <a:xfrm xmlns:a="http://schemas.openxmlformats.org/drawingml/2006/main">
            <a:off x="71247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Provision an isolated test environment</a:t>
            </a:r>
          </a:p>
        </p:txBody>
      </p:sp>
      <p:sp>
        <p:nvSpPr>
          <p:cNvPr id="25" name="">
            <a:extLst xmlns:a="http://schemas.openxmlformats.org/drawingml/2006/main">
              <a:ext uri="{FF2B5EF4-FFF2-40B4-BE49-F238E27FC236}">
                <a16:creationId xmlns:a16="http://schemas.microsoft.com/office/drawing/2014/main" id="{49AB031A-FDA3-402A-9F92-BD9DF0D9678C}"/>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F3A74C4-64D5-40B4-BBDD-ADF20B7A752B}"/>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27" name="">
            <a:extLst xmlns:a="http://schemas.openxmlformats.org/drawingml/2006/main">
              <a:ext uri="{FF2B5EF4-FFF2-40B4-BE49-F238E27FC236}">
                <a16:creationId xmlns:a16="http://schemas.microsoft.com/office/drawing/2014/main" id="{D46B86A6-24DB-4985-B61E-1B5FD10051D1}"/>
              </a:ext>
            </a:extLst>
          </p:cNvPr>
          <p:cNvSpPr>
            <a:spLocks xmlns:a="http://schemas.openxmlformats.org/drawingml/2006/main" noGrp="1"/>
          </p:cNvSpPr>
          <p:nvPr/>
        </p:nvSpPr>
        <p:spPr>
          <a:xfrm xmlns:a="http://schemas.openxmlformats.org/drawingml/2006/main">
            <a:off x="71247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Package and scan release artifacts</a:t>
            </a:r>
          </a:p>
        </p:txBody>
      </p:sp>
      <p:sp>
        <p:nvSpPr>
          <p:cNvPr id="28" name="">
            <a:extLst xmlns:a="http://schemas.openxmlformats.org/drawingml/2006/main">
              <a:ext uri="{FF2B5EF4-FFF2-40B4-BE49-F238E27FC236}">
                <a16:creationId xmlns:a16="http://schemas.microsoft.com/office/drawing/2014/main" id="{2F39BA3B-255A-4AEC-B039-9A4C6287423E}"/>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8DEDCCDC-EBDD-4971-8771-918BA7113805}"/>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30" name="">
            <a:extLst xmlns:a="http://schemas.openxmlformats.org/drawingml/2006/main">
              <a:ext uri="{FF2B5EF4-FFF2-40B4-BE49-F238E27FC236}">
                <a16:creationId xmlns:a16="http://schemas.microsoft.com/office/drawing/2014/main" id="{1A7819FA-6590-47ED-BA89-B0AEB7871E13}"/>
              </a:ext>
            </a:extLst>
          </p:cNvPr>
          <p:cNvSpPr>
            <a:spLocks xmlns:a="http://schemas.openxmlformats.org/drawingml/2006/main" noGrp="1"/>
          </p:cNvSpPr>
          <p:nvPr/>
        </p:nvSpPr>
        <p:spPr>
          <a:xfrm xmlns:a="http://schemas.openxmlformats.org/drawingml/2006/main">
            <a:off x="71247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Promote through protected pipelines</a:t>
            </a:r>
          </a:p>
        </p:txBody>
      </p:sp>
      <p:sp>
        <p:nvSpPr>
          <p:cNvPr id="31" name="">
            <a:extLst xmlns:a="http://schemas.openxmlformats.org/drawingml/2006/main">
              <a:ext uri="{FF2B5EF4-FFF2-40B4-BE49-F238E27FC236}">
                <a16:creationId xmlns:a16="http://schemas.microsoft.com/office/drawing/2014/main" id="{BAABD699-F606-4A13-B66A-02A316631E67}"/>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42C8498-9D33-43AA-9508-1711EACC1C9D}"/>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33" name="">
            <a:extLst xmlns:a="http://schemas.openxmlformats.org/drawingml/2006/main">
              <a:ext uri="{FF2B5EF4-FFF2-40B4-BE49-F238E27FC236}">
                <a16:creationId xmlns:a16="http://schemas.microsoft.com/office/drawing/2014/main" id="{DC30182B-C008-487A-90D6-C91ED5C9D138}"/>
              </a:ext>
            </a:extLst>
          </p:cNvPr>
          <p:cNvSpPr>
            <a:spLocks xmlns:a="http://schemas.openxmlformats.org/drawingml/2006/main" noGrp="1"/>
          </p:cNvSpPr>
          <p:nvPr/>
        </p:nvSpPr>
        <p:spPr>
          <a:xfrm xmlns:a="http://schemas.openxmlformats.org/drawingml/2006/main">
            <a:off x="71247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Correlate deployment and runtime evidence</a:t>
            </a:r>
          </a:p>
        </p:txBody>
      </p:sp>
    </p:spTree>
    <p:extLst>
      <p:ext uri="{BB962C8B-B14F-4D97-AF65-F5344CB8AC3E}">
        <p14:creationId xmlns:p14="http://schemas.microsoft.com/office/powerpoint/2010/main" val="12250762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B6BC8F67-01E7-4C1C-A412-E613609F1E7A}"/>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DEC8B3-41F9-4C81-939E-0A027B6DAD8B}"/>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FD61B9D-FAA3-483C-A1A8-B7535F85B0DD}"/>
              </a:ext>
            </a:extLst>
          </p:cNvPr>
          <p:cNvSpPr>
            <a:spLocks xmlns:a="http://schemas.openxmlformats.org/drawingml/2006/main" noGrp="1"/>
          </p:cNvSpPr>
          <p:nvPr/>
        </p:nvSpPr>
        <p:spPr>
          <a:xfrm xmlns:a="http://schemas.openxmlformats.org/drawingml/2006/main">
            <a:off x="76200" y="0"/>
            <a:ext cx="26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9</a:t>
            </a:r>
          </a:p>
        </p:txBody>
      </p:sp>
      <p:sp>
        <p:nvSpPr>
          <p:cNvPr id="4" name="">
            <a:extLst xmlns:a="http://schemas.openxmlformats.org/drawingml/2006/main">
              <a:ext uri="{FF2B5EF4-FFF2-40B4-BE49-F238E27FC236}">
                <a16:creationId xmlns:a16="http://schemas.microsoft.com/office/drawing/2014/main" id="{2A780968-3CEC-45F4-ACF6-FBC726A9983B}"/>
              </a:ext>
            </a:extLst>
          </p:cNvPr>
          <p:cNvSpPr>
            <a:spLocks xmlns:a="http://schemas.openxmlformats.org/drawingml/2006/main" noGrp="1"/>
          </p:cNvSpPr>
          <p:nvPr/>
        </p:nvSpPr>
        <p:spPr>
          <a:xfrm xmlns:a="http://schemas.openxmlformats.org/drawingml/2006/main">
            <a:off x="400050" y="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Course introduction</a:t>
            </a:r>
          </a:p>
        </p:txBody>
      </p:sp>
      <p:sp>
        <p:nvSpPr>
          <p:cNvPr id="5" name="">
            <a:extLst xmlns:a="http://schemas.openxmlformats.org/drawingml/2006/main">
              <a:ext uri="{FF2B5EF4-FFF2-40B4-BE49-F238E27FC236}">
                <a16:creationId xmlns:a16="http://schemas.microsoft.com/office/drawing/2014/main" id="{E44B6437-650C-46C6-AE1E-AADDD1C0B664}"/>
              </a:ext>
            </a:extLst>
          </p:cNvPr>
          <p:cNvSpPr>
            <a:spLocks xmlns:a="http://schemas.openxmlformats.org/drawingml/2006/main" noGrp="1"/>
          </p:cNvSpPr>
          <p:nvPr/>
        </p:nvSpPr>
        <p:spPr>
          <a:xfrm xmlns:a="http://schemas.openxmlformats.org/drawingml/2006/main">
            <a:off x="457200" y="45720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775" b="1">
                <a:solidFill>
                  <a:srgbClr val="082B59"/>
                </a:solidFill>
                <a:latin typeface="Helvetica Neue"/>
                <a:ea typeface="Helvetica Neue"/>
                <a:cs typeface="Helvetica Neue"/>
              </a:defRPr>
            </a:pPr>
            <a:r>
              <a:rPr sz="2775" b="1">
                <a:solidFill>
                  <a:srgbClr val="082B59"/>
                </a:solidFill>
                <a:latin typeface="Helvetica Neue"/>
                <a:ea typeface="Helvetica Neue"/>
                <a:cs typeface="Helvetica Neue"/>
              </a:rPr>
              <a:t>Instructor introduction</a:t>
            </a:r>
          </a:p>
        </p:txBody>
      </p:sp>
      <p:sp>
        <p:nvSpPr>
          <p:cNvPr id="6" name="">
            <a:extLst xmlns:a="http://schemas.openxmlformats.org/drawingml/2006/main">
              <a:ext uri="{FF2B5EF4-FFF2-40B4-BE49-F238E27FC236}">
                <a16:creationId xmlns:a16="http://schemas.microsoft.com/office/drawing/2014/main" id="{A9AB66E0-27B8-401F-BCF4-CFC4B157A0B4}"/>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A0A445C-53E3-4D0D-9210-2F81441ECA60}"/>
              </a:ext>
            </a:extLst>
          </p:cNvPr>
          <p:cNvSpPr>
            <a:spLocks xmlns:a="http://schemas.openxmlformats.org/drawingml/2006/main" noGrp="1"/>
          </p:cNvSpPr>
          <p:nvPr/>
        </p:nvSpPr>
        <p:spPr>
          <a:xfrm xmlns:a="http://schemas.openxmlformats.org/drawingml/2006/main">
            <a:off x="6096000" y="1714500"/>
            <a:ext cx="19050" cy="4238625"/>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5A95927-CE79-4202-B941-D86FA305BF90}"/>
              </a:ext>
            </a:extLst>
          </p:cNvPr>
          <p:cNvSpPr>
            <a:spLocks xmlns:a="http://schemas.openxmlformats.org/drawingml/2006/main" noGrp="1"/>
          </p:cNvSpPr>
          <p:nvPr/>
        </p:nvSpPr>
        <p:spPr>
          <a:xfrm xmlns:a="http://schemas.openxmlformats.org/drawingml/2006/main">
            <a:off x="6858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Professional background</a:t>
            </a:r>
          </a:p>
        </p:txBody>
      </p:sp>
      <p:sp>
        <p:nvSpPr>
          <p:cNvPr id="9" name="">
            <a:extLst xmlns:a="http://schemas.openxmlformats.org/drawingml/2006/main">
              <a:ext uri="{FF2B5EF4-FFF2-40B4-BE49-F238E27FC236}">
                <a16:creationId xmlns:a16="http://schemas.microsoft.com/office/drawing/2014/main" id="{9A455A20-9EE8-4629-B883-9192B88B8A02}"/>
              </a:ext>
            </a:extLst>
          </p:cNvPr>
          <p:cNvSpPr>
            <a:spLocks xmlns:a="http://schemas.openxmlformats.org/drawingml/2006/main" noGrp="1"/>
          </p:cNvSpPr>
          <p:nvPr/>
        </p:nvSpPr>
        <p:spPr>
          <a:xfrm xmlns:a="http://schemas.openxmlformats.org/drawingml/2006/main">
            <a:off x="65532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Teaching approach</a:t>
            </a:r>
          </a:p>
        </p:txBody>
      </p:sp>
      <p:sp>
        <p:nvSpPr>
          <p:cNvPr id="10" name="">
            <a:extLst xmlns:a="http://schemas.openxmlformats.org/drawingml/2006/main">
              <a:ext uri="{FF2B5EF4-FFF2-40B4-BE49-F238E27FC236}">
                <a16:creationId xmlns:a16="http://schemas.microsoft.com/office/drawing/2014/main" id="{A7C1163D-2350-4EF2-AD18-AAA725A8927B}"/>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0EBD45D-0C7F-4577-85DA-2A980AE1745C}"/>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E3506A33-AA35-4182-9EB5-49188E34AFEC}"/>
              </a:ext>
            </a:extLst>
          </p:cNvPr>
          <p:cNvSpPr>
            <a:spLocks xmlns:a="http://schemas.openxmlformats.org/drawingml/2006/main" noGrp="1"/>
          </p:cNvSpPr>
          <p:nvPr/>
        </p:nvSpPr>
        <p:spPr>
          <a:xfrm xmlns:a="http://schemas.openxmlformats.org/drawingml/2006/main">
            <a:off x="12573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Current role and technical focus</a:t>
            </a:r>
          </a:p>
        </p:txBody>
      </p:sp>
      <p:sp>
        <p:nvSpPr>
          <p:cNvPr id="13" name="">
            <a:extLst xmlns:a="http://schemas.openxmlformats.org/drawingml/2006/main">
              <a:ext uri="{FF2B5EF4-FFF2-40B4-BE49-F238E27FC236}">
                <a16:creationId xmlns:a16="http://schemas.microsoft.com/office/drawing/2014/main" id="{D2C50DEA-98C3-4FC3-B43F-EAB7D90D617C}"/>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3C9EE5A-EE6D-4942-BB21-5388448CC657}"/>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69152A2F-397A-40C5-B76B-0B3A74A230FC}"/>
              </a:ext>
            </a:extLst>
          </p:cNvPr>
          <p:cNvSpPr>
            <a:spLocks xmlns:a="http://schemas.openxmlformats.org/drawingml/2006/main" noGrp="1"/>
          </p:cNvSpPr>
          <p:nvPr/>
        </p:nvSpPr>
        <p:spPr>
          <a:xfrm xmlns:a="http://schemas.openxmlformats.org/drawingml/2006/main">
            <a:off x="12573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Relevant automation and delivery experience</a:t>
            </a:r>
          </a:p>
        </p:txBody>
      </p:sp>
      <p:sp>
        <p:nvSpPr>
          <p:cNvPr id="16" name="">
            <a:extLst xmlns:a="http://schemas.openxmlformats.org/drawingml/2006/main">
              <a:ext uri="{FF2B5EF4-FFF2-40B4-BE49-F238E27FC236}">
                <a16:creationId xmlns:a16="http://schemas.microsoft.com/office/drawing/2014/main" id="{DD8CC056-8060-4270-B5A8-692CA81A3349}"/>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8270710-5185-4D06-A060-878E1616EE9A}"/>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84A4AF28-ED04-4A70-B8E0-EDBC605D2E89}"/>
              </a:ext>
            </a:extLst>
          </p:cNvPr>
          <p:cNvSpPr>
            <a:spLocks xmlns:a="http://schemas.openxmlformats.org/drawingml/2006/main" noGrp="1"/>
          </p:cNvSpPr>
          <p:nvPr/>
        </p:nvSpPr>
        <p:spPr>
          <a:xfrm xmlns:a="http://schemas.openxmlformats.org/drawingml/2006/main">
            <a:off x="12573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Platforms and tools used in production</a:t>
            </a:r>
          </a:p>
        </p:txBody>
      </p:sp>
      <p:sp>
        <p:nvSpPr>
          <p:cNvPr id="19" name="">
            <a:extLst xmlns:a="http://schemas.openxmlformats.org/drawingml/2006/main">
              <a:ext uri="{FF2B5EF4-FFF2-40B4-BE49-F238E27FC236}">
                <a16:creationId xmlns:a16="http://schemas.microsoft.com/office/drawing/2014/main" id="{6B90BB80-00B9-4F37-AA8F-7950F46F0AB1}"/>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F91D207-E442-46CE-8B20-EC2AF9FBB919}"/>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F4CF070F-4EA7-4868-83D5-67D4270AAA19}"/>
              </a:ext>
            </a:extLst>
          </p:cNvPr>
          <p:cNvSpPr>
            <a:spLocks xmlns:a="http://schemas.openxmlformats.org/drawingml/2006/main" noGrp="1"/>
          </p:cNvSpPr>
          <p:nvPr/>
        </p:nvSpPr>
        <p:spPr>
          <a:xfrm xmlns:a="http://schemas.openxmlformats.org/drawingml/2006/main">
            <a:off x="12573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What you want learners to take from the course</a:t>
            </a:r>
          </a:p>
        </p:txBody>
      </p:sp>
      <p:sp>
        <p:nvSpPr>
          <p:cNvPr id="22" name="">
            <a:extLst xmlns:a="http://schemas.openxmlformats.org/drawingml/2006/main">
              <a:ext uri="{FF2B5EF4-FFF2-40B4-BE49-F238E27FC236}">
                <a16:creationId xmlns:a16="http://schemas.microsoft.com/office/drawing/2014/main" id="{DF61CA2B-0530-4C12-822A-35DA376FB4CC}"/>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6F9F77E-53C3-4D60-B571-F2529B60C637}"/>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24" name="">
            <a:extLst xmlns:a="http://schemas.openxmlformats.org/drawingml/2006/main">
              <a:ext uri="{FF2B5EF4-FFF2-40B4-BE49-F238E27FC236}">
                <a16:creationId xmlns:a16="http://schemas.microsoft.com/office/drawing/2014/main" id="{A6B09FF4-E813-48A4-8ADC-205D77A59086}"/>
              </a:ext>
            </a:extLst>
          </p:cNvPr>
          <p:cNvSpPr>
            <a:spLocks xmlns:a="http://schemas.openxmlformats.org/drawingml/2006/main" noGrp="1"/>
          </p:cNvSpPr>
          <p:nvPr/>
        </p:nvSpPr>
        <p:spPr>
          <a:xfrm xmlns:a="http://schemas.openxmlformats.org/drawingml/2006/main">
            <a:off x="71247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Explain the engineering decision first</a:t>
            </a:r>
          </a:p>
        </p:txBody>
      </p:sp>
      <p:sp>
        <p:nvSpPr>
          <p:cNvPr id="25" name="">
            <a:extLst xmlns:a="http://schemas.openxmlformats.org/drawingml/2006/main">
              <a:ext uri="{FF2B5EF4-FFF2-40B4-BE49-F238E27FC236}">
                <a16:creationId xmlns:a16="http://schemas.microsoft.com/office/drawing/2014/main" id="{B0C90C43-89C7-44DF-B997-59C2F3415987}"/>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EF97C2F-E15D-4CF9-A25C-BFAB2808A236}"/>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27" name="">
            <a:extLst xmlns:a="http://schemas.openxmlformats.org/drawingml/2006/main">
              <a:ext uri="{FF2B5EF4-FFF2-40B4-BE49-F238E27FC236}">
                <a16:creationId xmlns:a16="http://schemas.microsoft.com/office/drawing/2014/main" id="{38EBCA4B-398F-4535-99B5-87BFD7E09CB8}"/>
              </a:ext>
            </a:extLst>
          </p:cNvPr>
          <p:cNvSpPr>
            <a:spLocks xmlns:a="http://schemas.openxmlformats.org/drawingml/2006/main" noGrp="1"/>
          </p:cNvSpPr>
          <p:nvPr/>
        </p:nvSpPr>
        <p:spPr>
          <a:xfrm xmlns:a="http://schemas.openxmlformats.org/drawingml/2006/main">
            <a:off x="71247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Demonstrate the observable result</a:t>
            </a:r>
          </a:p>
        </p:txBody>
      </p:sp>
      <p:sp>
        <p:nvSpPr>
          <p:cNvPr id="28" name="">
            <a:extLst xmlns:a="http://schemas.openxmlformats.org/drawingml/2006/main">
              <a:ext uri="{FF2B5EF4-FFF2-40B4-BE49-F238E27FC236}">
                <a16:creationId xmlns:a16="http://schemas.microsoft.com/office/drawing/2014/main" id="{70597C10-340A-4065-A7CC-F2040BC90D30}"/>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0814767-7BEC-42CF-8F5E-CA6979AEB20A}"/>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30" name="">
            <a:extLst xmlns:a="http://schemas.openxmlformats.org/drawingml/2006/main">
              <a:ext uri="{FF2B5EF4-FFF2-40B4-BE49-F238E27FC236}">
                <a16:creationId xmlns:a16="http://schemas.microsoft.com/office/drawing/2014/main" id="{57BF4AB6-2B73-4A21-BD38-B3089D1908C2}"/>
              </a:ext>
            </a:extLst>
          </p:cNvPr>
          <p:cNvSpPr>
            <a:spLocks xmlns:a="http://schemas.openxmlformats.org/drawingml/2006/main" noGrp="1"/>
          </p:cNvSpPr>
          <p:nvPr/>
        </p:nvSpPr>
        <p:spPr>
          <a:xfrm xmlns:a="http://schemas.openxmlformats.org/drawingml/2006/main">
            <a:off x="71247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Connect failures to design choices</a:t>
            </a:r>
          </a:p>
        </p:txBody>
      </p:sp>
      <p:sp>
        <p:nvSpPr>
          <p:cNvPr id="31" name="">
            <a:extLst xmlns:a="http://schemas.openxmlformats.org/drawingml/2006/main">
              <a:ext uri="{FF2B5EF4-FFF2-40B4-BE49-F238E27FC236}">
                <a16:creationId xmlns:a16="http://schemas.microsoft.com/office/drawing/2014/main" id="{7BF0361D-E899-43D3-88DB-10AEBC46E6BA}"/>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0B6A2F1C-A434-40F5-B6DA-F9A4DFAB0C6B}"/>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33" name="">
            <a:extLst xmlns:a="http://schemas.openxmlformats.org/drawingml/2006/main">
              <a:ext uri="{FF2B5EF4-FFF2-40B4-BE49-F238E27FC236}">
                <a16:creationId xmlns:a16="http://schemas.microsoft.com/office/drawing/2014/main" id="{003863F3-7A4D-4D60-A956-E5D6E59E61C9}"/>
              </a:ext>
            </a:extLst>
          </p:cNvPr>
          <p:cNvSpPr>
            <a:spLocks xmlns:a="http://schemas.openxmlformats.org/drawingml/2006/main" noGrp="1"/>
          </p:cNvSpPr>
          <p:nvPr/>
        </p:nvSpPr>
        <p:spPr>
          <a:xfrm xmlns:a="http://schemas.openxmlformats.org/drawingml/2006/main">
            <a:off x="71247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Leave time for questions and comparison</a:t>
            </a:r>
          </a:p>
        </p:txBody>
      </p:sp>
    </p:spTree>
    <p:extLst>
      <p:ext uri="{BB962C8B-B14F-4D97-AF65-F5344CB8AC3E}">
        <p14:creationId xmlns:p14="http://schemas.microsoft.com/office/powerpoint/2010/main" val="114420243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724AFA82-D50A-4DA8-B61C-B3E4A201117A}"/>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693B59-9202-4B47-9411-92A8270AB5D5}"/>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DBBEB97-4593-4264-A52D-59AEAD98D02C}"/>
              </a:ext>
            </a:extLst>
          </p:cNvPr>
          <p:cNvSpPr>
            <a:spLocks xmlns:a="http://schemas.openxmlformats.org/drawingml/2006/main" noGrp="1"/>
          </p:cNvSpPr>
          <p:nvPr/>
        </p:nvSpPr>
        <p:spPr>
          <a:xfrm xmlns:a="http://schemas.openxmlformats.org/drawingml/2006/main">
            <a:off x="76200" y="0"/>
            <a:ext cx="26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52BE4012-9649-40D2-92B5-9B7E56E487E6}"/>
              </a:ext>
            </a:extLst>
          </p:cNvPr>
          <p:cNvSpPr>
            <a:spLocks xmlns:a="http://schemas.openxmlformats.org/drawingml/2006/main" noGrp="1"/>
          </p:cNvSpPr>
          <p:nvPr/>
        </p:nvSpPr>
        <p:spPr>
          <a:xfrm xmlns:a="http://schemas.openxmlformats.org/drawingml/2006/main">
            <a:off x="400050" y="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Course introduction</a:t>
            </a:r>
          </a:p>
        </p:txBody>
      </p:sp>
      <p:sp>
        <p:nvSpPr>
          <p:cNvPr id="5" name="">
            <a:extLst xmlns:a="http://schemas.openxmlformats.org/drawingml/2006/main">
              <a:ext uri="{FF2B5EF4-FFF2-40B4-BE49-F238E27FC236}">
                <a16:creationId xmlns:a16="http://schemas.microsoft.com/office/drawing/2014/main" id="{F4941CB2-8ABE-4BA8-8387-4FD3F864B34C}"/>
              </a:ext>
            </a:extLst>
          </p:cNvPr>
          <p:cNvSpPr>
            <a:spLocks xmlns:a="http://schemas.openxmlformats.org/drawingml/2006/main" noGrp="1"/>
          </p:cNvSpPr>
          <p:nvPr/>
        </p:nvSpPr>
        <p:spPr>
          <a:xfrm xmlns:a="http://schemas.openxmlformats.org/drawingml/2006/main">
            <a:off x="457200" y="45720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775" b="1">
                <a:solidFill>
                  <a:srgbClr val="082B59"/>
                </a:solidFill>
                <a:latin typeface="Helvetica Neue"/>
                <a:ea typeface="Helvetica Neue"/>
                <a:cs typeface="Helvetica Neue"/>
              </a:defRPr>
            </a:pPr>
            <a:r>
              <a:rPr sz="2775" b="1">
                <a:solidFill>
                  <a:srgbClr val="082B59"/>
                </a:solidFill>
                <a:latin typeface="Helvetica Neue"/>
                <a:ea typeface="Helvetica Neue"/>
                <a:cs typeface="Helvetica Neue"/>
              </a:rPr>
              <a:t>Learner introductions</a:t>
            </a:r>
          </a:p>
        </p:txBody>
      </p:sp>
      <p:sp>
        <p:nvSpPr>
          <p:cNvPr id="6" name="">
            <a:extLst xmlns:a="http://schemas.openxmlformats.org/drawingml/2006/main">
              <a:ext uri="{FF2B5EF4-FFF2-40B4-BE49-F238E27FC236}">
                <a16:creationId xmlns:a16="http://schemas.microsoft.com/office/drawing/2014/main" id="{298AD551-4E9C-406C-A1C5-FDA338CCE5EE}"/>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814D0FC-A271-4711-AAB8-F2F195D27EEB}"/>
              </a:ext>
            </a:extLst>
          </p:cNvPr>
          <p:cNvSpPr>
            <a:spLocks xmlns:a="http://schemas.openxmlformats.org/drawingml/2006/main" noGrp="1"/>
          </p:cNvSpPr>
          <p:nvPr/>
        </p:nvSpPr>
        <p:spPr>
          <a:xfrm xmlns:a="http://schemas.openxmlformats.org/drawingml/2006/main">
            <a:off x="6096000" y="1714500"/>
            <a:ext cx="19050" cy="4238625"/>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0155E7B-8A20-40A6-AE7E-8F28B3C49229}"/>
              </a:ext>
            </a:extLst>
          </p:cNvPr>
          <p:cNvSpPr>
            <a:spLocks xmlns:a="http://schemas.openxmlformats.org/drawingml/2006/main" noGrp="1"/>
          </p:cNvSpPr>
          <p:nvPr/>
        </p:nvSpPr>
        <p:spPr>
          <a:xfrm xmlns:a="http://schemas.openxmlformats.org/drawingml/2006/main">
            <a:off x="6858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Please share</a:t>
            </a:r>
          </a:p>
        </p:txBody>
      </p:sp>
      <p:sp>
        <p:nvSpPr>
          <p:cNvPr id="9" name="">
            <a:extLst xmlns:a="http://schemas.openxmlformats.org/drawingml/2006/main">
              <a:ext uri="{FF2B5EF4-FFF2-40B4-BE49-F238E27FC236}">
                <a16:creationId xmlns:a16="http://schemas.microsoft.com/office/drawing/2014/main" id="{93E34C21-EE48-485A-B88D-736F5ABD4228}"/>
              </a:ext>
            </a:extLst>
          </p:cNvPr>
          <p:cNvSpPr>
            <a:spLocks xmlns:a="http://schemas.openxmlformats.org/drawingml/2006/main" noGrp="1"/>
          </p:cNvSpPr>
          <p:nvPr/>
        </p:nvSpPr>
        <p:spPr>
          <a:xfrm xmlns:a="http://schemas.openxmlformats.org/drawingml/2006/main">
            <a:off x="65532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Listen for</a:t>
            </a:r>
          </a:p>
        </p:txBody>
      </p:sp>
      <p:sp>
        <p:nvSpPr>
          <p:cNvPr id="10" name="">
            <a:extLst xmlns:a="http://schemas.openxmlformats.org/drawingml/2006/main">
              <a:ext uri="{FF2B5EF4-FFF2-40B4-BE49-F238E27FC236}">
                <a16:creationId xmlns:a16="http://schemas.microsoft.com/office/drawing/2014/main" id="{9300230F-6BA0-432A-9915-2BE96FAD7098}"/>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A0D5D26-B63D-4BAB-B400-E7C06FAC8BE5}"/>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88294A9F-E318-4389-8E6D-98C6DF826BAA}"/>
              </a:ext>
            </a:extLst>
          </p:cNvPr>
          <p:cNvSpPr>
            <a:spLocks xmlns:a="http://schemas.openxmlformats.org/drawingml/2006/main" noGrp="1"/>
          </p:cNvSpPr>
          <p:nvPr/>
        </p:nvSpPr>
        <p:spPr>
          <a:xfrm xmlns:a="http://schemas.openxmlformats.org/drawingml/2006/main">
            <a:off x="12573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Name and current role</a:t>
            </a:r>
          </a:p>
        </p:txBody>
      </p:sp>
      <p:sp>
        <p:nvSpPr>
          <p:cNvPr id="13" name="">
            <a:extLst xmlns:a="http://schemas.openxmlformats.org/drawingml/2006/main">
              <a:ext uri="{FF2B5EF4-FFF2-40B4-BE49-F238E27FC236}">
                <a16:creationId xmlns:a16="http://schemas.microsoft.com/office/drawing/2014/main" id="{8CD610D6-ADB6-4EB6-A8AD-EF5757BA1774}"/>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8AD8625-F264-4D3F-B33A-8F94B3A1C298}"/>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631EDBD7-094B-476D-95F7-FA0C88692420}"/>
              </a:ext>
            </a:extLst>
          </p:cNvPr>
          <p:cNvSpPr>
            <a:spLocks xmlns:a="http://schemas.openxmlformats.org/drawingml/2006/main" noGrp="1"/>
          </p:cNvSpPr>
          <p:nvPr/>
        </p:nvSpPr>
        <p:spPr>
          <a:xfrm xmlns:a="http://schemas.openxmlformats.org/drawingml/2006/main">
            <a:off x="12573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Automation tools you use today</a:t>
            </a:r>
          </a:p>
        </p:txBody>
      </p:sp>
      <p:sp>
        <p:nvSpPr>
          <p:cNvPr id="16" name="">
            <a:extLst xmlns:a="http://schemas.openxmlformats.org/drawingml/2006/main">
              <a:ext uri="{FF2B5EF4-FFF2-40B4-BE49-F238E27FC236}">
                <a16:creationId xmlns:a16="http://schemas.microsoft.com/office/drawing/2014/main" id="{4BB6489B-D236-47A5-8CC2-8EA52ECC4A6E}"/>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CEA34B9-C1A1-4A5E-8E55-98CC5AB1A991}"/>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EF033582-9516-4D14-A351-DEBB06A42AF8}"/>
              </a:ext>
            </a:extLst>
          </p:cNvPr>
          <p:cNvSpPr>
            <a:spLocks xmlns:a="http://schemas.openxmlformats.org/drawingml/2006/main" noGrp="1"/>
          </p:cNvSpPr>
          <p:nvPr/>
        </p:nvSpPr>
        <p:spPr>
          <a:xfrm xmlns:a="http://schemas.openxmlformats.org/drawingml/2006/main">
            <a:off x="12573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Experience with containers or CI/CD</a:t>
            </a:r>
          </a:p>
        </p:txBody>
      </p:sp>
      <p:sp>
        <p:nvSpPr>
          <p:cNvPr id="19" name="">
            <a:extLst xmlns:a="http://schemas.openxmlformats.org/drawingml/2006/main">
              <a:ext uri="{FF2B5EF4-FFF2-40B4-BE49-F238E27FC236}">
                <a16:creationId xmlns:a16="http://schemas.microsoft.com/office/drawing/2014/main" id="{E6F393E0-E05D-4BD8-96CA-5A149C063DFB}"/>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5794B33-BC1C-489D-86B9-E340344143D3}"/>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F06A28B0-DF48-4FE2-8F37-187174B13EFB}"/>
              </a:ext>
            </a:extLst>
          </p:cNvPr>
          <p:cNvSpPr>
            <a:spLocks xmlns:a="http://schemas.openxmlformats.org/drawingml/2006/main" noGrp="1"/>
          </p:cNvSpPr>
          <p:nvPr/>
        </p:nvSpPr>
        <p:spPr>
          <a:xfrm xmlns:a="http://schemas.openxmlformats.org/drawingml/2006/main">
            <a:off x="12573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One delivery problem you want to solve</a:t>
            </a:r>
          </a:p>
        </p:txBody>
      </p:sp>
      <p:sp>
        <p:nvSpPr>
          <p:cNvPr id="22" name="">
            <a:extLst xmlns:a="http://schemas.openxmlformats.org/drawingml/2006/main">
              <a:ext uri="{FF2B5EF4-FFF2-40B4-BE49-F238E27FC236}">
                <a16:creationId xmlns:a16="http://schemas.microsoft.com/office/drawing/2014/main" id="{2867B856-1651-4D65-AC30-8D7B940EC1AF}"/>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A6AE795-020C-4589-B539-74DCCD919112}"/>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24" name="">
            <a:extLst xmlns:a="http://schemas.openxmlformats.org/drawingml/2006/main">
              <a:ext uri="{FF2B5EF4-FFF2-40B4-BE49-F238E27FC236}">
                <a16:creationId xmlns:a16="http://schemas.microsoft.com/office/drawing/2014/main" id="{5F7680A1-3625-4DEE-A8DE-FF1BF51D6834}"/>
              </a:ext>
            </a:extLst>
          </p:cNvPr>
          <p:cNvSpPr>
            <a:spLocks xmlns:a="http://schemas.openxmlformats.org/drawingml/2006/main" noGrp="1"/>
          </p:cNvSpPr>
          <p:nvPr/>
        </p:nvSpPr>
        <p:spPr>
          <a:xfrm xmlns:a="http://schemas.openxmlformats.org/drawingml/2006/main">
            <a:off x="71247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Common platforms and constraints</a:t>
            </a:r>
          </a:p>
        </p:txBody>
      </p:sp>
      <p:sp>
        <p:nvSpPr>
          <p:cNvPr id="25" name="">
            <a:extLst xmlns:a="http://schemas.openxmlformats.org/drawingml/2006/main">
              <a:ext uri="{FF2B5EF4-FFF2-40B4-BE49-F238E27FC236}">
                <a16:creationId xmlns:a16="http://schemas.microsoft.com/office/drawing/2014/main" id="{46A4C7CF-A09C-4D5F-A919-614D29F18E5F}"/>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1ABA487-E8A3-4306-8C97-CD6E87C80BA7}"/>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27" name="">
            <a:extLst xmlns:a="http://schemas.openxmlformats.org/drawingml/2006/main">
              <a:ext uri="{FF2B5EF4-FFF2-40B4-BE49-F238E27FC236}">
                <a16:creationId xmlns:a16="http://schemas.microsoft.com/office/drawing/2014/main" id="{57B547F0-89FB-486A-8E67-622C41A2C77B}"/>
              </a:ext>
            </a:extLst>
          </p:cNvPr>
          <p:cNvSpPr>
            <a:spLocks xmlns:a="http://schemas.openxmlformats.org/drawingml/2006/main" noGrp="1"/>
          </p:cNvSpPr>
          <p:nvPr/>
        </p:nvSpPr>
        <p:spPr>
          <a:xfrm xmlns:a="http://schemas.openxmlformats.org/drawingml/2006/main">
            <a:off x="71247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Shared operational risks</a:t>
            </a:r>
          </a:p>
        </p:txBody>
      </p:sp>
      <p:sp>
        <p:nvSpPr>
          <p:cNvPr id="28" name="">
            <a:extLst xmlns:a="http://schemas.openxmlformats.org/drawingml/2006/main">
              <a:ext uri="{FF2B5EF4-FFF2-40B4-BE49-F238E27FC236}">
                <a16:creationId xmlns:a16="http://schemas.microsoft.com/office/drawing/2014/main" id="{B5B4AB26-39F3-4740-95FF-A9BDFA1780BA}"/>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BCCFB436-7F20-43B2-A13A-8EAE5A157E90}"/>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30" name="">
            <a:extLst xmlns:a="http://schemas.openxmlformats.org/drawingml/2006/main">
              <a:ext uri="{FF2B5EF4-FFF2-40B4-BE49-F238E27FC236}">
                <a16:creationId xmlns:a16="http://schemas.microsoft.com/office/drawing/2014/main" id="{9E893E9B-C9A5-4379-B4C3-32D5A9A397CA}"/>
              </a:ext>
            </a:extLst>
          </p:cNvPr>
          <p:cNvSpPr>
            <a:spLocks xmlns:a="http://schemas.openxmlformats.org/drawingml/2006/main" noGrp="1"/>
          </p:cNvSpPr>
          <p:nvPr/>
        </p:nvSpPr>
        <p:spPr>
          <a:xfrm xmlns:a="http://schemas.openxmlformats.org/drawingml/2006/main">
            <a:off x="71247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Different levels of software experience</a:t>
            </a:r>
          </a:p>
        </p:txBody>
      </p:sp>
      <p:sp>
        <p:nvSpPr>
          <p:cNvPr id="31" name="">
            <a:extLst xmlns:a="http://schemas.openxmlformats.org/drawingml/2006/main">
              <a:ext uri="{FF2B5EF4-FFF2-40B4-BE49-F238E27FC236}">
                <a16:creationId xmlns:a16="http://schemas.microsoft.com/office/drawing/2014/main" id="{CC92D953-A729-4053-82DC-A32303343B0F}"/>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07ADDFC-175D-444A-A673-5FA0C1BEFA10}"/>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33" name="">
            <a:extLst xmlns:a="http://schemas.openxmlformats.org/drawingml/2006/main">
              <a:ext uri="{FF2B5EF4-FFF2-40B4-BE49-F238E27FC236}">
                <a16:creationId xmlns:a16="http://schemas.microsoft.com/office/drawing/2014/main" id="{4621DA1F-C140-4D8A-9AF1-D7791D2B1B07}"/>
              </a:ext>
            </a:extLst>
          </p:cNvPr>
          <p:cNvSpPr>
            <a:spLocks xmlns:a="http://schemas.openxmlformats.org/drawingml/2006/main" noGrp="1"/>
          </p:cNvSpPr>
          <p:nvPr/>
        </p:nvSpPr>
        <p:spPr>
          <a:xfrm xmlns:a="http://schemas.openxmlformats.org/drawingml/2006/main">
            <a:off x="71247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Opportunities for peer learning</a:t>
            </a:r>
          </a:p>
        </p:txBody>
      </p:sp>
    </p:spTree>
    <p:extLst>
      <p:ext uri="{BB962C8B-B14F-4D97-AF65-F5344CB8AC3E}">
        <p14:creationId xmlns:p14="http://schemas.microsoft.com/office/powerpoint/2010/main" val="139212588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80A6BCA-0AA7-472B-9E58-B3966D8230D8}"/>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ED7044-1337-430A-B69B-EE6A9F414470}"/>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48FA545-38F1-4EE0-AEAE-CDF3FBF2C7BC}"/>
              </a:ext>
            </a:extLst>
          </p:cNvPr>
          <p:cNvSpPr>
            <a:spLocks xmlns:a="http://schemas.openxmlformats.org/drawingml/2006/main" noGrp="1"/>
          </p:cNvSpPr>
          <p:nvPr/>
        </p:nvSpPr>
        <p:spPr>
          <a:xfrm xmlns:a="http://schemas.openxmlformats.org/drawingml/2006/main">
            <a:off x="76200" y="0"/>
            <a:ext cx="26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762D7FCE-8C4C-45C5-9EEC-43E039B27AB7}"/>
              </a:ext>
            </a:extLst>
          </p:cNvPr>
          <p:cNvSpPr>
            <a:spLocks xmlns:a="http://schemas.openxmlformats.org/drawingml/2006/main" noGrp="1"/>
          </p:cNvSpPr>
          <p:nvPr/>
        </p:nvSpPr>
        <p:spPr>
          <a:xfrm xmlns:a="http://schemas.openxmlformats.org/drawingml/2006/main">
            <a:off x="400050" y="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Course introduction</a:t>
            </a:r>
          </a:p>
        </p:txBody>
      </p:sp>
      <p:sp>
        <p:nvSpPr>
          <p:cNvPr id="5" name="">
            <a:extLst xmlns:a="http://schemas.openxmlformats.org/drawingml/2006/main">
              <a:ext uri="{FF2B5EF4-FFF2-40B4-BE49-F238E27FC236}">
                <a16:creationId xmlns:a16="http://schemas.microsoft.com/office/drawing/2014/main" id="{0545A7AE-C327-4855-8037-9CDF0FCD5AA3}"/>
              </a:ext>
            </a:extLst>
          </p:cNvPr>
          <p:cNvSpPr>
            <a:spLocks xmlns:a="http://schemas.openxmlformats.org/drawingml/2006/main" noGrp="1"/>
          </p:cNvSpPr>
          <p:nvPr/>
        </p:nvSpPr>
        <p:spPr>
          <a:xfrm xmlns:a="http://schemas.openxmlformats.org/drawingml/2006/main">
            <a:off x="457200" y="45720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775" b="1">
                <a:solidFill>
                  <a:srgbClr val="082B59"/>
                </a:solidFill>
                <a:latin typeface="Helvetica Neue"/>
                <a:ea typeface="Helvetica Neue"/>
                <a:cs typeface="Helvetica Neue"/>
              </a:defRPr>
            </a:pPr>
            <a:r>
              <a:rPr sz="2775" b="1">
                <a:solidFill>
                  <a:srgbClr val="082B59"/>
                </a:solidFill>
                <a:latin typeface="Helvetica Neue"/>
                <a:ea typeface="Helvetica Neue"/>
                <a:cs typeface="Helvetica Neue"/>
              </a:rPr>
              <a:t>Course agreements</a:t>
            </a:r>
          </a:p>
        </p:txBody>
      </p:sp>
      <p:sp>
        <p:nvSpPr>
          <p:cNvPr id="6" name="">
            <a:extLst xmlns:a="http://schemas.openxmlformats.org/drawingml/2006/main">
              <a:ext uri="{FF2B5EF4-FFF2-40B4-BE49-F238E27FC236}">
                <a16:creationId xmlns:a16="http://schemas.microsoft.com/office/drawing/2014/main" id="{967BCDBD-7BDF-4671-BE55-7B7C24F301C8}"/>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31688C2-0B5C-4DE3-B1BF-5AFC863C2BA4}"/>
              </a:ext>
            </a:extLst>
          </p:cNvPr>
          <p:cNvSpPr>
            <a:spLocks xmlns:a="http://schemas.openxmlformats.org/drawingml/2006/main" noGrp="1"/>
          </p:cNvSpPr>
          <p:nvPr/>
        </p:nvSpPr>
        <p:spPr>
          <a:xfrm xmlns:a="http://schemas.openxmlformats.org/drawingml/2006/main">
            <a:off x="685800" y="1571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875" b="0">
                <a:solidFill>
                  <a:srgbClr val="5F758B"/>
                </a:solidFill>
                <a:latin typeface="Helvetica Neue"/>
                <a:ea typeface="Helvetica Neue"/>
                <a:cs typeface="Helvetica Neue"/>
              </a:defRPr>
            </a:pPr>
            <a:r>
              <a:rPr sz="1875" b="0">
                <a:solidFill>
                  <a:srgbClr val="5F758B"/>
                </a:solidFill>
                <a:latin typeface="Helvetica Neue"/>
                <a:ea typeface="Helvetica Neue"/>
                <a:cs typeface="Helvetica Neue"/>
              </a:rPr>
              <a:t>A shared environment works when every learner treats identity, scope, and cleanup as part of the engineering task.</a:t>
            </a:r>
          </a:p>
        </p:txBody>
      </p:sp>
      <p:sp>
        <p:nvSpPr>
          <p:cNvPr id="8" name="">
            <a:extLst xmlns:a="http://schemas.openxmlformats.org/drawingml/2006/main">
              <a:ext uri="{FF2B5EF4-FFF2-40B4-BE49-F238E27FC236}">
                <a16:creationId xmlns:a16="http://schemas.microsoft.com/office/drawing/2014/main" id="{5AA22119-C0BE-40FF-AC14-3E2A01BB02F8}"/>
              </a:ext>
            </a:extLst>
          </p:cNvPr>
          <p:cNvSpPr>
            <a:spLocks xmlns:a="http://schemas.openxmlformats.org/drawingml/2006/main" noGrp="1"/>
          </p:cNvSpPr>
          <p:nvPr/>
        </p:nvSpPr>
        <p:spPr>
          <a:xfrm xmlns:a="http://schemas.openxmlformats.org/drawingml/2006/main">
            <a:off x="742950" y="2543175"/>
            <a:ext cx="66675" cy="361950"/>
          </a:xfrm>
          <a:prstGeom xmlns:a="http://schemas.openxmlformats.org/drawingml/2006/main" prst="roundRect">
            <a:avLst>
              <a:gd name="adj" fmla="val 50000"/>
            </a:avLst>
          </a:prstGeom>
          <a:solidFill xmlns:a="http://schemas.openxmlformats.org/drawingml/2006/main">
            <a:srgbClr val="F28C2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EA13429-3D42-47A5-99B6-C3AF021665CE}"/>
              </a:ext>
            </a:extLst>
          </p:cNvPr>
          <p:cNvSpPr>
            <a:spLocks xmlns:a="http://schemas.openxmlformats.org/drawingml/2006/main" noGrp="1"/>
          </p:cNvSpPr>
          <p:nvPr/>
        </p:nvSpPr>
        <p:spPr>
          <a:xfrm xmlns:a="http://schemas.openxmlformats.org/drawingml/2006/main">
            <a:off x="971550" y="247650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Use only your assigned namespace, ports, and identifiers</a:t>
            </a:r>
          </a:p>
        </p:txBody>
      </p:sp>
      <p:sp>
        <p:nvSpPr>
          <p:cNvPr id="10" name="">
            <a:extLst xmlns:a="http://schemas.openxmlformats.org/drawingml/2006/main">
              <a:ext uri="{FF2B5EF4-FFF2-40B4-BE49-F238E27FC236}">
                <a16:creationId xmlns:a16="http://schemas.microsoft.com/office/drawing/2014/main" id="{7E6ABA8B-B024-4BBD-90FF-3BBCC5B1577A}"/>
              </a:ext>
            </a:extLst>
          </p:cNvPr>
          <p:cNvSpPr>
            <a:spLocks xmlns:a="http://schemas.openxmlformats.org/drawingml/2006/main" noGrp="1"/>
          </p:cNvSpPr>
          <p:nvPr/>
        </p:nvSpPr>
        <p:spPr>
          <a:xfrm xmlns:a="http://schemas.openxmlformats.org/drawingml/2006/main">
            <a:off x="742950" y="3152775"/>
            <a:ext cx="66675" cy="361950"/>
          </a:xfrm>
          <a:prstGeom xmlns:a="http://schemas.openxmlformats.org/drawingml/2006/main" prst="roundRect">
            <a:avLst>
              <a:gd name="adj" fmla="val 50000"/>
            </a:avLst>
          </a:prstGeom>
          <a:solidFill xmlns:a="http://schemas.openxmlformats.org/drawingml/2006/main">
            <a:srgbClr val="21A8D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CB8B451-F544-4C4B-BCFE-2E0B84E1FFBF}"/>
              </a:ext>
            </a:extLst>
          </p:cNvPr>
          <p:cNvSpPr>
            <a:spLocks xmlns:a="http://schemas.openxmlformats.org/drawingml/2006/main" noGrp="1"/>
          </p:cNvSpPr>
          <p:nvPr/>
        </p:nvSpPr>
        <p:spPr>
          <a:xfrm xmlns:a="http://schemas.openxmlformats.org/drawingml/2006/main">
            <a:off x="971550" y="308610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Never place credentials in source control or terminal history</a:t>
            </a:r>
          </a:p>
        </p:txBody>
      </p:sp>
      <p:sp>
        <p:nvSpPr>
          <p:cNvPr id="12" name="">
            <a:extLst xmlns:a="http://schemas.openxmlformats.org/drawingml/2006/main">
              <a:ext uri="{FF2B5EF4-FFF2-40B4-BE49-F238E27FC236}">
                <a16:creationId xmlns:a16="http://schemas.microsoft.com/office/drawing/2014/main" id="{3D7E4684-D751-4993-83E7-AC0B1B349246}"/>
              </a:ext>
            </a:extLst>
          </p:cNvPr>
          <p:cNvSpPr>
            <a:spLocks xmlns:a="http://schemas.openxmlformats.org/drawingml/2006/main" noGrp="1"/>
          </p:cNvSpPr>
          <p:nvPr/>
        </p:nvSpPr>
        <p:spPr>
          <a:xfrm xmlns:a="http://schemas.openxmlformats.org/drawingml/2006/main">
            <a:off x="742950" y="3762375"/>
            <a:ext cx="66675" cy="361950"/>
          </a:xfrm>
          <a:prstGeom xmlns:a="http://schemas.openxmlformats.org/drawingml/2006/main" prst="roundRect">
            <a:avLst>
              <a:gd name="adj" fmla="val 50000"/>
            </a:avLst>
          </a:prstGeom>
          <a:solidFill xmlns:a="http://schemas.openxmlformats.org/drawingml/2006/main">
            <a:srgbClr val="F28C2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36BE981-5CD5-459C-BB53-FEBAC98F9781}"/>
              </a:ext>
            </a:extLst>
          </p:cNvPr>
          <p:cNvSpPr>
            <a:spLocks xmlns:a="http://schemas.openxmlformats.org/drawingml/2006/main" noGrp="1"/>
          </p:cNvSpPr>
          <p:nvPr/>
        </p:nvSpPr>
        <p:spPr>
          <a:xfrm xmlns:a="http://schemas.openxmlformats.org/drawingml/2006/main">
            <a:off x="971550" y="369570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Stop when a validation gate fails</a:t>
            </a:r>
          </a:p>
        </p:txBody>
      </p:sp>
      <p:sp>
        <p:nvSpPr>
          <p:cNvPr id="14" name="">
            <a:extLst xmlns:a="http://schemas.openxmlformats.org/drawingml/2006/main">
              <a:ext uri="{FF2B5EF4-FFF2-40B4-BE49-F238E27FC236}">
                <a16:creationId xmlns:a16="http://schemas.microsoft.com/office/drawing/2014/main" id="{90678306-BC6A-431A-AB7E-5F9B960BA14F}"/>
              </a:ext>
            </a:extLst>
          </p:cNvPr>
          <p:cNvSpPr>
            <a:spLocks xmlns:a="http://schemas.openxmlformats.org/drawingml/2006/main" noGrp="1"/>
          </p:cNvSpPr>
          <p:nvPr/>
        </p:nvSpPr>
        <p:spPr>
          <a:xfrm xmlns:a="http://schemas.openxmlformats.org/drawingml/2006/main">
            <a:off x="742950" y="4371975"/>
            <a:ext cx="66675" cy="361950"/>
          </a:xfrm>
          <a:prstGeom xmlns:a="http://schemas.openxmlformats.org/drawingml/2006/main" prst="roundRect">
            <a:avLst>
              <a:gd name="adj" fmla="val 50000"/>
            </a:avLst>
          </a:prstGeom>
          <a:solidFill xmlns:a="http://schemas.openxmlformats.org/drawingml/2006/main">
            <a:srgbClr val="21A8D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30AAD4A-3BC6-41DA-AA8A-DF6A536FF498}"/>
              </a:ext>
            </a:extLst>
          </p:cNvPr>
          <p:cNvSpPr>
            <a:spLocks xmlns:a="http://schemas.openxmlformats.org/drawingml/2006/main" noGrp="1"/>
          </p:cNvSpPr>
          <p:nvPr/>
        </p:nvSpPr>
        <p:spPr>
          <a:xfrm xmlns:a="http://schemas.openxmlformats.org/drawingml/2006/main">
            <a:off x="971550" y="430530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Preserve logs and pipeline evidence for review</a:t>
            </a:r>
          </a:p>
        </p:txBody>
      </p:sp>
    </p:spTree>
    <p:extLst>
      <p:ext uri="{BB962C8B-B14F-4D97-AF65-F5344CB8AC3E}">
        <p14:creationId xmlns:p14="http://schemas.microsoft.com/office/powerpoint/2010/main" val="35179494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3ECCFE1-307D-4C59-AC61-8105584E353A}"/>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5E6B6D-F4D8-4E76-9BF4-CA2DA296DCB6}"/>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AC91004-7127-45B7-AF64-8931ECD45402}"/>
              </a:ext>
            </a:extLst>
          </p:cNvPr>
          <p:cNvSpPr>
            <a:spLocks xmlns:a="http://schemas.openxmlformats.org/drawingml/2006/main" noGrp="1"/>
          </p:cNvSpPr>
          <p:nvPr/>
        </p:nvSpPr>
        <p:spPr>
          <a:xfrm xmlns:a="http://schemas.openxmlformats.org/drawingml/2006/main">
            <a:off x="76200" y="0"/>
            <a:ext cx="26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CE6D0A87-BE48-4612-9D7F-9747EDD81208}"/>
              </a:ext>
            </a:extLst>
          </p:cNvPr>
          <p:cNvSpPr>
            <a:spLocks xmlns:a="http://schemas.openxmlformats.org/drawingml/2006/main" noGrp="1"/>
          </p:cNvSpPr>
          <p:nvPr/>
        </p:nvSpPr>
        <p:spPr>
          <a:xfrm xmlns:a="http://schemas.openxmlformats.org/drawingml/2006/main">
            <a:off x="400050" y="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Course introduction</a:t>
            </a:r>
          </a:p>
        </p:txBody>
      </p:sp>
      <p:sp>
        <p:nvSpPr>
          <p:cNvPr id="5" name="">
            <a:extLst xmlns:a="http://schemas.openxmlformats.org/drawingml/2006/main">
              <a:ext uri="{FF2B5EF4-FFF2-40B4-BE49-F238E27FC236}">
                <a16:creationId xmlns:a16="http://schemas.microsoft.com/office/drawing/2014/main" id="{6109C1F2-A732-4626-A4AD-DEEA4A92CC10}"/>
              </a:ext>
            </a:extLst>
          </p:cNvPr>
          <p:cNvSpPr>
            <a:spLocks xmlns:a="http://schemas.openxmlformats.org/drawingml/2006/main" noGrp="1"/>
          </p:cNvSpPr>
          <p:nvPr/>
        </p:nvSpPr>
        <p:spPr>
          <a:xfrm xmlns:a="http://schemas.openxmlformats.org/drawingml/2006/main">
            <a:off x="457200" y="45720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775" b="1">
                <a:solidFill>
                  <a:srgbClr val="082B59"/>
                </a:solidFill>
                <a:latin typeface="Helvetica Neue"/>
                <a:ea typeface="Helvetica Neue"/>
                <a:cs typeface="Helvetica Neue"/>
              </a:defRPr>
            </a:pPr>
            <a:r>
              <a:rPr sz="2775" b="1">
                <a:solidFill>
                  <a:srgbClr val="082B59"/>
                </a:solidFill>
                <a:latin typeface="Helvetica Neue"/>
                <a:ea typeface="Helvetica Neue"/>
                <a:cs typeface="Helvetica Neue"/>
              </a:rPr>
              <a:t>Evidence of learning</a:t>
            </a:r>
          </a:p>
        </p:txBody>
      </p:sp>
      <p:sp>
        <p:nvSpPr>
          <p:cNvPr id="6" name="">
            <a:extLst xmlns:a="http://schemas.openxmlformats.org/drawingml/2006/main">
              <a:ext uri="{FF2B5EF4-FFF2-40B4-BE49-F238E27FC236}">
                <a16:creationId xmlns:a16="http://schemas.microsoft.com/office/drawing/2014/main" id="{541726F8-CB25-4916-9EEC-1C831F080319}"/>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48A8605-C96B-4078-83E5-49F57940FF99}"/>
              </a:ext>
            </a:extLst>
          </p:cNvPr>
          <p:cNvSpPr>
            <a:spLocks xmlns:a="http://schemas.openxmlformats.org/drawingml/2006/main" noGrp="1"/>
          </p:cNvSpPr>
          <p:nvPr/>
        </p:nvSpPr>
        <p:spPr>
          <a:xfrm xmlns:a="http://schemas.openxmlformats.org/drawingml/2006/main">
            <a:off x="6096000" y="1714500"/>
            <a:ext cx="19050" cy="4238625"/>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545C50B-6765-438C-97D5-6BA4D865599D}"/>
              </a:ext>
            </a:extLst>
          </p:cNvPr>
          <p:cNvSpPr>
            <a:spLocks xmlns:a="http://schemas.openxmlformats.org/drawingml/2006/main" noGrp="1"/>
          </p:cNvSpPr>
          <p:nvPr/>
        </p:nvSpPr>
        <p:spPr>
          <a:xfrm xmlns:a="http://schemas.openxmlformats.org/drawingml/2006/main">
            <a:off x="6858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Technical evidence</a:t>
            </a:r>
          </a:p>
        </p:txBody>
      </p:sp>
      <p:sp>
        <p:nvSpPr>
          <p:cNvPr id="9" name="">
            <a:extLst xmlns:a="http://schemas.openxmlformats.org/drawingml/2006/main">
              <a:ext uri="{FF2B5EF4-FFF2-40B4-BE49-F238E27FC236}">
                <a16:creationId xmlns:a16="http://schemas.microsoft.com/office/drawing/2014/main" id="{A4C6278D-25DA-4353-A8FD-AF121627174B}"/>
              </a:ext>
            </a:extLst>
          </p:cNvPr>
          <p:cNvSpPr>
            <a:spLocks xmlns:a="http://schemas.openxmlformats.org/drawingml/2006/main" noGrp="1"/>
          </p:cNvSpPr>
          <p:nvPr/>
        </p:nvSpPr>
        <p:spPr>
          <a:xfrm xmlns:a="http://schemas.openxmlformats.org/drawingml/2006/main">
            <a:off x="6553200" y="16764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025" b="1">
                <a:solidFill>
                  <a:srgbClr val="0A6FAF"/>
                </a:solidFill>
                <a:latin typeface="Helvetica Neue"/>
                <a:ea typeface="Helvetica Neue"/>
                <a:cs typeface="Helvetica Neue"/>
              </a:defRPr>
            </a:pPr>
            <a:r>
              <a:rPr sz="2025" b="1">
                <a:solidFill>
                  <a:srgbClr val="0A6FAF"/>
                </a:solidFill>
                <a:latin typeface="Helvetica Neue"/>
                <a:ea typeface="Helvetica Neue"/>
                <a:cs typeface="Helvetica Neue"/>
              </a:rPr>
              <a:t>Engineering judgement</a:t>
            </a:r>
          </a:p>
        </p:txBody>
      </p:sp>
      <p:sp>
        <p:nvSpPr>
          <p:cNvPr id="10" name="">
            <a:extLst xmlns:a="http://schemas.openxmlformats.org/drawingml/2006/main">
              <a:ext uri="{FF2B5EF4-FFF2-40B4-BE49-F238E27FC236}">
                <a16:creationId xmlns:a16="http://schemas.microsoft.com/office/drawing/2014/main" id="{8EBEC7A1-F9C4-4548-9835-FAE87ED6C87F}"/>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761B4F7-3393-4174-BE64-F408ACB662B8}"/>
              </a:ext>
            </a:extLst>
          </p:cNvPr>
          <p:cNvSpPr>
            <a:spLocks xmlns:a="http://schemas.openxmlformats.org/drawingml/2006/main" noGrp="1"/>
          </p:cNvSpPr>
          <p:nvPr/>
        </p:nvSpPr>
        <p:spPr>
          <a:xfrm xmlns:a="http://schemas.openxmlformats.org/drawingml/2006/main">
            <a:off x="7810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F520759F-553D-4DEA-80F6-59A64A3C105C}"/>
              </a:ext>
            </a:extLst>
          </p:cNvPr>
          <p:cNvSpPr>
            <a:spLocks xmlns:a="http://schemas.openxmlformats.org/drawingml/2006/main" noGrp="1"/>
          </p:cNvSpPr>
          <p:nvPr/>
        </p:nvSpPr>
        <p:spPr>
          <a:xfrm xmlns:a="http://schemas.openxmlformats.org/drawingml/2006/main">
            <a:off x="12573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Working source and configuration</a:t>
            </a:r>
          </a:p>
        </p:txBody>
      </p:sp>
      <p:sp>
        <p:nvSpPr>
          <p:cNvPr id="13" name="">
            <a:extLst xmlns:a="http://schemas.openxmlformats.org/drawingml/2006/main">
              <a:ext uri="{FF2B5EF4-FFF2-40B4-BE49-F238E27FC236}">
                <a16:creationId xmlns:a16="http://schemas.microsoft.com/office/drawing/2014/main" id="{E228C523-FCC6-4AEB-B67E-AE23EEAF793F}"/>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5A3CB38-3699-4EAF-851C-3D66C5C67EC9}"/>
              </a:ext>
            </a:extLst>
          </p:cNvPr>
          <p:cNvSpPr>
            <a:spLocks xmlns:a="http://schemas.openxmlformats.org/drawingml/2006/main" noGrp="1"/>
          </p:cNvSpPr>
          <p:nvPr/>
        </p:nvSpPr>
        <p:spPr>
          <a:xfrm xmlns:a="http://schemas.openxmlformats.org/drawingml/2006/main">
            <a:off x="7810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05499AD3-52CC-4C83-B463-0C032049B7A3}"/>
              </a:ext>
            </a:extLst>
          </p:cNvPr>
          <p:cNvSpPr>
            <a:spLocks xmlns:a="http://schemas.openxmlformats.org/drawingml/2006/main" noGrp="1"/>
          </p:cNvSpPr>
          <p:nvPr/>
        </p:nvSpPr>
        <p:spPr>
          <a:xfrm xmlns:a="http://schemas.openxmlformats.org/drawingml/2006/main">
            <a:off x="12573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Successful automated checks</a:t>
            </a:r>
          </a:p>
        </p:txBody>
      </p:sp>
      <p:sp>
        <p:nvSpPr>
          <p:cNvPr id="16" name="">
            <a:extLst xmlns:a="http://schemas.openxmlformats.org/drawingml/2006/main">
              <a:ext uri="{FF2B5EF4-FFF2-40B4-BE49-F238E27FC236}">
                <a16:creationId xmlns:a16="http://schemas.microsoft.com/office/drawing/2014/main" id="{950892B6-D231-49EC-A904-9311E485C66D}"/>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88FCEFF-F2C2-49C0-8BC8-34C2B0E95CBB}"/>
              </a:ext>
            </a:extLst>
          </p:cNvPr>
          <p:cNvSpPr>
            <a:spLocks xmlns:a="http://schemas.openxmlformats.org/drawingml/2006/main" noGrp="1"/>
          </p:cNvSpPr>
          <p:nvPr/>
        </p:nvSpPr>
        <p:spPr>
          <a:xfrm xmlns:a="http://schemas.openxmlformats.org/drawingml/2006/main">
            <a:off x="7810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D42E2E8B-3649-41AB-8C57-BC171C15F45E}"/>
              </a:ext>
            </a:extLst>
          </p:cNvPr>
          <p:cNvSpPr>
            <a:spLocks xmlns:a="http://schemas.openxmlformats.org/drawingml/2006/main" noGrp="1"/>
          </p:cNvSpPr>
          <p:nvPr/>
        </p:nvSpPr>
        <p:spPr>
          <a:xfrm xmlns:a="http://schemas.openxmlformats.org/drawingml/2006/main">
            <a:off x="12573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Identified container images</a:t>
            </a:r>
          </a:p>
        </p:txBody>
      </p:sp>
      <p:sp>
        <p:nvSpPr>
          <p:cNvPr id="19" name="">
            <a:extLst xmlns:a="http://schemas.openxmlformats.org/drawingml/2006/main">
              <a:ext uri="{FF2B5EF4-FFF2-40B4-BE49-F238E27FC236}">
                <a16:creationId xmlns:a16="http://schemas.microsoft.com/office/drawing/2014/main" id="{C3A28904-A5F2-4625-8570-A38168D1976B}"/>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CE576A4-380A-4A7C-BAD6-780858C964F2}"/>
              </a:ext>
            </a:extLst>
          </p:cNvPr>
          <p:cNvSpPr>
            <a:spLocks xmlns:a="http://schemas.openxmlformats.org/drawingml/2006/main" noGrp="1"/>
          </p:cNvSpPr>
          <p:nvPr/>
        </p:nvSpPr>
        <p:spPr>
          <a:xfrm xmlns:a="http://schemas.openxmlformats.org/drawingml/2006/main">
            <a:off x="7810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8921E2B5-6F1E-4442-826E-214C89C1BD92}"/>
              </a:ext>
            </a:extLst>
          </p:cNvPr>
          <p:cNvSpPr>
            <a:spLocks xmlns:a="http://schemas.openxmlformats.org/drawingml/2006/main" noGrp="1"/>
          </p:cNvSpPr>
          <p:nvPr/>
        </p:nvSpPr>
        <p:spPr>
          <a:xfrm xmlns:a="http://schemas.openxmlformats.org/drawingml/2006/main">
            <a:off x="12573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Deployment and runtime records</a:t>
            </a:r>
          </a:p>
        </p:txBody>
      </p:sp>
      <p:sp>
        <p:nvSpPr>
          <p:cNvPr id="22" name="">
            <a:extLst xmlns:a="http://schemas.openxmlformats.org/drawingml/2006/main">
              <a:ext uri="{FF2B5EF4-FFF2-40B4-BE49-F238E27FC236}">
                <a16:creationId xmlns:a16="http://schemas.microsoft.com/office/drawing/2014/main" id="{29CA65EF-3358-4F83-AFB2-AC2527F15967}"/>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BD3B214-0379-4AD1-8A87-798DF7E460BC}"/>
              </a:ext>
            </a:extLst>
          </p:cNvPr>
          <p:cNvSpPr>
            <a:spLocks xmlns:a="http://schemas.openxmlformats.org/drawingml/2006/main" noGrp="1"/>
          </p:cNvSpPr>
          <p:nvPr/>
        </p:nvSpPr>
        <p:spPr>
          <a:xfrm xmlns:a="http://schemas.openxmlformats.org/drawingml/2006/main">
            <a:off x="6648450" y="24003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24" name="">
            <a:extLst xmlns:a="http://schemas.openxmlformats.org/drawingml/2006/main">
              <a:ext uri="{FF2B5EF4-FFF2-40B4-BE49-F238E27FC236}">
                <a16:creationId xmlns:a16="http://schemas.microsoft.com/office/drawing/2014/main" id="{B703DCB3-B2E9-4966-AA80-A64794B8E031}"/>
              </a:ext>
            </a:extLst>
          </p:cNvPr>
          <p:cNvSpPr>
            <a:spLocks xmlns:a="http://schemas.openxmlformats.org/drawingml/2006/main" noGrp="1"/>
          </p:cNvSpPr>
          <p:nvPr/>
        </p:nvSpPr>
        <p:spPr>
          <a:xfrm xmlns:a="http://schemas.openxmlformats.org/drawingml/2006/main">
            <a:off x="7124700" y="23050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Explain tool ownership</a:t>
            </a:r>
          </a:p>
        </p:txBody>
      </p:sp>
      <p:sp>
        <p:nvSpPr>
          <p:cNvPr id="25" name="">
            <a:extLst xmlns:a="http://schemas.openxmlformats.org/drawingml/2006/main">
              <a:ext uri="{FF2B5EF4-FFF2-40B4-BE49-F238E27FC236}">
                <a16:creationId xmlns:a16="http://schemas.microsoft.com/office/drawing/2014/main" id="{48802AFB-653C-4E34-B07B-0EB53312B2EB}"/>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AF0C492-CEE7-4914-B3FC-12F089DA0E6A}"/>
              </a:ext>
            </a:extLst>
          </p:cNvPr>
          <p:cNvSpPr>
            <a:spLocks xmlns:a="http://schemas.openxmlformats.org/drawingml/2006/main" noGrp="1"/>
          </p:cNvSpPr>
          <p:nvPr/>
        </p:nvSpPr>
        <p:spPr>
          <a:xfrm xmlns:a="http://schemas.openxmlformats.org/drawingml/2006/main">
            <a:off x="6648450" y="31432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27" name="">
            <a:extLst xmlns:a="http://schemas.openxmlformats.org/drawingml/2006/main">
              <a:ext uri="{FF2B5EF4-FFF2-40B4-BE49-F238E27FC236}">
                <a16:creationId xmlns:a16="http://schemas.microsoft.com/office/drawing/2014/main" id="{86CD4CB1-A3D5-4FCF-9E39-A6466A01D979}"/>
              </a:ext>
            </a:extLst>
          </p:cNvPr>
          <p:cNvSpPr>
            <a:spLocks xmlns:a="http://schemas.openxmlformats.org/drawingml/2006/main" noGrp="1"/>
          </p:cNvSpPr>
          <p:nvPr/>
        </p:nvSpPr>
        <p:spPr>
          <a:xfrm xmlns:a="http://schemas.openxmlformats.org/drawingml/2006/main">
            <a:off x="7124700" y="30480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Interpret failed validation</a:t>
            </a:r>
          </a:p>
        </p:txBody>
      </p:sp>
      <p:sp>
        <p:nvSpPr>
          <p:cNvPr id="28" name="">
            <a:extLst xmlns:a="http://schemas.openxmlformats.org/drawingml/2006/main">
              <a:ext uri="{FF2B5EF4-FFF2-40B4-BE49-F238E27FC236}">
                <a16:creationId xmlns:a16="http://schemas.microsoft.com/office/drawing/2014/main" id="{D1C81200-C3EC-4699-8F9A-7A467D4D8B32}"/>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22BFF05-E3C2-469A-AC8C-DFFA2418DB22}"/>
              </a:ext>
            </a:extLst>
          </p:cNvPr>
          <p:cNvSpPr>
            <a:spLocks xmlns:a="http://schemas.openxmlformats.org/drawingml/2006/main" noGrp="1"/>
          </p:cNvSpPr>
          <p:nvPr/>
        </p:nvSpPr>
        <p:spPr>
          <a:xfrm xmlns:a="http://schemas.openxmlformats.org/drawingml/2006/main">
            <a:off x="6648450" y="38862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30" name="">
            <a:extLst xmlns:a="http://schemas.openxmlformats.org/drawingml/2006/main">
              <a:ext uri="{FF2B5EF4-FFF2-40B4-BE49-F238E27FC236}">
                <a16:creationId xmlns:a16="http://schemas.microsoft.com/office/drawing/2014/main" id="{06F25CC5-0637-4F3D-9432-6BF10BDB7840}"/>
              </a:ext>
            </a:extLst>
          </p:cNvPr>
          <p:cNvSpPr>
            <a:spLocks xmlns:a="http://schemas.openxmlformats.org/drawingml/2006/main" noGrp="1"/>
          </p:cNvSpPr>
          <p:nvPr/>
        </p:nvSpPr>
        <p:spPr>
          <a:xfrm xmlns:a="http://schemas.openxmlformats.org/drawingml/2006/main">
            <a:off x="7124700" y="37909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Select a safe recovery action</a:t>
            </a:r>
          </a:p>
        </p:txBody>
      </p:sp>
      <p:sp>
        <p:nvSpPr>
          <p:cNvPr id="31" name="">
            <a:extLst xmlns:a="http://schemas.openxmlformats.org/drawingml/2006/main">
              <a:ext uri="{FF2B5EF4-FFF2-40B4-BE49-F238E27FC236}">
                <a16:creationId xmlns:a16="http://schemas.microsoft.com/office/drawing/2014/main" id="{6E066573-97A0-4678-8B6B-D82CB684ECA2}"/>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ellipse">
            <a:avLst/>
          </a:prstGeom>
          <a:solidFill xmlns:a="http://schemas.openxmlformats.org/drawingml/2006/main">
            <a:srgbClr val="1BAA7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F9CDDA83-FF80-4185-BBF8-74F0D44E84DB}"/>
              </a:ext>
            </a:extLst>
          </p:cNvPr>
          <p:cNvSpPr>
            <a:spLocks xmlns:a="http://schemas.openxmlformats.org/drawingml/2006/main" noGrp="1"/>
          </p:cNvSpPr>
          <p:nvPr/>
        </p:nvSpPr>
        <p:spPr>
          <a:xfrm xmlns:a="http://schemas.openxmlformats.org/drawingml/2006/main">
            <a:off x="6648450" y="462915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33" name="">
            <a:extLst xmlns:a="http://schemas.openxmlformats.org/drawingml/2006/main">
              <a:ext uri="{FF2B5EF4-FFF2-40B4-BE49-F238E27FC236}">
                <a16:creationId xmlns:a16="http://schemas.microsoft.com/office/drawing/2014/main" id="{900DEC43-0A38-4512-970E-4A3D10A277DE}"/>
              </a:ext>
            </a:extLst>
          </p:cNvPr>
          <p:cNvSpPr>
            <a:spLocks xmlns:a="http://schemas.openxmlformats.org/drawingml/2006/main" noGrp="1"/>
          </p:cNvSpPr>
          <p:nvPr/>
        </p:nvSpPr>
        <p:spPr>
          <a:xfrm xmlns:a="http://schemas.openxmlformats.org/drawingml/2006/main">
            <a:off x="7124700" y="453390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17324D"/>
                </a:solidFill>
                <a:latin typeface="Helvetica Neue"/>
                <a:ea typeface="Helvetica Neue"/>
                <a:cs typeface="Helvetica Neue"/>
              </a:defRPr>
            </a:pPr>
            <a:r>
              <a:rPr sz="1650" b="0">
                <a:solidFill>
                  <a:srgbClr val="17324D"/>
                </a:solidFill>
                <a:latin typeface="Helvetica Neue"/>
                <a:ea typeface="Helvetica Neue"/>
                <a:cs typeface="Helvetica Neue"/>
              </a:rPr>
              <a:t>Connect symptoms to recent change</a:t>
            </a:r>
          </a:p>
        </p:txBody>
      </p:sp>
    </p:spTree>
    <p:extLst>
      <p:ext uri="{BB962C8B-B14F-4D97-AF65-F5344CB8AC3E}">
        <p14:creationId xmlns:p14="http://schemas.microsoft.com/office/powerpoint/2010/main" val="44100600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054CF2A-C74E-4127-88D7-513AAB5B07F7}"/>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6EEDF0-1C26-47AE-912F-1F3C8F8FAB7A}"/>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8FE4B57-9FDE-49EA-8002-839C407CAEAE}"/>
              </a:ext>
            </a:extLst>
          </p:cNvPr>
          <p:cNvSpPr>
            <a:spLocks xmlns:a="http://schemas.openxmlformats.org/drawingml/2006/main" noGrp="1"/>
          </p:cNvSpPr>
          <p:nvPr/>
        </p:nvSpPr>
        <p:spPr>
          <a:xfrm xmlns:a="http://schemas.openxmlformats.org/drawingml/2006/main">
            <a:off x="76200" y="0"/>
            <a:ext cx="26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A41A59A0-8F71-4717-B5A4-F08FADB86E2A}"/>
              </a:ext>
            </a:extLst>
          </p:cNvPr>
          <p:cNvSpPr>
            <a:spLocks xmlns:a="http://schemas.openxmlformats.org/drawingml/2006/main" noGrp="1"/>
          </p:cNvSpPr>
          <p:nvPr/>
        </p:nvSpPr>
        <p:spPr>
          <a:xfrm xmlns:a="http://schemas.openxmlformats.org/drawingml/2006/main">
            <a:off x="400050" y="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Course introduction</a:t>
            </a:r>
          </a:p>
        </p:txBody>
      </p:sp>
      <p:sp>
        <p:nvSpPr>
          <p:cNvPr id="5" name="">
            <a:extLst xmlns:a="http://schemas.openxmlformats.org/drawingml/2006/main">
              <a:ext uri="{FF2B5EF4-FFF2-40B4-BE49-F238E27FC236}">
                <a16:creationId xmlns:a16="http://schemas.microsoft.com/office/drawing/2014/main" id="{6AE529A1-E685-4B17-BC8E-41F1FFA2982A}"/>
              </a:ext>
            </a:extLst>
          </p:cNvPr>
          <p:cNvSpPr>
            <a:spLocks xmlns:a="http://schemas.openxmlformats.org/drawingml/2006/main" noGrp="1"/>
          </p:cNvSpPr>
          <p:nvPr/>
        </p:nvSpPr>
        <p:spPr>
          <a:xfrm xmlns:a="http://schemas.openxmlformats.org/drawingml/2006/main">
            <a:off x="457200" y="45720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2775" b="1">
                <a:solidFill>
                  <a:srgbClr val="082B59"/>
                </a:solidFill>
                <a:latin typeface="Helvetica Neue"/>
                <a:ea typeface="Helvetica Neue"/>
                <a:cs typeface="Helvetica Neue"/>
              </a:defRPr>
            </a:pPr>
            <a:r>
              <a:rPr sz="2775" b="1">
                <a:solidFill>
                  <a:srgbClr val="082B59"/>
                </a:solidFill>
                <a:latin typeface="Helvetica Neue"/>
                <a:ea typeface="Helvetica Neue"/>
                <a:cs typeface="Helvetica Neue"/>
              </a:rPr>
              <a:t>Course orientation complete</a:t>
            </a:r>
          </a:p>
        </p:txBody>
      </p:sp>
      <p:sp>
        <p:nvSpPr>
          <p:cNvPr id="6" name="">
            <a:extLst xmlns:a="http://schemas.openxmlformats.org/drawingml/2006/main">
              <a:ext uri="{FF2B5EF4-FFF2-40B4-BE49-F238E27FC236}">
                <a16:creationId xmlns:a16="http://schemas.microsoft.com/office/drawing/2014/main" id="{5FDBEFD9-A7F3-4940-9609-1DD7831DC1E7}"/>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00C1485-4D7A-4FB0-A175-CF6338DFEB7B}"/>
              </a:ext>
            </a:extLst>
          </p:cNvPr>
          <p:cNvSpPr>
            <a:spLocks xmlns:a="http://schemas.openxmlformats.org/drawingml/2006/main" noGrp="1"/>
          </p:cNvSpPr>
          <p:nvPr/>
        </p:nvSpPr>
        <p:spPr>
          <a:xfrm xmlns:a="http://schemas.openxmlformats.org/drawingml/2006/main">
            <a:off x="0" y="1333500"/>
            <a:ext cx="12192000" cy="552450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98BBBB2-2A70-43BB-8D1A-C4ECFB6BC6FC}"/>
              </a:ext>
            </a:extLst>
          </p:cNvPr>
          <p:cNvSpPr>
            <a:spLocks xmlns:a="http://schemas.openxmlformats.org/drawingml/2006/main" noGrp="1"/>
          </p:cNvSpPr>
          <p:nvPr/>
        </p:nvSpPr>
        <p:spPr>
          <a:xfrm xmlns:a="http://schemas.openxmlformats.org/drawingml/2006/main">
            <a:off x="914400" y="2114550"/>
            <a:ext cx="876300" cy="876300"/>
          </a:xfrm>
          <a:prstGeom xmlns:a="http://schemas.openxmlformats.org/drawingml/2006/main" prst="ellipse">
            <a:avLst/>
          </a:prstGeom>
          <a:solidFill xmlns:a="http://schemas.openxmlformats.org/drawingml/2006/main">
            <a:srgbClr val="0A6FA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925A75E-EBB8-41E4-8A2A-E9C505A1177D}"/>
              </a:ext>
            </a:extLst>
          </p:cNvPr>
          <p:cNvSpPr>
            <a:spLocks xmlns:a="http://schemas.openxmlformats.org/drawingml/2006/main" noGrp="1"/>
          </p:cNvSpPr>
          <p:nvPr/>
        </p:nvSpPr>
        <p:spPr>
          <a:xfrm xmlns:a="http://schemas.openxmlformats.org/drawingml/2006/main">
            <a:off x="914400" y="2047875"/>
            <a:ext cx="876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ct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a:t>
            </a:r>
          </a:p>
        </p:txBody>
      </p:sp>
      <p:sp>
        <p:nvSpPr>
          <p:cNvPr id="10" name="">
            <a:extLst xmlns:a="http://schemas.openxmlformats.org/drawingml/2006/main">
              <a:ext uri="{FF2B5EF4-FFF2-40B4-BE49-F238E27FC236}">
                <a16:creationId xmlns:a16="http://schemas.microsoft.com/office/drawing/2014/main" id="{C4B1D4BD-FA72-4517-BD13-8CA12BD1527A}"/>
              </a:ext>
            </a:extLst>
          </p:cNvPr>
          <p:cNvSpPr>
            <a:spLocks xmlns:a="http://schemas.openxmlformats.org/drawingml/2006/main" noGrp="1"/>
          </p:cNvSpPr>
          <p:nvPr/>
        </p:nvSpPr>
        <p:spPr>
          <a:xfrm xmlns:a="http://schemas.openxmlformats.org/drawingml/2006/main">
            <a:off x="2190750" y="2000250"/>
            <a:ext cx="857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Course orientation complete</a:t>
            </a:r>
          </a:p>
        </p:txBody>
      </p:sp>
      <p:sp>
        <p:nvSpPr>
          <p:cNvPr id="11" name="">
            <a:extLst xmlns:a="http://schemas.openxmlformats.org/drawingml/2006/main">
              <a:ext uri="{FF2B5EF4-FFF2-40B4-BE49-F238E27FC236}">
                <a16:creationId xmlns:a16="http://schemas.microsoft.com/office/drawing/2014/main" id="{58F7DAF1-1F7B-40AB-8F15-76C0D7A3E121}"/>
              </a:ext>
            </a:extLst>
          </p:cNvPr>
          <p:cNvSpPr>
            <a:spLocks xmlns:a="http://schemas.openxmlformats.org/drawingml/2006/main" noGrp="1"/>
          </p:cNvSpPr>
          <p:nvPr/>
        </p:nvSpPr>
        <p:spPr>
          <a:xfrm xmlns:a="http://schemas.openxmlformats.org/drawingml/2006/main">
            <a:off x="2209800" y="3048000"/>
            <a:ext cx="838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875" b="0">
                <a:solidFill>
                  <a:srgbClr val="CDE9F7"/>
                </a:solidFill>
                <a:latin typeface="Helvetica Neue"/>
                <a:ea typeface="Helvetica Neue"/>
                <a:cs typeface="Helvetica Neue"/>
              </a:defRPr>
            </a:pPr>
            <a:r>
              <a:rPr sz="1875" b="0">
                <a:solidFill>
                  <a:srgbClr val="CDE9F7"/>
                </a:solidFill>
                <a:latin typeface="Helvetica Neue"/>
                <a:ea typeface="Helvetica Neue"/>
                <a:cs typeface="Helvetica Neue"/>
              </a:rPr>
              <a:t>Next: Network Automation Review</a:t>
            </a:r>
          </a:p>
        </p:txBody>
      </p:sp>
      <p:sp>
        <p:nvSpPr>
          <p:cNvPr id="12" name="">
            <a:extLst xmlns:a="http://schemas.openxmlformats.org/drawingml/2006/main">
              <a:ext uri="{FF2B5EF4-FFF2-40B4-BE49-F238E27FC236}">
                <a16:creationId xmlns:a16="http://schemas.microsoft.com/office/drawing/2014/main" id="{86A579C9-FC23-4474-863E-736D628D9818}"/>
              </a:ext>
            </a:extLst>
          </p:cNvPr>
          <p:cNvSpPr>
            <a:spLocks xmlns:a="http://schemas.openxmlformats.org/drawingml/2006/main" noGrp="1"/>
          </p:cNvSpPr>
          <p:nvPr/>
        </p:nvSpPr>
        <p:spPr>
          <a:xfrm xmlns:a="http://schemas.openxmlformats.org/drawingml/2006/main">
            <a:off x="2190750" y="3905250"/>
            <a:ext cx="7239000" cy="3810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A0B6ECE-3F17-4339-9565-BA890FB7426C}"/>
              </a:ext>
            </a:extLst>
          </p:cNvPr>
          <p:cNvSpPr>
            <a:spLocks xmlns:a="http://schemas.openxmlformats.org/drawingml/2006/main" noGrp="1"/>
          </p:cNvSpPr>
          <p:nvPr/>
        </p:nvSpPr>
        <p:spPr>
          <a:xfrm xmlns:a="http://schemas.openxmlformats.org/drawingml/2006/main">
            <a:off x="2209800" y="4238625"/>
            <a:ext cx="781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19050" rIns="38100" bIns="19050" anchor="ctr">
            <a:normAutofit fontScale="100000"/>
          </a:bodyPr>
          <a:lstStyle xmlns:a="http://schemas.openxmlformats.org/drawingml/2006/main"/>
          <a:p xmlns:a="http://schemas.openxmlformats.org/drawingml/2006/main">
            <a:pPr algn="l">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Review the key concepts before continuing.</a:t>
            </a:r>
          </a:p>
        </p:txBody>
      </p:sp>
    </p:spTree>
    <p:extLst>
      <p:ext uri="{BB962C8B-B14F-4D97-AF65-F5344CB8AC3E}">
        <p14:creationId xmlns:p14="http://schemas.microsoft.com/office/powerpoint/2010/main" val="4930936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2026-09-13T08:26:45.0870000Z</dcterms:created>
  <dcterms:modified xsi:type="dcterms:W3CDTF">2026-09-13T08:26:45.0870000Z</dcterms:modified>
</coreProperties>
</file>