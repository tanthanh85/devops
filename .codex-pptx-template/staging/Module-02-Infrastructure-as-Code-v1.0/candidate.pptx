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34cb03fb4f640e8" /><Relationship Type="http://schemas.openxmlformats.org/officeDocument/2006/relationships/extended-properties" Target="/docProps/app.xml" Id="R0d4e639e6f6a484f" /><Relationship Type="http://schemas.openxmlformats.org/officeDocument/2006/relationships/officeDocument" Target="/ppt/presentation.xml" Id="Rb23d3f0220ba441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d8f30b78c7d46f2"/>
  </p:sldMasterIdLst>
  <p:notesMasterIdLst>
    <p:notesMasterId xmlns:r="http://schemas.openxmlformats.org/officeDocument/2006/relationships" r:id="R0124b82eaa9e4d3e"/>
  </p:notesMasterIdLst>
  <p:sldIdLst>
    <p:sldId xmlns:r="http://schemas.openxmlformats.org/officeDocument/2006/relationships" id="256" r:id="Ref9cb03bb63f45fe"/>
    <p:sldId xmlns:r="http://schemas.openxmlformats.org/officeDocument/2006/relationships" id="257" r:id="Rbb71ff96214b4444"/>
    <p:sldId xmlns:r="http://schemas.openxmlformats.org/officeDocument/2006/relationships" id="258" r:id="Rfa2421ae7c354bf3"/>
    <p:sldId xmlns:r="http://schemas.openxmlformats.org/officeDocument/2006/relationships" id="259" r:id="Rfb946a4dbc574559"/>
    <p:sldId xmlns:r="http://schemas.openxmlformats.org/officeDocument/2006/relationships" id="260" r:id="R256ca7eacc12465e"/>
    <p:sldId xmlns:r="http://schemas.openxmlformats.org/officeDocument/2006/relationships" id="261" r:id="Rf05155b9e2ce4785"/>
    <p:sldId xmlns:r="http://schemas.openxmlformats.org/officeDocument/2006/relationships" id="262" r:id="Re3e0cc19f6744065"/>
    <p:sldId xmlns:r="http://schemas.openxmlformats.org/officeDocument/2006/relationships" id="263" r:id="R543f74d7558d44c8"/>
    <p:sldId xmlns:r="http://schemas.openxmlformats.org/officeDocument/2006/relationships" id="264" r:id="Rd21c6a1c02074fb9"/>
    <p:sldId xmlns:r="http://schemas.openxmlformats.org/officeDocument/2006/relationships" id="265" r:id="R2f6837ed5a7c425c"/>
    <p:sldId xmlns:r="http://schemas.openxmlformats.org/officeDocument/2006/relationships" id="266" r:id="Recc5d78998b54127"/>
    <p:sldId xmlns:r="http://schemas.openxmlformats.org/officeDocument/2006/relationships" id="267" r:id="R7640eca4e4094cc3"/>
    <p:sldId xmlns:r="http://schemas.openxmlformats.org/officeDocument/2006/relationships" id="268" r:id="Rf5ab58b4b93944a2"/>
    <p:sldId xmlns:r="http://schemas.openxmlformats.org/officeDocument/2006/relationships" id="269" r:id="Rb67b75c6938f4a1c"/>
    <p:sldId xmlns:r="http://schemas.openxmlformats.org/officeDocument/2006/relationships" id="270" r:id="Rdf8c1d618da04d7d"/>
    <p:sldId xmlns:r="http://schemas.openxmlformats.org/officeDocument/2006/relationships" id="271" r:id="R76ece7030586482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fce15e03e2046cf" /><Relationship Type="http://schemas.openxmlformats.org/officeDocument/2006/relationships/slideMaster" Target="/ppt/slideMasters/slideMaster1.xml" Id="Rbd8f30b78c7d46f2" /><Relationship Type="http://schemas.openxmlformats.org/officeDocument/2006/relationships/notesMaster" Target="/ppt/notesMasters/notesMaster1.xml" Id="R0124b82eaa9e4d3e" /><Relationship Type="http://schemas.openxmlformats.org/officeDocument/2006/relationships/presProps" Target="/ppt/presProps.xml" Id="Rb37bb9517e1e4bf5" /><Relationship Type="http://schemas.openxmlformats.org/officeDocument/2006/relationships/tableStyles" Target="/ppt/tableStyles.xml" Id="Rc8b46b4124e04b69" /><Relationship Type="http://schemas.openxmlformats.org/officeDocument/2006/relationships/slide" Target="/ppt/slides/slide1.xml" Id="Ref9cb03bb63f45fe" /><Relationship Type="http://schemas.openxmlformats.org/officeDocument/2006/relationships/slide" Target="/ppt/slides/slide2.xml" Id="Rbb71ff96214b4444" /><Relationship Type="http://schemas.openxmlformats.org/officeDocument/2006/relationships/slide" Target="/ppt/slides/slide3.xml" Id="Rfa2421ae7c354bf3" /><Relationship Type="http://schemas.openxmlformats.org/officeDocument/2006/relationships/slide" Target="/ppt/slides/slide4.xml" Id="Rfb946a4dbc574559" /><Relationship Type="http://schemas.openxmlformats.org/officeDocument/2006/relationships/slide" Target="/ppt/slides/slide5.xml" Id="R256ca7eacc12465e" /><Relationship Type="http://schemas.openxmlformats.org/officeDocument/2006/relationships/slide" Target="/ppt/slides/slide6.xml" Id="Rf05155b9e2ce4785" /><Relationship Type="http://schemas.openxmlformats.org/officeDocument/2006/relationships/slide" Target="/ppt/slides/slide7.xml" Id="Re3e0cc19f6744065" /><Relationship Type="http://schemas.openxmlformats.org/officeDocument/2006/relationships/slide" Target="/ppt/slides/slide8.xml" Id="R543f74d7558d44c8" /><Relationship Type="http://schemas.openxmlformats.org/officeDocument/2006/relationships/slide" Target="/ppt/slides/slide9.xml" Id="Rd21c6a1c02074fb9" /><Relationship Type="http://schemas.openxmlformats.org/officeDocument/2006/relationships/slide" Target="/ppt/slides/slide10.xml" Id="R2f6837ed5a7c425c" /><Relationship Type="http://schemas.openxmlformats.org/officeDocument/2006/relationships/slide" Target="/ppt/slides/slide11.xml" Id="Recc5d78998b54127" /><Relationship Type="http://schemas.openxmlformats.org/officeDocument/2006/relationships/slide" Target="/ppt/slides/slide12.xml" Id="R7640eca4e4094cc3" /><Relationship Type="http://schemas.openxmlformats.org/officeDocument/2006/relationships/slide" Target="/ppt/slides/slide13.xml" Id="Rf5ab58b4b93944a2" /><Relationship Type="http://schemas.openxmlformats.org/officeDocument/2006/relationships/slide" Target="/ppt/slides/slide14.xml" Id="Rb67b75c6938f4a1c" /><Relationship Type="http://schemas.openxmlformats.org/officeDocument/2006/relationships/slide" Target="/ppt/slides/slide15.xml" Id="Rdf8c1d618da04d7d" /><Relationship Type="http://schemas.openxmlformats.org/officeDocument/2006/relationships/slide" Target="/ppt/slides/slide16.xml" Id="R76ece7030586482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28330f56ab7440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635aa008cd74412" /><Relationship Type="http://schemas.openxmlformats.org/officeDocument/2006/relationships/notesMaster" Target="/ppt/notesMasters/notesMaster1.xml" Id="R7b256e20db25470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b8eb2530d8b4892" /><Relationship Type="http://schemas.openxmlformats.org/officeDocument/2006/relationships/notesMaster" Target="/ppt/notesMasters/notesMaster1.xml" Id="Rda082fe154d9451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cb49f8b7f52475b" /><Relationship Type="http://schemas.openxmlformats.org/officeDocument/2006/relationships/notesMaster" Target="/ppt/notesMasters/notesMaster1.xml" Id="Raddb1ec2f7464b8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02e6aefe1c7455c" /><Relationship Type="http://schemas.openxmlformats.org/officeDocument/2006/relationships/notesMaster" Target="/ppt/notesMasters/notesMaster1.xml" Id="R9a899f1bc00e4b2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eff542351424d45" /><Relationship Type="http://schemas.openxmlformats.org/officeDocument/2006/relationships/notesMaster" Target="/ppt/notesMasters/notesMaster1.xml" Id="R72229c4a9777492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2e5892d10b04553" /><Relationship Type="http://schemas.openxmlformats.org/officeDocument/2006/relationships/notesMaster" Target="/ppt/notesMasters/notesMaster1.xml" Id="R604c84ba6eff467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c6c77b74f4b4a69" /><Relationship Type="http://schemas.openxmlformats.org/officeDocument/2006/relationships/notesMaster" Target="/ppt/notesMasters/notesMaster1.xml" Id="Rb19ad933fb924ff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37883d302c441f7" /><Relationship Type="http://schemas.openxmlformats.org/officeDocument/2006/relationships/notesMaster" Target="/ppt/notesMasters/notesMaster1.xml" Id="R0edab21840994e4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0329662fbc04973" /><Relationship Type="http://schemas.openxmlformats.org/officeDocument/2006/relationships/notesMaster" Target="/ppt/notesMasters/notesMaster1.xml" Id="Rf00df8864bdd400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bf1c1f8bbac423b" /><Relationship Type="http://schemas.openxmlformats.org/officeDocument/2006/relationships/notesMaster" Target="/ppt/notesMasters/notesMaster1.xml" Id="R24aac56e27794dd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d90d7a88c0b45ed" /><Relationship Type="http://schemas.openxmlformats.org/officeDocument/2006/relationships/notesMaster" Target="/ppt/notesMasters/notesMaster1.xml" Id="Rfd6bc1ad232d492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0b25a047458477d" /><Relationship Type="http://schemas.openxmlformats.org/officeDocument/2006/relationships/notesMaster" Target="/ppt/notesMasters/notesMaster1.xml" Id="Ra381f3451478458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ca1ef5f3ff845de" /><Relationship Type="http://schemas.openxmlformats.org/officeDocument/2006/relationships/notesMaster" Target="/ppt/notesMasters/notesMaster1.xml" Id="Rb9cc1c2d0e7543c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6f9a2c7fa144077" /><Relationship Type="http://schemas.openxmlformats.org/officeDocument/2006/relationships/notesMaster" Target="/ppt/notesMasters/notesMaster1.xml" Id="Radea9648d142495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5f1d2cb2e2346ea" /><Relationship Type="http://schemas.openxmlformats.org/officeDocument/2006/relationships/notesMaster" Target="/ppt/notesMasters/notesMaster1.xml" Id="Rb9afb179e3d041c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deb3d05ca524880" /><Relationship Type="http://schemas.openxmlformats.org/officeDocument/2006/relationships/notesMaster" Target="/ppt/notesMasters/notesMaster1.xml" Id="Rf1515907275a41e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Open Module 2 and establish the subject of the deck.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Explain: Infrastructure as Code and On-Demand Environments. Provisioning, configuration, testing, and cleanup.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cue: Briefly connect this module to the previous part of the course before discussing details.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Move to the module introduction and learning focus.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Establish the scope of Module introduction.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Explain: This module separates infrastructure provisioning from system configuration and shows how code can create short-lived test environments safely.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Discuss: Explain desired state and lifecycle management Use Terraform state without confusing it with live truth Assign configuration work to Ansible Design create, verify, and destroy controls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Audience question: Which point is most familiar, and which point needs the most attention?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Introduce the first model or engineering boundary.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Explain tool ownership through the diagram.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Reading order: Start with the main boundary or input, follow the connections, then identify the output or feedback path.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Key explanation: Terraform, Ansible, image tooling, and orchestration platforms solve different parts of the delivery problem.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Audience question: Where would a failure become visible, and which component should own the response?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Connect the diagram to the next engineering decision.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Compare the two sides of three automation responsibilities.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Left side, Resource lifecycle: Create and delete infrastructure Track resource identity Plan topology changes Expose connection outputs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Right side, System behavior: Configure operating systems and devices Apply policy and application settings Verify desired behavior Remediate controlled drift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cue: Explain the relationship between the columns rather than reading each line verbatim.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Audience question: Which responsibility is unclear or shared in your current environment?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Use the comparison to frame the next topic.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Explain terraform lifecycle through the diagram.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Reading order: Start with the main boundary or input, follow the connections, then identify the output or feedback path.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Key explanation: Initialization prepares providers, planning exposes the proposed change, and apply reconciles resources with the declared configuration.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Audience question: Where would a failure become visible, and which component should own the response?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Connect the diagram to the next engineering decision.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Compare the two sides of plan review.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Left side, Review the proposal: Resources created or destroyed Replacement operations Address and naming conflicts Unexpected provider changes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Right side, Review the execution context: Workspace and state backend Provider identity Variable sources Approved learner resource range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cue: Explain the relationship between the columns rather than reading each line verbatim.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Audience question: Which responsibility is unclear or shared in your current environment?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Use the comparison to frame the next topic.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Compare the two sides of state and drift.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Left side, Terraform state: Maps code to managed resources Carries sensitive operational metadata Requires controlled storage and locking Supports planning and replacement decisions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Right side, Drift: Appears when reality changes outside code Can make a plan unsafe Requires refresh and investigation May lead to import, reconciliation, or replacement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cue: Explain the relationship between the columns rather than reading each line verbatim.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Audience question: Which responsibility is unclear or shared in your current environment?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Use the comparison to frame the next topic.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Explain drift reconciliation through the diagram.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Reading order: Start with the main boundary or input, follow the connections, then identify the output or feedback path.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Key explanation: A drift response begins with observation and classification before the team decides whether code or infrastructure should change.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Audience question: Where would a failure become visible, and which component should own the response?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Connect the diagram to the next engineering decision.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Explain terraform and ansible handoff through the diagram.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Reading order: Start with the main boundary or input, follow the connections, then identify the output or feedback path.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Key explanation: Provisioning creates the environment and exports connection data. Ansible consumes that output to configure and verify the systems.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Audience question: Where would a failure become visible, and which component should own the response?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Connect the diagram to the next engineering decision.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Compare the two sides of handoff contract.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Left side, Terraform output: Resource identifiers Management addresses Topology metadata Readiness status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Right side, Ansible input: Generated inventory Connection variables Configuration intent Validation scope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cue: Explain the relationship between the columns rather than reading each line verbatim.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Audience question: Which responsibility is unclear or shared in your current environment?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Use the comparison to frame the next topic.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Explain on-demand test environment through the diagram.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Reading order: Start with the main boundary or input, follow the connections, then identify the output or feedback path.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Key explanation: Temporary environments need ownership, unique naming, bounded lifetime, evidence collection, and cleanup even when tests fail.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Audience question: Where would a failure become visible, and which component should own the response?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Connect the diagram to the next engineering decision.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Explain automation platform options through the diagram.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Reading order: Start with the main boundary or input, follow the connections, then identify the output or feedback path.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Key explanation: The environment may use simulation, virtualization, containers, or physical systems depending on fidelity and cost.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Audience question: Where would a failure become visible, and which component should own the response?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Connect the diagram to the next engineering decision.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Compare the two sides of shared platform safeguards.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Left side, Isolation: Per-learner identifiers and namespaces Unique resource names and address ranges Concurrency limits Explicit ownership labels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Right side, Cleanup: Destroy in an always-run stage Use time-to-live metadata Collect logs before deletion Report orphaned resources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cue: Explain the relationship between the columns rather than reading each line verbatim.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Audience question: Which responsibility is unclear or shared in your current environment?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Use the comparison to frame the next topic.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Compare the two sides of failure and cleanup.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Left side, Failure handling: Preserve the failed plan and logs Classify partial creation Block unsafe reuse Report the owning learner and pipeline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Right side, Cleanup handling: Run after success or failure Destroy only owned resources Confirm the environment disappeared Escalate cleanup failures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cue: Explain the relationship between the columns rather than reading each line verbatim.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Audience question: Which responsibility is unclear or shared in your current environment?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Use the comparison to frame the next topic.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Establish the scope of Key takeaways.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Explain: Infrastructure code creates a controlled environment boundary, while configuration automation prepares the systems inside that boundary.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Discuss: Keep provisioning and configuration ownership clear Treat state as protected operational data Review plans before applying changes Design cleanup as part of the workflow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Audience question: Which point is most familiar, and which point needs the most attention?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Introduce the first model or engineering boundary.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Close Module 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Recap: Ask learners to state one concept they can apply and one question that remains.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Next: Next: Packaging and Operating Applications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cue: Confirm the class is ready before moving to the next module.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c6ed7b7a6a475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2637d2ef5ad4256" /><Relationship Type="http://schemas.openxmlformats.org/officeDocument/2006/relationships/slideLayout" Target="/ppt/slideLayouts/slideLayout1.xml" Id="R24538b77a7a74a7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4538b77a7a74a7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8da12b3266478f" /><Relationship Type="http://schemas.openxmlformats.org/officeDocument/2006/relationships/image" Target="/ppt/media/image.png" Id="R44d3c46cd9724f82" /><Relationship Type="http://schemas.openxmlformats.org/officeDocument/2006/relationships/image" Target="/ppt/media/image2.png" Id="R45728ea5305844b2" /><Relationship Type="http://schemas.openxmlformats.org/officeDocument/2006/relationships/image" Target="/ppt/media/image3.png" Id="R81a8506a2a3b417b" /><Relationship Type="http://schemas.openxmlformats.org/officeDocument/2006/relationships/notesSlide" Target="/ppt/notesSlides/notesSlide1.xml" Id="R652b632f42aa4c2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62c15a3091413c" /><Relationship Type="http://schemas.openxmlformats.org/officeDocument/2006/relationships/image" Target="/ppt/media/image4.png" Id="R23a9815336684bfb" /><Relationship Type="http://schemas.openxmlformats.org/officeDocument/2006/relationships/image" Target="/ppt/media/image5.png" Id="Rd8270f53f79f4932" /><Relationship Type="http://schemas.openxmlformats.org/officeDocument/2006/relationships/notesSlide" Target="/ppt/notesSlides/notesSlide2.xml" Id="R23c024d4bda0498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0e7a55c442471f" /><Relationship Type="http://schemas.openxmlformats.org/officeDocument/2006/relationships/image" Target="/ppt/media/image6.png" Id="R5eb582c990de4a5f" /><Relationship Type="http://schemas.openxmlformats.org/officeDocument/2006/relationships/image" Target="/ppt/media/image7.png" Id="Rfb59408dd6294935" /><Relationship Type="http://schemas.openxmlformats.org/officeDocument/2006/relationships/image" Target="/ppt/media/image8.png" Id="R686163c08aba4fc4" /><Relationship Type="http://schemas.openxmlformats.org/officeDocument/2006/relationships/notesSlide" Target="/ppt/notesSlides/notesSlide3.xml" Id="R6ae2ca3cc3494f6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8bea6636764b19" /><Relationship Type="http://schemas.openxmlformats.org/officeDocument/2006/relationships/image" Target="/ppt/media/image9.png" Id="Reda8f76407ef446f" /><Relationship Type="http://schemas.openxmlformats.org/officeDocument/2006/relationships/image" Target="/ppt/media/image10.png" Id="R2dce068de4bf46f1" /><Relationship Type="http://schemas.openxmlformats.org/officeDocument/2006/relationships/notesSlide" Target="/ppt/notesSlides/notesSlide4.xml" Id="R34b24567d20348b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c8905bd6e34bb0" /><Relationship Type="http://schemas.openxmlformats.org/officeDocument/2006/relationships/image" Target="/ppt/media/image11.png" Id="R737469003f61448a" /><Relationship Type="http://schemas.openxmlformats.org/officeDocument/2006/relationships/image" Target="/ppt/media/image12.png" Id="R285bcc07c9c74194" /><Relationship Type="http://schemas.openxmlformats.org/officeDocument/2006/relationships/image" Target="/ppt/media/image13.png" Id="R9c3db0a68fba455c" /><Relationship Type="http://schemas.openxmlformats.org/officeDocument/2006/relationships/notesSlide" Target="/ppt/notesSlides/notesSlide5.xml" Id="R40b33eaf9d09444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f91fd962404fb5" /><Relationship Type="http://schemas.openxmlformats.org/officeDocument/2006/relationships/image" Target="/ppt/media/image14.png" Id="R8b1dc8af55a74d1d" /><Relationship Type="http://schemas.openxmlformats.org/officeDocument/2006/relationships/image" Target="/ppt/media/image15.png" Id="R3e7022cb6eaa4651" /><Relationship Type="http://schemas.openxmlformats.org/officeDocument/2006/relationships/notesSlide" Target="/ppt/notesSlides/notesSlide6.xml" Id="Rc2aaf7c8b6d74c9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368b8c6af14bff" /><Relationship Type="http://schemas.openxmlformats.org/officeDocument/2006/relationships/image" Target="/ppt/media/image16.png" Id="R5712510cd2a94430" /><Relationship Type="http://schemas.openxmlformats.org/officeDocument/2006/relationships/image" Target="/ppt/media/image17.png" Id="R8ae8fd857c234a09" /><Relationship Type="http://schemas.openxmlformats.org/officeDocument/2006/relationships/notesSlide" Target="/ppt/notesSlides/notesSlide7.xml" Id="Rd891bec4a236497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c4d3aaeb5a4373" /><Relationship Type="http://schemas.openxmlformats.org/officeDocument/2006/relationships/image" Target="/ppt/media/image18.png" Id="R7b30d18a69a34518" /><Relationship Type="http://schemas.openxmlformats.org/officeDocument/2006/relationships/image" Target="/ppt/media/image19.png" Id="R8ad2c64e1cde4826" /><Relationship Type="http://schemas.openxmlformats.org/officeDocument/2006/relationships/image" Target="/ppt/media/image20.png" Id="R37d0f3e679ec4c6a" /><Relationship Type="http://schemas.openxmlformats.org/officeDocument/2006/relationships/notesSlide" Target="/ppt/notesSlides/notesSlide8.xml" Id="Rb3e2f40d60954ad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57c8d8caef453f" /><Relationship Type="http://schemas.openxmlformats.org/officeDocument/2006/relationships/image" Target="/ppt/media/image21.png" Id="R5676014387e34113" /><Relationship Type="http://schemas.openxmlformats.org/officeDocument/2006/relationships/image" Target="/ppt/media/image22.png" Id="Rf0554e5f1a4d4e75" /><Relationship Type="http://schemas.openxmlformats.org/officeDocument/2006/relationships/image" Target="/ppt/media/image23.png" Id="Re5c1332a498b4cca" /><Relationship Type="http://schemas.openxmlformats.org/officeDocument/2006/relationships/notesSlide" Target="/ppt/notesSlides/notesSlide9.xml" Id="Rcf7a9c904c664ec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0c5b1e493e40cc" /><Relationship Type="http://schemas.openxmlformats.org/officeDocument/2006/relationships/image" Target="/ppt/media/image24.png" Id="Rcc13fcadee6a4cb3" /><Relationship Type="http://schemas.openxmlformats.org/officeDocument/2006/relationships/image" Target="/ppt/media/image25.png" Id="R36a87d5fca4f4388" /><Relationship Type="http://schemas.openxmlformats.org/officeDocument/2006/relationships/notesSlide" Target="/ppt/notesSlides/notesSlide10.xml" Id="Re309e827b5f84ab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72e879c1934739" /><Relationship Type="http://schemas.openxmlformats.org/officeDocument/2006/relationships/image" Target="/ppt/media/image26.png" Id="R52ad85a192f847a1" /><Relationship Type="http://schemas.openxmlformats.org/officeDocument/2006/relationships/image" Target="/ppt/media/image27.png" Id="Rfc3c3e6069104c93" /><Relationship Type="http://schemas.openxmlformats.org/officeDocument/2006/relationships/image" Target="/ppt/media/image28.png" Id="R411aa1feaa5f4e67" /><Relationship Type="http://schemas.openxmlformats.org/officeDocument/2006/relationships/notesSlide" Target="/ppt/notesSlides/notesSlide11.xml" Id="Rc73c9b725ef4455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50b6e921f84d2d" /><Relationship Type="http://schemas.openxmlformats.org/officeDocument/2006/relationships/image" Target="/ppt/media/image29.png" Id="R8c19ababbc66445f" /><Relationship Type="http://schemas.openxmlformats.org/officeDocument/2006/relationships/image" Target="/ppt/media/image30.png" Id="Rda3e41ae8649459e" /><Relationship Type="http://schemas.openxmlformats.org/officeDocument/2006/relationships/image" Target="/ppt/media/image31.png" Id="R0427a3d5306741e3" /><Relationship Type="http://schemas.openxmlformats.org/officeDocument/2006/relationships/notesSlide" Target="/ppt/notesSlides/notesSlide12.xml" Id="R6cac32557a0e483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39e525db694c70" /><Relationship Type="http://schemas.openxmlformats.org/officeDocument/2006/relationships/image" Target="/ppt/media/image32.png" Id="Raf6be86bc62e4d75" /><Relationship Type="http://schemas.openxmlformats.org/officeDocument/2006/relationships/image" Target="/ppt/media/image33.png" Id="Re30ab49d3dd14f46" /><Relationship Type="http://schemas.openxmlformats.org/officeDocument/2006/relationships/notesSlide" Target="/ppt/notesSlides/notesSlide13.xml" Id="R5160c299f3e846e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3a8aaa563d4164" /><Relationship Type="http://schemas.openxmlformats.org/officeDocument/2006/relationships/image" Target="/ppt/media/image34.png" Id="R7d5d1c23e3f84a03" /><Relationship Type="http://schemas.openxmlformats.org/officeDocument/2006/relationships/image" Target="/ppt/media/image35.png" Id="R9e88eff24c884838" /><Relationship Type="http://schemas.openxmlformats.org/officeDocument/2006/relationships/notesSlide" Target="/ppt/notesSlides/notesSlide14.xml" Id="R439ba71b5bc2409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ffba64969b4a1d" /><Relationship Type="http://schemas.openxmlformats.org/officeDocument/2006/relationships/image" Target="/ppt/media/image36.png" Id="Rd0f7b82ab00c4452" /><Relationship Type="http://schemas.openxmlformats.org/officeDocument/2006/relationships/image" Target="/ppt/media/image37.png" Id="R08e543911ed34c6d" /><Relationship Type="http://schemas.openxmlformats.org/officeDocument/2006/relationships/notesSlide" Target="/ppt/notesSlides/notesSlide15.xml" Id="R8ddac2808a22441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21f7aca3f94d58" /><Relationship Type="http://schemas.openxmlformats.org/officeDocument/2006/relationships/image" Target="/ppt/media/image38.png" Id="Rc25953aef977408d" /><Relationship Type="http://schemas.openxmlformats.org/officeDocument/2006/relationships/image" Target="/ppt/media/image39.png" Id="Ra343582fdefc4a65" /><Relationship Type="http://schemas.openxmlformats.org/officeDocument/2006/relationships/notesSlide" Target="/ppt/notesSlides/notesSlide16.xml" Id="R1c0b441113f747c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2B5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d3c46cd9724f82"/>
          <a:srcRect xmlns:a="http://schemas.openxmlformats.org/drawingml/2006/main" l="0" t="30099" r="0" b="3009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378E85-5E0B-4438-904E-B057C20AB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619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B59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0E23A6-982B-414B-9D8F-2612B1033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F8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DB6292-DB11-4D0A-B57B-FFD3205DD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0"/>
            <a:ext cx="2428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33CD2C-F0F0-4095-8624-D5CCE12A4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Module 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0873FC-98EF-4793-A1B8-74768881E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4300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96301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Infrastructure as Code and On-Demand Environments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ABCF5B-C24F-4D84-B3CB-C9D88BB08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0"/>
            <a:ext cx="447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D8EC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D8ECFA"/>
                </a:solidFill>
                <a:latin typeface="Helvetica Neue"/>
                <a:ea typeface="Helvetica Neue"/>
                <a:cs typeface="Helvetica Neue"/>
              </a:rPr>
              <a:t>Provisioning, configuration, testing, and cleanup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F3DDC8-C045-4C39-B4BC-34401FF15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48375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Cisco learning and professional development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728ea5305844b2"/>
          <a:stretch xmlns:a="http://schemas.openxmlformats.org/drawingml/2006/main"/>
        </p:blipFill>
        <p:spPr>
          <a:xfrm xmlns:a="http://schemas.openxmlformats.org/drawingml/2006/main">
            <a:off x="10525805" y="0"/>
            <a:ext cx="1665514" cy="323850"/>
          </a:xfrm>
          <a:prstGeom xmlns:a="http://schemas.openxmlformats.org/drawingml/2006/main" prst="rect">
            <a:avLst/>
          </a:prstGeom>
        </p:spPr>
      </p:pic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a8506a2a3b417b"/>
          <a:stretch xmlns:a="http://schemas.openxmlformats.org/drawingml/2006/main"/>
        </p:blipFill>
        <p:spPr>
          <a:xfrm xmlns:a="http://schemas.openxmlformats.org/drawingml/2006/main">
            <a:off x="38100" y="6353175"/>
            <a:ext cx="12115800" cy="5048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427515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F39CD6-3E7E-4E5B-855B-38D56C8D5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F8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9FD98A-BB89-4A42-92A5-E69FEA034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0"/>
            <a:ext cx="2428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E4A8A5-78E0-488D-A92B-3DCF8D28F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75C39D-823F-403B-B79D-18CDD3F44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Module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BBB45B-C44C-48D1-A06E-BA94FD9E4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rPr>
              <a:t>Module introduction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B011C1-DEE1-4D72-ABE6-DAB5AF465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294842-7A50-4AED-96B6-983A5CB60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5F75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F758B"/>
                </a:solidFill>
                <a:latin typeface="Helvetica Neue"/>
                <a:ea typeface="Helvetica Neue"/>
                <a:cs typeface="Helvetica Neue"/>
              </a:rPr>
              <a:t>This module separates infrastructure provisioning from system configuration and shows how code can create short-lived test environments safely.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CD6C34-FE08-43A0-85FD-45A3E2B5E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43175"/>
            <a:ext cx="66675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D3F0CE-5A49-43A2-9E4B-A9BCF2117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76500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Explain desired state and lifecycle management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0424E9-EEA8-4F37-A8F3-54B772CCE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52775"/>
            <a:ext cx="66675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1A8D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70A144-EAB4-4E58-9ED4-1D465C6C0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86100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Use Terraform state without confusing it with live truth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855061-908E-40F0-90D1-410FF4F32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62375"/>
            <a:ext cx="66675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9D138B-11CF-4865-AD50-E68F4431C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95700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Assign configuration work to Ansible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78DA19-16C4-4357-AC97-955229DED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71975"/>
            <a:ext cx="66675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1A8D8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A11729-6855-4E32-A7D6-563B4DE57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Design create, verify, and destroy controls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a9815336684bfb"/>
          <a:stretch xmlns:a="http://schemas.openxmlformats.org/drawingml/2006/main"/>
        </p:blipFill>
        <p:spPr>
          <a:xfrm xmlns:a="http://schemas.openxmlformats.org/drawingml/2006/main">
            <a:off x="10525805" y="0"/>
            <a:ext cx="1665514" cy="323850"/>
          </a:xfrm>
          <a:prstGeom xmlns:a="http://schemas.openxmlformats.org/drawingml/2006/main" prst="rect">
            <a:avLst/>
          </a:prstGeom>
        </p:spPr>
      </p:pic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270f53f79f4932"/>
          <a:stretch xmlns:a="http://schemas.openxmlformats.org/drawingml/2006/main"/>
        </p:blipFill>
        <p:spPr>
          <a:xfrm xmlns:a="http://schemas.openxmlformats.org/drawingml/2006/main">
            <a:off x="38100" y="6353175"/>
            <a:ext cx="12115800" cy="5048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593489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F2F4DC-C7DE-43B2-82E2-C717953BE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F8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3A002E-2A41-45AD-8415-D5D5B97CC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0"/>
            <a:ext cx="2428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44D342-232B-46E2-8E3C-21C5B77D7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524AD0-E853-41D4-B99A-A2C39E1C4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Module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0E4A13-7FE6-4229-B079-6A2A38A59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rPr>
              <a:t>Tool ownership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53BF07-BBAA-4C13-8642-AC5506E13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b582c990de4a5f"/>
          <a:stretch xmlns:a="http://schemas.openxmlformats.org/drawingml/2006/main"/>
        </p:blipFill>
        <p:spPr>
          <a:xfrm xmlns:a="http://schemas.openxmlformats.org/drawingml/2006/main">
            <a:off x="609600" y="1742174"/>
            <a:ext cx="10972800" cy="3707027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070B0E-E76E-45E6-9C78-890DB8262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29300"/>
            <a:ext cx="7620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56BA6D-9D8A-4A8B-ABEC-5557E3BDB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43575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Terraform, Ansible, image tooling, and orchestration platforms solve different parts of the delivery problem.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59408dd6294935"/>
          <a:stretch xmlns:a="http://schemas.openxmlformats.org/drawingml/2006/main"/>
        </p:blipFill>
        <p:spPr>
          <a:xfrm xmlns:a="http://schemas.openxmlformats.org/drawingml/2006/main">
            <a:off x="10525805" y="0"/>
            <a:ext cx="1665514" cy="323850"/>
          </a:xfrm>
          <a:prstGeom xmlns:a="http://schemas.openxmlformats.org/drawingml/2006/main" prst="rect">
            <a:avLst/>
          </a:prstGeom>
        </p:spPr>
      </p:pic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6163c08aba4fc4"/>
          <a:stretch xmlns:a="http://schemas.openxmlformats.org/drawingml/2006/main"/>
        </p:blipFill>
        <p:spPr>
          <a:xfrm xmlns:a="http://schemas.openxmlformats.org/drawingml/2006/main">
            <a:off x="38100" y="6353175"/>
            <a:ext cx="12115800" cy="5048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217788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729C121-CA4E-44DB-BF14-35CD24482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F8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EE0251-F8E6-4757-B0F0-7308570EB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0"/>
            <a:ext cx="2428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7326B8-D289-47E4-B9F8-04BC65486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470CCD-46D1-4546-8864-10FD3DD4A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Module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EDED92-D286-4138-B668-6BA0A1AC8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rPr>
              <a:t>Three automation responsibilities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575C08-C00B-48DA-86A9-322BA8132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AD3480-E9B2-400F-802D-4CA9D15F6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14500"/>
            <a:ext cx="19050" cy="423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3B880D-6408-4564-AD06-02BBEA0AA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A6F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A6FAF"/>
                </a:solidFill>
                <a:latin typeface="Helvetica Neue"/>
                <a:ea typeface="Helvetica Neue"/>
                <a:cs typeface="Helvetica Neue"/>
              </a:rPr>
              <a:t>Resource lifecycle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56EFB8-140C-4729-AF6A-584700A10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7640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A6F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A6FAF"/>
                </a:solidFill>
                <a:latin typeface="Helvetica Neue"/>
                <a:ea typeface="Helvetica Neue"/>
                <a:cs typeface="Helvetica Neue"/>
              </a:rPr>
              <a:t>System behavior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0E3103-F729-4A97-B3E2-A47131CCA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79AA26-FC96-4280-BF69-E2725F532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284AEE-A29E-471E-B606-A6C728641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3050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Create and delete infrastructure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B98439-B58E-46CF-BF79-5302FCCE8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AA72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5F4A46-6A1A-4A35-B282-CABDC5BEF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B04674-E23B-468C-B1B8-D31B52B14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0480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Track resource identity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380158-B00F-4D39-AFFE-EC95D61A9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862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145490-5CED-4CAE-B44F-E532D3B3C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862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262B06-3AAE-4BA3-B5BD-768379989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7909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Plan topology changes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3DBBC9-0956-48D5-94A9-9071C63F7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AA72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40A31D-98BA-4BC3-AF61-52E0059F4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73F52B-2023-4C52-BC1A-52C159BC8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5339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Expose connection outputs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AA052F-A020-43E5-BDCA-B9831C3EA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4003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6A4EA3B-5080-4B02-8C28-F313ED7A9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4003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DF8DA96-2837-4A04-87BE-F3F117843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3050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Configure operating systems and devices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89D99AF-7F30-4CEF-9779-9914816AC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1432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AA72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99EEBBE-DBEF-4758-AC2A-0F0B3A4FF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1432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2026E9F-0C2F-49AA-A3A5-91AEF4FE1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0480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Apply policy and application settings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03D042B-B502-4BFC-922F-E4C2C6A1A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8862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5C3B038-8F06-4B6C-AFE3-AED2FE1B4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8862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84DC20E-F7B7-428A-A4CE-7D4F603EC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7909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Verify desired behavior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E3D9EF7-8A3C-42B1-95C8-A27D01947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6291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AA72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E273893-3685-498C-9E43-71DA39979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6291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FB817DD-3509-4F58-A806-ED7ADBDF4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5339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Remediate controlled drift</a:t>
            </a:r>
          </a:p>
        </p:txBody>
      </p:sp>
      <p:pic>
        <p:nvPicPr>
          <p:cNvPr id="7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a8f76407ef446f"/>
          <a:stretch xmlns:a="http://schemas.openxmlformats.org/drawingml/2006/main"/>
        </p:blipFill>
        <p:spPr>
          <a:xfrm xmlns:a="http://schemas.openxmlformats.org/drawingml/2006/main">
            <a:off x="10525805" y="0"/>
            <a:ext cx="1665514" cy="323850"/>
          </a:xfrm>
          <a:prstGeom xmlns:a="http://schemas.openxmlformats.org/drawingml/2006/main" prst="rect">
            <a:avLst/>
          </a:prstGeom>
        </p:spPr>
      </p:pic>
      <p:pic>
        <p:nvPicPr>
          <p:cNvPr id="7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ce068de4bf46f1"/>
          <a:stretch xmlns:a="http://schemas.openxmlformats.org/drawingml/2006/main"/>
        </p:blipFill>
        <p:spPr>
          <a:xfrm xmlns:a="http://schemas.openxmlformats.org/drawingml/2006/main">
            <a:off x="38100" y="6353175"/>
            <a:ext cx="12115800" cy="5048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863101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CD35C7-97CD-482D-BEBD-7C444B259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F8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11E374-5621-46FE-BA52-ADC35492E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0"/>
            <a:ext cx="2428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BDAC67-3AC5-45C7-80A1-7477C2B6D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F97CE9-A364-4B64-A525-3E9DEDB0C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Module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BE6ADB-7866-44C7-964F-E0B593032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rPr>
              <a:t>Terraform lifecycle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F0E65C-653D-47A7-A870-A3F1057C3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7469003f61448a"/>
          <a:stretch xmlns:a="http://schemas.openxmlformats.org/drawingml/2006/main"/>
        </p:blipFill>
        <p:spPr>
          <a:xfrm xmlns:a="http://schemas.openxmlformats.org/drawingml/2006/main">
            <a:off x="609600" y="1603160"/>
            <a:ext cx="10972800" cy="3985054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B2866E-D97B-4E08-B8A0-28C6FC41F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29300"/>
            <a:ext cx="7620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7905A2-429F-4456-BA9B-75BA070C8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43575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Initialization prepares providers, planning exposes the proposed change, and apply reconciles resources with the declared configuration.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5bcc07c9c74194"/>
          <a:stretch xmlns:a="http://schemas.openxmlformats.org/drawingml/2006/main"/>
        </p:blipFill>
        <p:spPr>
          <a:xfrm xmlns:a="http://schemas.openxmlformats.org/drawingml/2006/main">
            <a:off x="10525805" y="0"/>
            <a:ext cx="1665514" cy="323850"/>
          </a:xfrm>
          <a:prstGeom xmlns:a="http://schemas.openxmlformats.org/drawingml/2006/main" prst="rect">
            <a:avLst/>
          </a:prstGeom>
        </p:spPr>
      </p:pic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3db0a68fba455c"/>
          <a:stretch xmlns:a="http://schemas.openxmlformats.org/drawingml/2006/main"/>
        </p:blipFill>
        <p:spPr>
          <a:xfrm xmlns:a="http://schemas.openxmlformats.org/drawingml/2006/main">
            <a:off x="38100" y="6353175"/>
            <a:ext cx="12115800" cy="5048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22740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32D7961-4FC5-4C35-8BCC-982F81C09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F8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E81057-8A06-43C5-98CD-74F101356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0"/>
            <a:ext cx="2428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D79080-A440-4F7E-8A39-6BEC98E74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82BB2F-0F2E-4C1E-B675-D195212A3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Module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68BE0D-E7FD-4A9B-89C4-05D0164B1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rPr>
              <a:t>Plan review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AFEB1C-97B9-4ED8-83DD-A9D981B02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FBE193-C89B-4D5F-BBD6-C571982FD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14500"/>
            <a:ext cx="19050" cy="423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7BB8AC-7F53-403A-87B8-0A02EC51A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A6F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A6FAF"/>
                </a:solidFill>
                <a:latin typeface="Helvetica Neue"/>
                <a:ea typeface="Helvetica Neue"/>
                <a:cs typeface="Helvetica Neue"/>
              </a:rPr>
              <a:t>Review the proposal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BE65A5-AB60-42AC-A07A-B14DD7E7C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7640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A6F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A6FAF"/>
                </a:solidFill>
                <a:latin typeface="Helvetica Neue"/>
                <a:ea typeface="Helvetica Neue"/>
                <a:cs typeface="Helvetica Neue"/>
              </a:rPr>
              <a:t>Review the execution context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22ABFA-81AF-47EC-80BD-39F85A1F2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1F4B3B-EB55-438F-AE55-4CA726943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762B1E-EA79-4473-B1FE-09535D2CB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3050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Resources created or destroyed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F5FC21-DB7F-441C-A700-8ED1DA8E5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AA72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90C162-0A19-4B5A-AC25-9F4BC679F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2BCD5B-7384-4FF2-9D64-DA35CA1A0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0480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Replacement operations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68816B-D222-48CC-86B6-94786966D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862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7243E9-CC38-42C3-B973-96A0025AB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862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5F9553-F715-40F2-B8B1-D86B58C01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7909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Address and naming conflicts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D11D57-E75C-4AC0-AC09-BD6E53DF6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AA72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E1264E-844E-4FD8-9A39-941026662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D0570F-0D71-4D4A-AE46-12B7EA46E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5339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Unexpected provider changes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249DBD1-90C5-4E10-8C34-43326330E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4003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68E62F4-2BD8-4637-B4E5-A5A7B2614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4003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504F9A3-164F-4DD5-9661-8AE1440B6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3050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Workspace and state backend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0DCAB8E-4418-466D-9730-B7F54B21C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1432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AA72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98FDA3F-B2F0-4464-A256-839D55254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1432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3201C95-7486-42F3-AE6E-3EEB2FF1F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0480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Provider identity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DA98014-A29A-4774-A198-E11171655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8862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5C6327C-1DBC-4378-837D-73EE1A2D8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8862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D645B2B-0FF6-4A79-ACDD-A20C169BF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7909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Variable sources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2E79CE6-F18D-4DED-AA59-9A615C8BA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6291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AA72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DC79197-5165-4BD1-BC16-53E8D2328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6291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1B70C2C-4FC4-4887-A449-91701F478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5339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Approved learner resource range</a:t>
            </a:r>
          </a:p>
        </p:txBody>
      </p:sp>
      <p:pic>
        <p:nvPicPr>
          <p:cNvPr id="7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1dc8af55a74d1d"/>
          <a:stretch xmlns:a="http://schemas.openxmlformats.org/drawingml/2006/main"/>
        </p:blipFill>
        <p:spPr>
          <a:xfrm xmlns:a="http://schemas.openxmlformats.org/drawingml/2006/main">
            <a:off x="10525805" y="0"/>
            <a:ext cx="1665514" cy="323850"/>
          </a:xfrm>
          <a:prstGeom xmlns:a="http://schemas.openxmlformats.org/drawingml/2006/main" prst="rect">
            <a:avLst/>
          </a:prstGeom>
        </p:spPr>
      </p:pic>
      <p:pic>
        <p:nvPicPr>
          <p:cNvPr id="7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7022cb6eaa4651"/>
          <a:stretch xmlns:a="http://schemas.openxmlformats.org/drawingml/2006/main"/>
        </p:blipFill>
        <p:spPr>
          <a:xfrm xmlns:a="http://schemas.openxmlformats.org/drawingml/2006/main">
            <a:off x="38100" y="6353175"/>
            <a:ext cx="12115800" cy="5048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677960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393D411-EF27-4B64-9C90-6B8BA4C6C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F8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545698-B423-4E50-B959-2DC6D4AF0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0"/>
            <a:ext cx="2428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9AE850-40F3-44B7-8A4C-1CD211D2E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316E8A-4880-4DC7-B6C2-003779CD2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Module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4364E4-A174-42CD-B2FC-351A2B4FD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rPr>
              <a:t>State and drift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2BBF00-75DD-48F2-A0A7-446D9BCAA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0BBFE3-E522-48CC-9784-6AA134F19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14500"/>
            <a:ext cx="19050" cy="423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2E2005-0E8B-43E4-920A-1E3F50D1F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A6F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A6FAF"/>
                </a:solidFill>
                <a:latin typeface="Helvetica Neue"/>
                <a:ea typeface="Helvetica Neue"/>
                <a:cs typeface="Helvetica Neue"/>
              </a:rPr>
              <a:t>Terraform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C16B17-751D-4515-AD9F-8B1A2A972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7640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A6F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A6FAF"/>
                </a:solidFill>
                <a:latin typeface="Helvetica Neue"/>
                <a:ea typeface="Helvetica Neue"/>
                <a:cs typeface="Helvetica Neue"/>
              </a:rPr>
              <a:t>Drift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936D1D-1FDD-477B-AD03-0764D20C1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37A0D4-40DE-4A1E-A03C-55B9B6B6C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A37817-7E35-44DE-94F6-0DB760042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3050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Maps code to managed resources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F27F1A-2C1A-4A13-8556-644C340EA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AA72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0373FF-D570-45E3-9CF1-3B410B8CA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475FBD-0C03-4E73-9003-EADA6A7A5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0480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Carries sensitive operational metadata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21AC28-FEDB-425E-927C-3A9098B0F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862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8F4612-848B-4219-A4B4-739E72564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862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6B3263-194B-4BEF-A4AB-02AEEF6EC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7909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Requires controlled storage and locking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9C54AD-E7D3-411D-9898-77BEFAFD7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AA72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82F14D-4B46-440C-9DB1-5596440E1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37714C-6298-40E7-AFAC-1F57E459B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5339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Supports planning and replacement decisions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155698-488F-4BFC-AE1B-36384E666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4003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A82FBBC-5D5E-4522-B606-5D6EB6E13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4003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1962B18-F5CC-4818-AC63-DC7E86422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3050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Appears when reality changes outside code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86BAEB8-EB88-433E-BB9A-800A5FC11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1432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AA72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BF09E0B-670A-4BB0-8C45-B70360461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1432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5496A4E-0FEF-4479-93A2-8B759057A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0480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Can make a plan unsafe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FBF4BB2-E182-45FD-B033-F38F4FCAE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8862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2F4711B-32B0-4C96-9A62-5F862DEC5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8862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E374201-0B32-47D1-9278-9067A75E5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7909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Requires refresh and investigation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5225E4E-F71F-4141-8201-3B5DBA020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6291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AA72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00099EA-959C-4951-A2C4-D9BBBAD11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6291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E2DBFE0-3675-416F-A3D5-C924E0BF6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5339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May lead to import, reconciliation, or replacement</a:t>
            </a:r>
          </a:p>
        </p:txBody>
      </p:sp>
      <p:pic>
        <p:nvPicPr>
          <p:cNvPr id="7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12510cd2a94430"/>
          <a:stretch xmlns:a="http://schemas.openxmlformats.org/drawingml/2006/main"/>
        </p:blipFill>
        <p:spPr>
          <a:xfrm xmlns:a="http://schemas.openxmlformats.org/drawingml/2006/main">
            <a:off x="10525805" y="0"/>
            <a:ext cx="1665514" cy="323850"/>
          </a:xfrm>
          <a:prstGeom xmlns:a="http://schemas.openxmlformats.org/drawingml/2006/main" prst="rect">
            <a:avLst/>
          </a:prstGeom>
        </p:spPr>
      </p:pic>
      <p:pic>
        <p:nvPicPr>
          <p:cNvPr id="7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e8fd857c234a09"/>
          <a:stretch xmlns:a="http://schemas.openxmlformats.org/drawingml/2006/main"/>
        </p:blipFill>
        <p:spPr>
          <a:xfrm xmlns:a="http://schemas.openxmlformats.org/drawingml/2006/main">
            <a:off x="38100" y="6353175"/>
            <a:ext cx="12115800" cy="5048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374794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267A5D-CB40-4E8F-8E1A-12E9A8439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F8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8ED7EE-C285-4692-9C8A-27B7EDEB7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0"/>
            <a:ext cx="2428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535EE9-EDB6-453F-B25B-88F73F9BF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FAEC42-EDA1-4176-91E1-E6A4A831C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Module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DC6D08-ACD9-46F4-AA1C-9368128C4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rPr>
              <a:t>Drift reconciliation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DDEF31-F603-4030-89DF-C9261B200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30d18a69a34518"/>
          <a:stretch xmlns:a="http://schemas.openxmlformats.org/drawingml/2006/main"/>
        </p:blipFill>
        <p:spPr>
          <a:xfrm xmlns:a="http://schemas.openxmlformats.org/drawingml/2006/main">
            <a:off x="609600" y="1603160"/>
            <a:ext cx="10972800" cy="3985054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6FAA46-47FD-4DD1-A72C-D22F1EEA9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29300"/>
            <a:ext cx="7620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F01982-0217-4102-807D-2E4C7DA61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43575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A drift response begins with observation and classification before the team decides whether code or infrastructure should change.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d2c64e1cde4826"/>
          <a:stretch xmlns:a="http://schemas.openxmlformats.org/drawingml/2006/main"/>
        </p:blipFill>
        <p:spPr>
          <a:xfrm xmlns:a="http://schemas.openxmlformats.org/drawingml/2006/main">
            <a:off x="10525805" y="0"/>
            <a:ext cx="1665514" cy="323850"/>
          </a:xfrm>
          <a:prstGeom xmlns:a="http://schemas.openxmlformats.org/drawingml/2006/main" prst="rect">
            <a:avLst/>
          </a:prstGeom>
        </p:spPr>
      </p:pic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d0f3e679ec4c6a"/>
          <a:stretch xmlns:a="http://schemas.openxmlformats.org/drawingml/2006/main"/>
        </p:blipFill>
        <p:spPr>
          <a:xfrm xmlns:a="http://schemas.openxmlformats.org/drawingml/2006/main">
            <a:off x="38100" y="6353175"/>
            <a:ext cx="12115800" cy="5048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737802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5B987E-7AD6-4B28-9EBC-56D36B46A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F8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4833CE-713C-4847-AAF4-7B7769F6A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0"/>
            <a:ext cx="2428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F87A36-B883-4A17-9784-F20579169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265A4A-63B1-4710-B53B-3D9735ED5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Module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E2554D-4540-43CC-B3E9-029E52BB9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rPr>
              <a:t>Terraform and Ansible handoff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6311B6-F86E-4CCE-9CE0-D2502BE7A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76014387e34113"/>
          <a:stretch xmlns:a="http://schemas.openxmlformats.org/drawingml/2006/main"/>
        </p:blipFill>
        <p:spPr>
          <a:xfrm xmlns:a="http://schemas.openxmlformats.org/drawingml/2006/main">
            <a:off x="609600" y="1742174"/>
            <a:ext cx="10972800" cy="3707027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27D1D7-0AC3-4ECC-9152-8E945852C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29300"/>
            <a:ext cx="7620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116C6A-AE20-4AC2-8699-AD1ADB450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43575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Provisioning creates the environment and exports connection data. Ansible consumes that output to configure and verify the systems.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554e5f1a4d4e75"/>
          <a:stretch xmlns:a="http://schemas.openxmlformats.org/drawingml/2006/main"/>
        </p:blipFill>
        <p:spPr>
          <a:xfrm xmlns:a="http://schemas.openxmlformats.org/drawingml/2006/main">
            <a:off x="10525805" y="0"/>
            <a:ext cx="1665514" cy="323850"/>
          </a:xfrm>
          <a:prstGeom xmlns:a="http://schemas.openxmlformats.org/drawingml/2006/main" prst="rect">
            <a:avLst/>
          </a:prstGeom>
        </p:spPr>
      </p:pic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c1332a498b4cca"/>
          <a:stretch xmlns:a="http://schemas.openxmlformats.org/drawingml/2006/main"/>
        </p:blipFill>
        <p:spPr>
          <a:xfrm xmlns:a="http://schemas.openxmlformats.org/drawingml/2006/main">
            <a:off x="38100" y="6353175"/>
            <a:ext cx="12115800" cy="5048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142470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FEE8E0D-CDDD-43B1-80D2-CF9543FAD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F8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73764F-8924-4AE5-8CEF-1118146E9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0"/>
            <a:ext cx="2428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940524-AAE9-46A5-A7C4-028160F51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FD9F36-8F49-4B5E-A5F9-742BBE2F4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Module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A28A27-11A5-4081-BD0B-7CA8F37C4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rPr>
              <a:t>Handoff contract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43E3F7-F8AC-416D-B6D8-68F7DC576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F5B1A7-F9D3-4AAA-848D-C3BAE0ACA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14500"/>
            <a:ext cx="19050" cy="423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3AAD0D-6C6C-4743-8DBE-20DCE7884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A6F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A6FAF"/>
                </a:solidFill>
                <a:latin typeface="Helvetica Neue"/>
                <a:ea typeface="Helvetica Neue"/>
                <a:cs typeface="Helvetica Neue"/>
              </a:rPr>
              <a:t>Terraform output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6595D4-D920-4FDF-A272-6527A9C43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7640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A6F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A6FAF"/>
                </a:solidFill>
                <a:latin typeface="Helvetica Neue"/>
                <a:ea typeface="Helvetica Neue"/>
                <a:cs typeface="Helvetica Neue"/>
              </a:rPr>
              <a:t>Ansible input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AC51E5-FA2D-4B6D-8BCD-2B12E2281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1655E4-2E82-4378-B9E5-1ACAAD768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77DFFE-879E-4F8A-B5AE-D1E534A28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3050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Resource identifiers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4CCFD6-5CAF-4853-9722-B04FC2514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AA72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B93469-8232-4BD2-A494-FF3BBE392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27C0D4-4607-486C-8B2D-C7F8C602B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0480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Management addresses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70F293-2EF3-489B-9E20-6F50A62E7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862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5AB2FB-B9D9-4C04-B123-7EA3A782B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862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3DC63E-4884-4221-95AC-EC0B4C1FE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7909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Topology metadata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5D481E-FB60-483C-89CF-CA5D4F995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AA72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0DD853-B283-43BB-90B6-EF7FF3215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28128D-90F0-496C-80E2-E29B896F0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5339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Readiness status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5D0A7DB-36AC-4414-8641-4C3203225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4003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2A6E6AD-3090-42B5-9B3F-343277674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4003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5C88507-1237-414B-86AD-3B9ABF8E8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3050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Generated inventory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00A1DF5-3EA8-4F91-862E-CA45B5DD8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1432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AA72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B49C4AA-019D-49E8-908F-89A77A307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1432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1249DEB-78C1-4209-9CE6-B5F795272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0480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Connection variables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70F02F6-0284-4983-B6E6-B02DE6884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8862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6111D48-6766-472A-9CE5-E8B23C6D8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8862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EBEC2A3-2381-4B5C-84ED-08208E273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7909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Configuration intent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F716372-9478-4D4D-94F4-DBB6EFA9C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6291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AA72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A33C837-FE45-410A-9322-34391EB9C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6291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25BED70-8D18-4833-8F45-330B3EC51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5339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Validation scope</a:t>
            </a:r>
          </a:p>
        </p:txBody>
      </p:sp>
      <p:pic>
        <p:nvPicPr>
          <p:cNvPr id="7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13fcadee6a4cb3"/>
          <a:stretch xmlns:a="http://schemas.openxmlformats.org/drawingml/2006/main"/>
        </p:blipFill>
        <p:spPr>
          <a:xfrm xmlns:a="http://schemas.openxmlformats.org/drawingml/2006/main">
            <a:off x="10525805" y="0"/>
            <a:ext cx="1665514" cy="323850"/>
          </a:xfrm>
          <a:prstGeom xmlns:a="http://schemas.openxmlformats.org/drawingml/2006/main" prst="rect">
            <a:avLst/>
          </a:prstGeom>
        </p:spPr>
      </p:pic>
      <p:pic>
        <p:nvPicPr>
          <p:cNvPr id="7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a87d5fca4f4388"/>
          <a:stretch xmlns:a="http://schemas.openxmlformats.org/drawingml/2006/main"/>
        </p:blipFill>
        <p:spPr>
          <a:xfrm xmlns:a="http://schemas.openxmlformats.org/drawingml/2006/main">
            <a:off x="38100" y="6353175"/>
            <a:ext cx="12115800" cy="5048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249757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BB5EF3-929A-463E-B3C1-AA923F90A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F8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5BCA50-37EE-4523-9441-F1A3766F2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0"/>
            <a:ext cx="2428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F14580-B07E-47E3-B4AD-FC76505FA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95EF6F-AC0C-4999-BCB6-BA1DCAA3D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Module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0AA067-6041-457F-88B0-281C6288D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rPr>
              <a:t>On-demand test environment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6DBBD5-457E-4BF5-BBC8-088E0EB65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ad85a192f847a1"/>
          <a:stretch xmlns:a="http://schemas.openxmlformats.org/drawingml/2006/main"/>
        </p:blipFill>
        <p:spPr>
          <a:xfrm xmlns:a="http://schemas.openxmlformats.org/drawingml/2006/main">
            <a:off x="609600" y="1603160"/>
            <a:ext cx="10972800" cy="3985054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415CCA-DFD3-48FC-BB7C-93B8AC192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29300"/>
            <a:ext cx="7620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F10765-2C3D-4EB8-B4F7-84F696A75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43575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Temporary environments need ownership, unique naming, bounded lifetime, evidence collection, and cleanup even when tests fail.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3c3e6069104c93"/>
          <a:stretch xmlns:a="http://schemas.openxmlformats.org/drawingml/2006/main"/>
        </p:blipFill>
        <p:spPr>
          <a:xfrm xmlns:a="http://schemas.openxmlformats.org/drawingml/2006/main">
            <a:off x="10525805" y="0"/>
            <a:ext cx="1665514" cy="323850"/>
          </a:xfrm>
          <a:prstGeom xmlns:a="http://schemas.openxmlformats.org/drawingml/2006/main" prst="rect">
            <a:avLst/>
          </a:prstGeom>
        </p:spPr>
      </p:pic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1aa1feaa5f4e67"/>
          <a:stretch xmlns:a="http://schemas.openxmlformats.org/drawingml/2006/main"/>
        </p:blipFill>
        <p:spPr>
          <a:xfrm xmlns:a="http://schemas.openxmlformats.org/drawingml/2006/main">
            <a:off x="38100" y="6353175"/>
            <a:ext cx="12115800" cy="5048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062559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A22170-46F4-4EC3-9A98-770C6B0CB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F8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3E64A9-5508-4E6F-972E-4DF30B672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0"/>
            <a:ext cx="2428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4EB55A-0191-4C8F-AB3D-F7CE95A99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E60C53-15A3-404B-B8F8-3F1B9841C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Module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855467-2310-40D3-8EAD-EC289B679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rPr>
              <a:t>Automation platform options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8E9518-1113-4EC9-8AC0-07A23FD94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19ababbc66445f"/>
          <a:stretch xmlns:a="http://schemas.openxmlformats.org/drawingml/2006/main"/>
        </p:blipFill>
        <p:spPr>
          <a:xfrm xmlns:a="http://schemas.openxmlformats.org/drawingml/2006/main">
            <a:off x="609600" y="1742174"/>
            <a:ext cx="10972800" cy="3707027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B22A5C-253C-465D-8A54-DD207087C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29300"/>
            <a:ext cx="7620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D26A1E-679B-4B2A-A3F6-E278D304E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43575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The environment may use simulation, virtualization, containers, or physical systems depending on fidelity and cost.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3e41ae8649459e"/>
          <a:stretch xmlns:a="http://schemas.openxmlformats.org/drawingml/2006/main"/>
        </p:blipFill>
        <p:spPr>
          <a:xfrm xmlns:a="http://schemas.openxmlformats.org/drawingml/2006/main">
            <a:off x="10525805" y="0"/>
            <a:ext cx="1665514" cy="323850"/>
          </a:xfrm>
          <a:prstGeom xmlns:a="http://schemas.openxmlformats.org/drawingml/2006/main" prst="rect">
            <a:avLst/>
          </a:prstGeom>
        </p:spPr>
      </p:pic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27a3d5306741e3"/>
          <a:stretch xmlns:a="http://schemas.openxmlformats.org/drawingml/2006/main"/>
        </p:blipFill>
        <p:spPr>
          <a:xfrm xmlns:a="http://schemas.openxmlformats.org/drawingml/2006/main">
            <a:off x="38100" y="6353175"/>
            <a:ext cx="12115800" cy="5048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128648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6E4B29D-F83E-41DA-A38C-B72622A73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F8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EABFD1-B6BD-4245-AFC5-0FD37F091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0"/>
            <a:ext cx="2428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60E992-3323-4CC0-9759-C6C554B60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DE4F2E-46A3-4B5A-B175-06D9816A4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Module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2FF94D-9BA5-4A7E-BA66-646243AC9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rPr>
              <a:t>Shared platform safeguards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C325ED-6FDE-4C22-9FEE-A891F4788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9DACB2-DE38-41F6-911E-F9330514D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14500"/>
            <a:ext cx="19050" cy="423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4747C6-6135-4D7F-AE95-2C6A15114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A6F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A6FAF"/>
                </a:solidFill>
                <a:latin typeface="Helvetica Neue"/>
                <a:ea typeface="Helvetica Neue"/>
                <a:cs typeface="Helvetica Neue"/>
              </a:rPr>
              <a:t>Isolation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21CA1F-2EB6-4734-A07E-DEFCEDFE7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7640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A6F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A6FAF"/>
                </a:solidFill>
                <a:latin typeface="Helvetica Neue"/>
                <a:ea typeface="Helvetica Neue"/>
                <a:cs typeface="Helvetica Neue"/>
              </a:rPr>
              <a:t>Cleanup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61593A-FE89-4E4D-A078-50DB3DAA2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477872-8AC9-4651-ACF2-7A743211D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0161DD-0EC5-455A-868B-B08E70514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3050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Per-learner identifiers and namespaces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ACD2E1-8952-4342-99EB-613302947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AA72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734E71-8583-4AC9-912B-EA386A0CD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2F36D1-1830-47EE-BE6B-1B4BCC15A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0480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Unique resource names and address ranges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D7306E-4BA4-48A4-B7C3-36DCD111A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862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253981-A3D1-4156-97C1-0BAB70E4A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862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1A040B-5A99-42B8-877C-227073C51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7909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Concurrency limits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C241CA-E04A-41D5-83A2-CFB13179E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AA72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BD3523-E625-453D-91BB-5FBDB5C7A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E7785C-64D9-4ACE-9C6B-EEDF96868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5339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Explicit ownership labels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AAF0E54-5CDA-41E8-8443-4AFBB76AD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4003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4A8E0E1-8E69-4522-B481-618407D3B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4003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72619A4-B638-4460-B7C4-D8F75FFC4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3050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Destroy in an always-run stage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D274D8F-2344-415E-9435-3E4E38360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1432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AA72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A8A56F2-AE5D-4040-9E63-3468A49BA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1432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B763426-AE0B-4B6B-B0B0-2C73AB8AE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0480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Use time-to-live metadata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E0664E4-BE65-43F7-8A83-83A8C274A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8862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A19F3B0-8400-4DBE-8BF1-0FF671EDC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8862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AAE8A8E-C737-4892-8F27-C9F120593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7909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Collect logs before deletion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3A9AE6D-3425-448C-B831-D588C76C2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6291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AA72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3DA90F8-C78A-41ED-85B6-90ADFAF7F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6291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DAB3C31-274A-4404-A5AA-BA02831B1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5339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Report orphaned resources</a:t>
            </a:r>
          </a:p>
        </p:txBody>
      </p:sp>
      <p:pic>
        <p:nvPicPr>
          <p:cNvPr id="7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6be86bc62e4d75"/>
          <a:stretch xmlns:a="http://schemas.openxmlformats.org/drawingml/2006/main"/>
        </p:blipFill>
        <p:spPr>
          <a:xfrm xmlns:a="http://schemas.openxmlformats.org/drawingml/2006/main">
            <a:off x="10525805" y="0"/>
            <a:ext cx="1665514" cy="323850"/>
          </a:xfrm>
          <a:prstGeom xmlns:a="http://schemas.openxmlformats.org/drawingml/2006/main" prst="rect">
            <a:avLst/>
          </a:prstGeom>
        </p:spPr>
      </p:pic>
      <p:pic>
        <p:nvPicPr>
          <p:cNvPr id="7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0ab49d3dd14f46"/>
          <a:stretch xmlns:a="http://schemas.openxmlformats.org/drawingml/2006/main"/>
        </p:blipFill>
        <p:spPr>
          <a:xfrm xmlns:a="http://schemas.openxmlformats.org/drawingml/2006/main">
            <a:off x="38100" y="6353175"/>
            <a:ext cx="12115800" cy="5048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216284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4346C29-273B-4683-A75D-EB6CB53E1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F8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5454F3-FDBF-4082-9DE6-C59E109F8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0"/>
            <a:ext cx="2428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79315B-802D-4058-9930-E61DFB408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FE304B-B7E2-4285-A5B5-762D2520C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Module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4E217A-59A4-42C7-8CDA-E44B694AC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rPr>
              <a:t>Failure and cleanup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970C3C-6451-4A83-BA10-1855E9B92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0B4605-2C50-4A99-9789-53219C22D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14500"/>
            <a:ext cx="19050" cy="423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FFE806-701A-4BFD-8BD0-25B386EFB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A6F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A6FAF"/>
                </a:solidFill>
                <a:latin typeface="Helvetica Neue"/>
                <a:ea typeface="Helvetica Neue"/>
                <a:cs typeface="Helvetica Neue"/>
              </a:rPr>
              <a:t>Failure handling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53B978-2382-4472-91B4-38F5AC4EF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7640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A6F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A6FAF"/>
                </a:solidFill>
                <a:latin typeface="Helvetica Neue"/>
                <a:ea typeface="Helvetica Neue"/>
                <a:cs typeface="Helvetica Neue"/>
              </a:rPr>
              <a:t>Cleanup handling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00DAA3-2446-4B1E-93F2-A20B217BB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FBE828-7830-46D4-9521-F9C0BCD8D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5B3C1D-8577-452D-A0FA-D403C9FA6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3050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Preserve the failed plan and logs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4CFC42-7FB6-4950-AC30-BD40CD412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AA72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807979-DC8D-44A5-ACC9-02CCD766A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62DAAF-C48C-4DA0-BD1E-0890284A8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0480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Classify partial creation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CD2BA4-7E6C-4543-B460-E0DC3F4F9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862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1E1DE7-3347-4C73-931B-737DE5CB1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862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4D8A35-AAE7-4C2B-B608-E58FC2B97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7909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Block unsafe reuse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7159F5-6DCC-43EA-9013-DAB03853E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AA72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377FAC-2558-498A-8B54-F1CC592DD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CCE10B-782F-4FEB-BE6B-3896FB592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5339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Report the owning learner and pipeline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D0E9274-7FB3-4494-8BA9-19F06F0EE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4003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F686439-D19D-4D6A-B174-3CD635773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4003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9F19376-B599-4524-9B1F-5C2028BF2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3050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Run after success or failure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74A8580-EE83-4846-975E-BE024E162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1432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AA72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6434C93-A287-4CCE-9803-BDE9767B8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1432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54E9537-0100-4527-81AC-3FA30B464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0480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Destroy only owned resources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A6D4AB6-EC45-4C3E-8E77-8CC243974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8862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0E1D4FC-5DA6-4143-B9F6-42E8271A0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8862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0EEB1E4-FA81-4676-A15C-1D4E291DD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7909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Confirm the environment disappeared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7C26657-1E68-4461-A7E7-74C7395AE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6291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AA72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C923320-4C5C-4E01-9570-8DFDF4BC5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6291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40F0403-1405-4FCE-9F69-78490BFF9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5339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Escalate cleanup failures</a:t>
            </a:r>
          </a:p>
        </p:txBody>
      </p:sp>
      <p:pic>
        <p:nvPicPr>
          <p:cNvPr id="7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5d1c23e3f84a03"/>
          <a:stretch xmlns:a="http://schemas.openxmlformats.org/drawingml/2006/main"/>
        </p:blipFill>
        <p:spPr>
          <a:xfrm xmlns:a="http://schemas.openxmlformats.org/drawingml/2006/main">
            <a:off x="10525805" y="0"/>
            <a:ext cx="1665514" cy="323850"/>
          </a:xfrm>
          <a:prstGeom xmlns:a="http://schemas.openxmlformats.org/drawingml/2006/main" prst="rect">
            <a:avLst/>
          </a:prstGeom>
        </p:spPr>
      </p:pic>
      <p:pic>
        <p:nvPicPr>
          <p:cNvPr id="7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88eff24c884838"/>
          <a:stretch xmlns:a="http://schemas.openxmlformats.org/drawingml/2006/main"/>
        </p:blipFill>
        <p:spPr>
          <a:xfrm xmlns:a="http://schemas.openxmlformats.org/drawingml/2006/main">
            <a:off x="38100" y="6353175"/>
            <a:ext cx="12115800" cy="5048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332408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6479D4-763C-45D8-A680-A30209447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F8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B89928-6B9E-49A7-859A-2DA7AE4EA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0"/>
            <a:ext cx="2428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92EA63-834A-4FD7-A67C-91F07D2ED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75B45B-AD54-4799-9D53-5CFAB5BCF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Module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6EAD97-9767-4319-9D6E-D34B7328A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rPr>
              <a:t>Key takeaways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E34C3A-11EA-4613-AFF2-15AE19250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97794C-2575-4FC0-903E-FEE05F4C1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5F75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F758B"/>
                </a:solidFill>
                <a:latin typeface="Helvetica Neue"/>
                <a:ea typeface="Helvetica Neue"/>
                <a:cs typeface="Helvetica Neue"/>
              </a:rPr>
              <a:t>Infrastructure code creates a controlled environment boundary, while configuration automation prepares the systems inside that boundary.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705A91-4552-4483-BA3F-A8713D22E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43175"/>
            <a:ext cx="66675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E80B5B-0708-4045-A747-CAEB1CCFE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76500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Keep provisioning and configuration ownership clear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876487-FB52-4507-B68E-AB8A784DC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52775"/>
            <a:ext cx="66675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1A8D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A64F30-1A0F-49E7-8CE4-DC24DCB4B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86100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Treat state as protected operational data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3881E3-B549-486C-BB9F-B61F750E0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62375"/>
            <a:ext cx="66675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B5E766-F1A6-495C-82AF-C52D4C2F7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95700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Review plans before applying changes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C5E3DE-CCAA-41D0-A2F9-B48135452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71975"/>
            <a:ext cx="66675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1A8D8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1EF92F-ED2A-4983-B907-8A1225AA9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Design cleanup as part of the workflow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f7b82ab00c4452"/>
          <a:stretch xmlns:a="http://schemas.openxmlformats.org/drawingml/2006/main"/>
        </p:blipFill>
        <p:spPr>
          <a:xfrm xmlns:a="http://schemas.openxmlformats.org/drawingml/2006/main">
            <a:off x="10525805" y="0"/>
            <a:ext cx="1665514" cy="323850"/>
          </a:xfrm>
          <a:prstGeom xmlns:a="http://schemas.openxmlformats.org/drawingml/2006/main" prst="rect">
            <a:avLst/>
          </a:prstGeom>
        </p:spPr>
      </p:pic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e543911ed34c6d"/>
          <a:stretch xmlns:a="http://schemas.openxmlformats.org/drawingml/2006/main"/>
        </p:blipFill>
        <p:spPr>
          <a:xfrm xmlns:a="http://schemas.openxmlformats.org/drawingml/2006/main">
            <a:off x="38100" y="6353175"/>
            <a:ext cx="12115800" cy="5048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193358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858747-10BD-4EE6-BEBA-6897A7242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F8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B389C9-B40C-406D-80BF-DBCB89697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0"/>
            <a:ext cx="2428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74D7C8-412A-4336-A9AF-38DF40EBB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49CC41-B1EF-462B-84A8-B5DF7B92C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Module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591701-1978-4BAD-B9A8-7BB1526A1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rPr>
              <a:t>Module 2 complete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3D6966-93F6-4DBE-BD28-E0517FB03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C063B9-17DA-4E45-8F15-707DC2FDC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33500"/>
            <a:ext cx="12192000" cy="552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B59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BFCFB4-7BD3-43F1-A350-D5853E03B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1455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B5F530-11A3-4B0C-AB1E-48AE85CB8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8763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DFCE20-7426-40F7-90C5-2C1D2313E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000250"/>
            <a:ext cx="857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Module 2 complete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465F7B-9DE6-42E7-9960-BFDDFFED8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048000"/>
            <a:ext cx="838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CDE9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CDE9F7"/>
                </a:solidFill>
                <a:latin typeface="Helvetica Neue"/>
                <a:ea typeface="Helvetica Neue"/>
                <a:cs typeface="Helvetica Neue"/>
              </a:rPr>
              <a:t>Next: Packaging and Operating Applications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95A09A-6425-4EED-9F78-6AA84E259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905250"/>
            <a:ext cx="7239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D24F7A-9C3F-4F75-A81F-2E2EC3480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238625"/>
            <a:ext cx="781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Review the key concepts before continuing.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5953aef977408d"/>
          <a:stretch xmlns:a="http://schemas.openxmlformats.org/drawingml/2006/main"/>
        </p:blipFill>
        <p:spPr>
          <a:xfrm xmlns:a="http://schemas.openxmlformats.org/drawingml/2006/main">
            <a:off x="10525805" y="0"/>
            <a:ext cx="1665514" cy="323850"/>
          </a:xfrm>
          <a:prstGeom xmlns:a="http://schemas.openxmlformats.org/drawingml/2006/main" prst="rect">
            <a:avLst/>
          </a:prstGeom>
        </p:spPr>
      </p:pic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43582fdefc4a65"/>
          <a:stretch xmlns:a="http://schemas.openxmlformats.org/drawingml/2006/main"/>
        </p:blipFill>
        <p:spPr>
          <a:xfrm xmlns:a="http://schemas.openxmlformats.org/drawingml/2006/main">
            <a:off x="38100" y="6353175"/>
            <a:ext cx="12115800" cy="5048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453980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2026-09-24T13:15:23.2890000Z</dcterms:created>
  <dcterms:modified xsi:type="dcterms:W3CDTF">2026-09-24T13:15:23.2890000Z</dcterms:modified>
</coreProperties>
</file>